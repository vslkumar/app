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2987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are comparing two integration approaches that often surface in AI-system design: declarative skill files (skills.md) and external MCP servers. Both let an LLM act on the world, but they sit at very different points on the simplicity-versus-power curve. By the end of this deck you should be able to make the call confidently: when does a skill file suffice, and when do you need a server?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same destination: getting an LLM to do useful work against your systems. Skills.md is the lightweight, declarative path — instructions live in markdown, ship with the prompt. MCP servers are the heavyweight path — a real service speaks the Model Context Protocol. The reason to compare them up front: they look interchangeable in toy demos and diverge sharply in production.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Skills.md is a declarative recipe. Think of it as a markdown file that ships behavior and tool definitions together. It can describe HTTPS API calls inline. It is loaded per request as part of the prompt context — there is no runtime, no server, no infrastructure. Strength: zero deployment friction. Weakness: everything that loads with the prompt costs tokens and is rebuilt on every turn.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MCP server is a real service. It speaks Model Context Protocol so an LLM client can discover its tools, call them, and consume their results in a structured way. Because it lives outside the prompt, it can hold state, manage credentials, run long workflows, and serve many clients at once. If skills.md is the recipe, MCP is the kitchen — staffed, equipped, always running.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these are different beasts. Skills.md sits inside the prompt: model and skill share the same context window, every turn rebuilds the world from scratch, outbound HTTPS is the only way to leave that bubble. MCP places the server outside the model entirely. The model speaks a protocol; the server holds state, owns credentials, and brokers everything downstream.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API integration: skills.md can absolutely call REST endpoints over HTTPS — the schema lives right there in the markdown. That makes it perfect when one or two endpoints get the job done. MCP is what you reach for when 'an API call' is actually 'authenticate, hit three services, reconcile, persist, and emit an event.' The dividing line is roughly: does the work fit in a single request/response, or does it need a real backend?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both lifecycles. Skills.md is request-scoped: load, parse, execute, respond — every turn rebuilds the world. MCP is session-scoped: discover tools once, then the model calls them as needed; the server holds context across calls. That single difference — request-scoped vs session-scoped — drives almost every other tradeoff in this deck.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economics. Skills.md pays its cost in tokens — every byte of that markdown rides along on every turn, eating into the context window. MCP pays its cost in infrastructure — you run a server, but the prompt stays lean: just tool signatures, not implementations. At small scale skills.md wins on simplicity; at large scale MCP wins on cost-per-call and on staying clear of context-window limits.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 story is more nuanced than the previous slide suggests. Naive injection — putting the whole SKILL.md in the prompt every turn — is what gives skills.md a bad reputation. Progressive disclosure, which is how Anthropic's actual Skills feature works, only loads the file's metadata always-on; the body loads once when triggered. MCP keeps tool definitions in context but offloads execution and state. Single call: MCP wins by a small margin. Five-step workflow: progressive skills and MCP are roughly tied. Twenty-turn stateful chat: MCP pulls ahead — not because tool defs are cheaper, but because intermediate state lives server-side and never bloats the conversation history.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mapping. Single API call, prototype, one-off automation — skills.md every time. Multi-step workflow, stateful app, multiple clients sharing the same tools — MCP every time. Most teams end up using both: skills for the long tail of small integrations, MCP for the spine of the platform.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sides of each coin. Skills give you speed and simplicity at the cost of state and scale. MCP gives you scale and power at the cost of operational overhead. There is no universally better choice — the right answer depends on what you can afford to operate and what you need to deliver.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30-second decision tool. Run through these four questions. Two strong yeses on one side and you have your answer. If the questions split evenly, the tiebreaker is operational maturity: do you already run services? Lean MCP. Are you a small team with no platform? Lean skills.md.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thought. Skills.md is the recipe — declarative, lightweight, perfect for telling the model what to do. MCP is the kitchen — a real environment where work actually gets done at scale. Most mature stacks use both: skills.md for the long tail of small, prompt-shaped jobs, and MCP servers for the spine of the platform. Pick by complexity and scale, and don't be afraid to start with a recipe and graduate to a kitchen as the system grows.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D59"/>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17ACA"/>
          </a:solidFill>
          <a:ln/>
        </p:spPr>
      </p:sp>
      <p:sp>
        <p:nvSpPr>
          <p:cNvPr id="3" name="Shape 1"/>
          <p:cNvSpPr/>
          <p:nvPr/>
        </p:nvSpPr>
        <p:spPr>
          <a:xfrm>
            <a:off x="320040" y="0"/>
            <a:ext cx="73152" cy="6858000"/>
          </a:xfrm>
          <a:prstGeom prst="rect">
            <a:avLst/>
          </a:prstGeom>
          <a:solidFill>
            <a:srgbClr val="1B7F9E"/>
          </a:solidFill>
          <a:ln/>
        </p:spPr>
      </p:sp>
      <p:sp>
        <p:nvSpPr>
          <p:cNvPr id="4" name="Shape 2"/>
          <p:cNvSpPr/>
          <p:nvPr/>
        </p:nvSpPr>
        <p:spPr>
          <a:xfrm>
            <a:off x="8686800" y="-1097280"/>
            <a:ext cx="4114800" cy="4114800"/>
          </a:xfrm>
          <a:prstGeom prst="ellipse">
            <a:avLst/>
          </a:prstGeom>
          <a:solidFill>
            <a:srgbClr val="004B87">
              <a:alpha val="60000"/>
            </a:srgbClr>
          </a:solidFill>
          <a:ln/>
        </p:spPr>
      </p:sp>
      <p:sp>
        <p:nvSpPr>
          <p:cNvPr id="5" name="Shape 3"/>
          <p:cNvSpPr/>
          <p:nvPr/>
        </p:nvSpPr>
        <p:spPr>
          <a:xfrm>
            <a:off x="10698480" y="4572000"/>
            <a:ext cx="2926080" cy="2926080"/>
          </a:xfrm>
          <a:prstGeom prst="ellipse">
            <a:avLst/>
          </a:prstGeom>
          <a:solidFill>
            <a:srgbClr val="117ACA">
              <a:alpha val="30000"/>
            </a:srgbClr>
          </a:solidFill>
          <a:ln/>
        </p:spPr>
      </p:sp>
      <p:sp>
        <p:nvSpPr>
          <p:cNvPr id="6" name="Text 4"/>
          <p:cNvSpPr/>
          <p:nvPr/>
        </p:nvSpPr>
        <p:spPr>
          <a:xfrm>
            <a:off x="914400" y="1463040"/>
            <a:ext cx="10058400" cy="365760"/>
          </a:xfrm>
          <a:prstGeom prst="rect">
            <a:avLst/>
          </a:prstGeom>
          <a:noFill/>
          <a:ln/>
        </p:spPr>
        <p:txBody>
          <a:bodyPr wrap="square" lIns="0" tIns="0" rIns="0" bIns="0" rtlCol="0" anchor="ctr"/>
          <a:lstStyle/>
          <a:p>
            <a:pPr marL="0" indent="0">
              <a:buNone/>
            </a:pPr>
            <a:r>
              <a:rPr lang="en-US" sz="1200" b="1" kern="0" spc="600" dirty="0">
                <a:solidFill>
                  <a:srgbClr val="8DB6DA"/>
                </a:solidFill>
                <a:latin typeface="Calibri" pitchFamily="34" charset="0"/>
                <a:ea typeface="Calibri" pitchFamily="34" charset="-122"/>
                <a:cs typeface="Calibri" pitchFamily="34" charset="-120"/>
              </a:rPr>
              <a:t>INTEGRATION ARCHITECTURE  ·  TECHNICAL BRIEF</a:t>
            </a:r>
            <a:endParaRPr lang="en-US" sz="1200" dirty="0"/>
          </a:p>
        </p:txBody>
      </p:sp>
      <p:sp>
        <p:nvSpPr>
          <p:cNvPr id="7" name="Text 5"/>
          <p:cNvSpPr/>
          <p:nvPr/>
        </p:nvSpPr>
        <p:spPr>
          <a:xfrm>
            <a:off x="914400" y="201168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Skills.md vs MCP Servers</a:t>
            </a:r>
            <a:endParaRPr lang="en-US" sz="4600" dirty="0"/>
          </a:p>
        </p:txBody>
      </p:sp>
      <p:sp>
        <p:nvSpPr>
          <p:cNvPr id="8" name="Text 6"/>
          <p:cNvSpPr/>
          <p:nvPr/>
        </p:nvSpPr>
        <p:spPr>
          <a:xfrm>
            <a:off x="914400" y="2971800"/>
            <a:ext cx="10515600" cy="640080"/>
          </a:xfrm>
          <a:prstGeom prst="rect">
            <a:avLst/>
          </a:prstGeom>
          <a:noFill/>
          <a:ln/>
        </p:spPr>
        <p:txBody>
          <a:bodyPr wrap="square" lIns="0" tIns="0" rIns="0" bIns="0" rtlCol="0" anchor="ctr"/>
          <a:lstStyle/>
          <a:p>
            <a:pPr marL="0" indent="0">
              <a:buNone/>
            </a:pPr>
            <a:r>
              <a:rPr lang="en-US" sz="3000" i="1" dirty="0">
                <a:solidFill>
                  <a:srgbClr val="117ACA"/>
                </a:solidFill>
                <a:latin typeface="Georgia" pitchFamily="34" charset="0"/>
                <a:ea typeface="Georgia" pitchFamily="34" charset="-122"/>
                <a:cs typeface="Georgia" pitchFamily="34" charset="-120"/>
              </a:rPr>
              <a:t>Architecture &amp; Use Cases</a:t>
            </a:r>
            <a:endParaRPr lang="en-US" sz="3000" dirty="0"/>
          </a:p>
        </p:txBody>
      </p:sp>
      <p:sp>
        <p:nvSpPr>
          <p:cNvPr id="9" name="Text 7"/>
          <p:cNvSpPr/>
          <p:nvPr/>
        </p:nvSpPr>
        <p:spPr>
          <a:xfrm>
            <a:off x="1024128" y="5206118"/>
            <a:ext cx="9601200" cy="457200"/>
          </a:xfrm>
          <a:prstGeom prst="rect">
            <a:avLst/>
          </a:prstGeom>
          <a:noFill/>
          <a:ln/>
        </p:spPr>
        <p:txBody>
          <a:bodyPr wrap="square" lIns="0" tIns="0" rIns="0" bIns="0" rtlCol="0" anchor="ctr"/>
          <a:lstStyle/>
          <a:p>
            <a:pPr marL="0" indent="0">
              <a:buNone/>
            </a:pPr>
            <a:r>
              <a:rPr lang="en-US" sz="1800" dirty="0">
                <a:solidFill>
                  <a:srgbClr val="C8D6E5"/>
                </a:solidFill>
                <a:latin typeface="Calibri" pitchFamily="34" charset="0"/>
                <a:ea typeface="Calibri" pitchFamily="34" charset="-122"/>
                <a:cs typeface="Calibri" pitchFamily="34" charset="-120"/>
              </a:rPr>
              <a:t> </a:t>
            </a:r>
            <a:r>
              <a:rPr lang="en-US" sz="2000" i="1" dirty="0">
                <a:solidFill>
                  <a:srgbClr val="C8D6E5"/>
                </a:solidFill>
                <a:latin typeface="Calibri" pitchFamily="34" charset="0"/>
                <a:ea typeface="Calibri" pitchFamily="34" charset="-122"/>
                <a:cs typeface="Calibri" pitchFamily="34" charset="-120"/>
              </a:rPr>
              <a:t>Vishal Kumar</a:t>
            </a:r>
            <a:endParaRPr lang="en-US" sz="2000" i="1" dirty="0"/>
          </a:p>
        </p:txBody>
      </p:sp>
      <p:sp>
        <p:nvSpPr>
          <p:cNvPr id="10" name="Shape 8"/>
          <p:cNvSpPr/>
          <p:nvPr/>
        </p:nvSpPr>
        <p:spPr>
          <a:xfrm>
            <a:off x="914400" y="5760720"/>
            <a:ext cx="2743200" cy="0"/>
          </a:xfrm>
          <a:prstGeom prst="line">
            <a:avLst/>
          </a:prstGeom>
          <a:noFill/>
          <a:ln w="25400">
            <a:solidFill>
              <a:srgbClr val="117ACA"/>
            </a:solidFill>
            <a:prstDash val="solid"/>
          </a:ln>
        </p:spPr>
      </p:sp>
      <p:sp>
        <p:nvSpPr>
          <p:cNvPr id="11" name="Text 9"/>
          <p:cNvSpPr/>
          <p:nvPr/>
        </p:nvSpPr>
        <p:spPr>
          <a:xfrm>
            <a:off x="914400" y="5897880"/>
            <a:ext cx="10058400" cy="365760"/>
          </a:xfrm>
          <a:prstGeom prst="rect">
            <a:avLst/>
          </a:prstGeom>
          <a:noFill/>
          <a:ln/>
        </p:spPr>
        <p:txBody>
          <a:bodyPr wrap="square" lIns="0" tIns="0" rIns="0" bIns="0" rtlCol="0" anchor="ctr"/>
          <a:lstStyle/>
          <a:p>
            <a:pPr marL="0" indent="0">
              <a:buNone/>
            </a:pPr>
            <a:r>
              <a:rPr lang="en-US" sz="1100" kern="0" spc="400" dirty="0">
                <a:solidFill>
                  <a:srgbClr val="8DB6DA"/>
                </a:solidFill>
                <a:latin typeface="Calibri" pitchFamily="34" charset="0"/>
                <a:ea typeface="Calibri" pitchFamily="34" charset="-122"/>
                <a:cs typeface="Calibri" pitchFamily="34" charset="-120"/>
              </a:rPr>
              <a:t>FOR SOFTWARE ENGINEERS · ARCHITECTS · PRODUCT DEVELOPERS</a:t>
            </a:r>
            <a:endParaRPr lang="en-US" sz="1100" dirty="0"/>
          </a:p>
        </p:txBody>
      </p:sp>
      <p:sp>
        <p:nvSpPr>
          <p:cNvPr id="12" name="Text 7">
            <a:extLst>
              <a:ext uri="{FF2B5EF4-FFF2-40B4-BE49-F238E27FC236}">
                <a16:creationId xmlns:a16="http://schemas.microsoft.com/office/drawing/2014/main" id="{E5D01C6E-A6B4-6817-02D4-16B9024562FD}"/>
              </a:ext>
            </a:extLst>
          </p:cNvPr>
          <p:cNvSpPr/>
          <p:nvPr/>
        </p:nvSpPr>
        <p:spPr>
          <a:xfrm>
            <a:off x="1066800" y="4038600"/>
            <a:ext cx="9601200" cy="457200"/>
          </a:xfrm>
          <a:prstGeom prst="rect">
            <a:avLst/>
          </a:prstGeom>
          <a:noFill/>
          <a:ln/>
        </p:spPr>
        <p:txBody>
          <a:bodyPr wrap="square" lIns="0" tIns="0" rIns="0" bIns="0" rtlCol="0" anchor="ctr"/>
          <a:lstStyle/>
          <a:p>
            <a:pPr marL="0" indent="0">
              <a:buNone/>
            </a:pPr>
            <a:r>
              <a:rPr lang="en-US" sz="1800" dirty="0">
                <a:solidFill>
                  <a:srgbClr val="C8D6E5"/>
                </a:solidFill>
                <a:latin typeface="Calibri" pitchFamily="34" charset="0"/>
                <a:ea typeface="Calibri" pitchFamily="34" charset="-122"/>
                <a:cs typeface="Calibri" pitchFamily="34" charset="-120"/>
              </a:rPr>
              <a:t>Choosing the right integration approach for AI-augmented systems</a:t>
            </a:r>
            <a:endParaRPr lang="en-US" sz="1800" dirty="0"/>
          </a:p>
        </p:txBody>
      </p:sp>
      <p:sp>
        <p:nvSpPr>
          <p:cNvPr id="13" name="TextBox 12">
            <a:extLst>
              <a:ext uri="{FF2B5EF4-FFF2-40B4-BE49-F238E27FC236}">
                <a16:creationId xmlns:a16="http://schemas.microsoft.com/office/drawing/2014/main" id="{7111EA39-D171-1511-EE22-EE56B2C3B31E}"/>
              </a:ext>
            </a:extLst>
          </p:cNvPr>
          <p:cNvSpPr txBox="1"/>
          <p:nvPr/>
        </p:nvSpPr>
        <p:spPr>
          <a:xfrm>
            <a:off x="7364896" y="5446643"/>
            <a:ext cx="184731" cy="369332"/>
          </a:xfrm>
          <a:prstGeom prst="rect">
            <a:avLst/>
          </a:prstGeom>
          <a:noFill/>
        </p:spPr>
        <p:txBody>
          <a:bodyPr wrap="none" rtlCol="0">
            <a:spAutoFit/>
          </a:bodyPr>
          <a:lstStyle/>
          <a:p>
            <a:endParaRPr lang="en-US" dirty="0"/>
          </a:p>
        </p:txBody>
      </p:sp>
      <p:sp>
        <p:nvSpPr>
          <p:cNvPr id="14" name="TextBox 13">
            <a:extLst>
              <a:ext uri="{FF2B5EF4-FFF2-40B4-BE49-F238E27FC236}">
                <a16:creationId xmlns:a16="http://schemas.microsoft.com/office/drawing/2014/main" id="{C699B2FE-3730-1041-6A66-92BE0058FF54}"/>
              </a:ext>
            </a:extLst>
          </p:cNvPr>
          <p:cNvSpPr txBox="1"/>
          <p:nvPr/>
        </p:nvSpPr>
        <p:spPr>
          <a:xfrm>
            <a:off x="1566672" y="5322809"/>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INTRODUCTION</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Two paths to the same goal</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480060" y="1691640"/>
            <a:ext cx="3520440" cy="42062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6" name="Shape 4"/>
          <p:cNvSpPr/>
          <p:nvPr/>
        </p:nvSpPr>
        <p:spPr>
          <a:xfrm>
            <a:off x="480060" y="1691640"/>
            <a:ext cx="3520440" cy="109728"/>
          </a:xfrm>
          <a:prstGeom prst="rect">
            <a:avLst/>
          </a:prstGeom>
          <a:solidFill>
            <a:srgbClr val="117ACA"/>
          </a:solidFill>
          <a:ln/>
        </p:spPr>
      </p:sp>
      <p:sp>
        <p:nvSpPr>
          <p:cNvPr id="7" name="Shape 5"/>
          <p:cNvSpPr/>
          <p:nvPr/>
        </p:nvSpPr>
        <p:spPr>
          <a:xfrm>
            <a:off x="845820" y="2148840"/>
            <a:ext cx="868680" cy="868680"/>
          </a:xfrm>
          <a:prstGeom prst="ellipse">
            <a:avLst/>
          </a:prstGeom>
          <a:solidFill>
            <a:srgbClr val="117ACA"/>
          </a:solidFill>
          <a:ln/>
        </p:spPr>
      </p:sp>
      <p:pic>
        <p:nvPicPr>
          <p:cNvPr id="8" name="Image 0" descr="preencoded.png"/>
          <p:cNvPicPr>
            <a:picLocks noChangeAspect="1"/>
          </p:cNvPicPr>
          <p:nvPr/>
        </p:nvPicPr>
        <p:blipFill>
          <a:blip r:embed="rId3"/>
          <a:stretch>
            <a:fillRect/>
          </a:stretch>
        </p:blipFill>
        <p:spPr>
          <a:xfrm>
            <a:off x="1046988" y="2350008"/>
            <a:ext cx="457200" cy="457200"/>
          </a:xfrm>
          <a:prstGeom prst="rect">
            <a:avLst/>
          </a:prstGeom>
        </p:spPr>
      </p:pic>
      <p:sp>
        <p:nvSpPr>
          <p:cNvPr id="9" name="Text 6"/>
          <p:cNvSpPr/>
          <p:nvPr/>
        </p:nvSpPr>
        <p:spPr>
          <a:xfrm>
            <a:off x="845820" y="3246120"/>
            <a:ext cx="2788920" cy="502920"/>
          </a:xfrm>
          <a:prstGeom prst="rect">
            <a:avLst/>
          </a:prstGeom>
          <a:noFill/>
          <a:ln/>
        </p:spPr>
        <p:txBody>
          <a:bodyPr wrap="square" lIns="0" tIns="0" rIns="0" bIns="0" rtlCol="0" anchor="ctr"/>
          <a:lstStyle/>
          <a:p>
            <a:pPr marL="0" indent="0">
              <a:buNone/>
            </a:pPr>
            <a:r>
              <a:rPr lang="en-US" sz="1800" b="1" dirty="0">
                <a:solidFill>
                  <a:srgbClr val="211E1E"/>
                </a:solidFill>
                <a:latin typeface="Georgia" pitchFamily="34" charset="0"/>
                <a:ea typeface="Georgia" pitchFamily="34" charset="-122"/>
                <a:cs typeface="Georgia" pitchFamily="34" charset="-120"/>
              </a:rPr>
              <a:t>What is skills.md?</a:t>
            </a:r>
            <a:endParaRPr lang="en-US" sz="1800" dirty="0"/>
          </a:p>
        </p:txBody>
      </p:sp>
      <p:sp>
        <p:nvSpPr>
          <p:cNvPr id="10" name="Text 7"/>
          <p:cNvSpPr/>
          <p:nvPr/>
        </p:nvSpPr>
        <p:spPr>
          <a:xfrm>
            <a:off x="845820" y="3840480"/>
            <a:ext cx="2788920" cy="1463040"/>
          </a:xfrm>
          <a:prstGeom prst="rect">
            <a:avLst/>
          </a:prstGeom>
          <a:noFill/>
          <a:ln/>
        </p:spPr>
        <p:txBody>
          <a:bodyPr wrap="square" lIns="0" tIns="0" rIns="0" bIns="0" rtlCol="0" anchor="ctr"/>
          <a:lstStyle/>
          <a:p>
            <a:pPr marL="0" indent="0">
              <a:spcAft>
                <a:spcPts val="600"/>
              </a:spcAft>
              <a:buNone/>
            </a:pPr>
            <a:r>
              <a:rPr lang="en-US" sz="1300" dirty="0">
                <a:solidFill>
                  <a:srgbClr val="5A6066"/>
                </a:solidFill>
                <a:latin typeface="Calibri" pitchFamily="34" charset="0"/>
                <a:ea typeface="Calibri" pitchFamily="34" charset="-122"/>
                <a:cs typeface="Calibri" pitchFamily="34" charset="-120"/>
              </a:rPr>
              <a:t>A declarative markdown file that ships instructions and tool definitions to the LLM at prompt time.</a:t>
            </a:r>
            <a:endParaRPr lang="en-US" sz="1300" dirty="0"/>
          </a:p>
        </p:txBody>
      </p:sp>
      <p:sp>
        <p:nvSpPr>
          <p:cNvPr id="11" name="Shape 8"/>
          <p:cNvSpPr/>
          <p:nvPr/>
        </p:nvSpPr>
        <p:spPr>
          <a:xfrm>
            <a:off x="4320540" y="1691640"/>
            <a:ext cx="3520440" cy="42062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12" name="Shape 9"/>
          <p:cNvSpPr/>
          <p:nvPr/>
        </p:nvSpPr>
        <p:spPr>
          <a:xfrm>
            <a:off x="4320540" y="1691640"/>
            <a:ext cx="3520440" cy="109728"/>
          </a:xfrm>
          <a:prstGeom prst="rect">
            <a:avLst/>
          </a:prstGeom>
          <a:solidFill>
            <a:srgbClr val="1B7F9E"/>
          </a:solidFill>
          <a:ln/>
        </p:spPr>
      </p:sp>
      <p:sp>
        <p:nvSpPr>
          <p:cNvPr id="13" name="Shape 10"/>
          <p:cNvSpPr/>
          <p:nvPr/>
        </p:nvSpPr>
        <p:spPr>
          <a:xfrm>
            <a:off x="4686300" y="2148840"/>
            <a:ext cx="868680" cy="868680"/>
          </a:xfrm>
          <a:prstGeom prst="ellipse">
            <a:avLst/>
          </a:prstGeom>
          <a:solidFill>
            <a:srgbClr val="1B7F9E"/>
          </a:solidFill>
          <a:ln/>
        </p:spPr>
      </p:sp>
      <p:pic>
        <p:nvPicPr>
          <p:cNvPr id="14" name="Image 1" descr="preencoded.png"/>
          <p:cNvPicPr>
            <a:picLocks noChangeAspect="1"/>
          </p:cNvPicPr>
          <p:nvPr/>
        </p:nvPicPr>
        <p:blipFill>
          <a:blip r:embed="rId4"/>
          <a:stretch>
            <a:fillRect/>
          </a:stretch>
        </p:blipFill>
        <p:spPr>
          <a:xfrm>
            <a:off x="4887468" y="2350008"/>
            <a:ext cx="457200" cy="457200"/>
          </a:xfrm>
          <a:prstGeom prst="rect">
            <a:avLst/>
          </a:prstGeom>
        </p:spPr>
      </p:pic>
      <p:sp>
        <p:nvSpPr>
          <p:cNvPr id="15" name="Text 11"/>
          <p:cNvSpPr/>
          <p:nvPr/>
        </p:nvSpPr>
        <p:spPr>
          <a:xfrm>
            <a:off x="4686300" y="3246120"/>
            <a:ext cx="2788920" cy="502920"/>
          </a:xfrm>
          <a:prstGeom prst="rect">
            <a:avLst/>
          </a:prstGeom>
          <a:noFill/>
          <a:ln/>
        </p:spPr>
        <p:txBody>
          <a:bodyPr wrap="square" lIns="0" tIns="0" rIns="0" bIns="0" rtlCol="0" anchor="ctr"/>
          <a:lstStyle/>
          <a:p>
            <a:pPr marL="0" indent="0">
              <a:buNone/>
            </a:pPr>
            <a:r>
              <a:rPr lang="en-US" sz="1800" b="1" dirty="0">
                <a:solidFill>
                  <a:srgbClr val="211E1E"/>
                </a:solidFill>
                <a:latin typeface="Georgia" pitchFamily="34" charset="0"/>
                <a:ea typeface="Georgia" pitchFamily="34" charset="-122"/>
                <a:cs typeface="Georgia" pitchFamily="34" charset="-120"/>
              </a:rPr>
              <a:t>What are MCP servers?</a:t>
            </a:r>
            <a:endParaRPr lang="en-US" sz="1800" dirty="0"/>
          </a:p>
        </p:txBody>
      </p:sp>
      <p:sp>
        <p:nvSpPr>
          <p:cNvPr id="16" name="Text 12"/>
          <p:cNvSpPr/>
          <p:nvPr/>
        </p:nvSpPr>
        <p:spPr>
          <a:xfrm>
            <a:off x="4686300" y="3840480"/>
            <a:ext cx="2788920" cy="1463040"/>
          </a:xfrm>
          <a:prstGeom prst="rect">
            <a:avLst/>
          </a:prstGeom>
          <a:noFill/>
          <a:ln/>
        </p:spPr>
        <p:txBody>
          <a:bodyPr wrap="square" lIns="0" tIns="0" rIns="0" bIns="0" rtlCol="0" anchor="ctr"/>
          <a:lstStyle/>
          <a:p>
            <a:pPr marL="0" indent="0">
              <a:spcAft>
                <a:spcPts val="600"/>
              </a:spcAft>
              <a:buNone/>
            </a:pPr>
            <a:r>
              <a:rPr lang="en-US" sz="1300" dirty="0">
                <a:solidFill>
                  <a:srgbClr val="5A6066"/>
                </a:solidFill>
                <a:latin typeface="Calibri" pitchFamily="34" charset="0"/>
                <a:ea typeface="Calibri" pitchFamily="34" charset="-122"/>
                <a:cs typeface="Calibri" pitchFamily="34" charset="-120"/>
              </a:rPr>
              <a:t>External services implementing the Model Context Protocol so the LLM can invoke tools through a stable contract.</a:t>
            </a:r>
            <a:endParaRPr lang="en-US" sz="1300" dirty="0"/>
          </a:p>
        </p:txBody>
      </p:sp>
      <p:sp>
        <p:nvSpPr>
          <p:cNvPr id="17" name="Shape 13"/>
          <p:cNvSpPr/>
          <p:nvPr/>
        </p:nvSpPr>
        <p:spPr>
          <a:xfrm>
            <a:off x="8161020" y="1691640"/>
            <a:ext cx="3520440" cy="42062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18" name="Shape 14"/>
          <p:cNvSpPr/>
          <p:nvPr/>
        </p:nvSpPr>
        <p:spPr>
          <a:xfrm>
            <a:off x="8161020" y="1691640"/>
            <a:ext cx="3520440" cy="109728"/>
          </a:xfrm>
          <a:prstGeom prst="rect">
            <a:avLst/>
          </a:prstGeom>
          <a:solidFill>
            <a:srgbClr val="117ACA"/>
          </a:solidFill>
          <a:ln/>
        </p:spPr>
      </p:sp>
      <p:sp>
        <p:nvSpPr>
          <p:cNvPr id="19" name="Shape 15"/>
          <p:cNvSpPr/>
          <p:nvPr/>
        </p:nvSpPr>
        <p:spPr>
          <a:xfrm>
            <a:off x="8526780" y="2148840"/>
            <a:ext cx="868680" cy="868680"/>
          </a:xfrm>
          <a:prstGeom prst="ellipse">
            <a:avLst/>
          </a:prstGeom>
          <a:solidFill>
            <a:srgbClr val="117ACA"/>
          </a:solidFill>
          <a:ln/>
        </p:spPr>
      </p:sp>
      <p:pic>
        <p:nvPicPr>
          <p:cNvPr id="20" name="Image 2" descr="preencoded.png"/>
          <p:cNvPicPr>
            <a:picLocks noChangeAspect="1"/>
          </p:cNvPicPr>
          <p:nvPr/>
        </p:nvPicPr>
        <p:blipFill>
          <a:blip r:embed="rId5"/>
          <a:stretch>
            <a:fillRect/>
          </a:stretch>
        </p:blipFill>
        <p:spPr>
          <a:xfrm>
            <a:off x="8727948" y="2350008"/>
            <a:ext cx="457200" cy="457200"/>
          </a:xfrm>
          <a:prstGeom prst="rect">
            <a:avLst/>
          </a:prstGeom>
        </p:spPr>
      </p:pic>
      <p:sp>
        <p:nvSpPr>
          <p:cNvPr id="21" name="Text 16"/>
          <p:cNvSpPr/>
          <p:nvPr/>
        </p:nvSpPr>
        <p:spPr>
          <a:xfrm>
            <a:off x="8526780" y="3246120"/>
            <a:ext cx="2788920" cy="502920"/>
          </a:xfrm>
          <a:prstGeom prst="rect">
            <a:avLst/>
          </a:prstGeom>
          <a:noFill/>
          <a:ln/>
        </p:spPr>
        <p:txBody>
          <a:bodyPr wrap="square" lIns="0" tIns="0" rIns="0" bIns="0" rtlCol="0" anchor="ctr"/>
          <a:lstStyle/>
          <a:p>
            <a:pPr marL="0" indent="0">
              <a:buNone/>
            </a:pPr>
            <a:r>
              <a:rPr lang="en-US" sz="1800" b="1" dirty="0">
                <a:solidFill>
                  <a:srgbClr val="211E1E"/>
                </a:solidFill>
                <a:latin typeface="Georgia" pitchFamily="34" charset="0"/>
                <a:ea typeface="Georgia" pitchFamily="34" charset="-122"/>
                <a:cs typeface="Georgia" pitchFamily="34" charset="-120"/>
              </a:rPr>
              <a:t>Why this matters</a:t>
            </a:r>
            <a:endParaRPr lang="en-US" sz="1800" dirty="0"/>
          </a:p>
        </p:txBody>
      </p:sp>
      <p:sp>
        <p:nvSpPr>
          <p:cNvPr id="22" name="Text 17"/>
          <p:cNvSpPr/>
          <p:nvPr/>
        </p:nvSpPr>
        <p:spPr>
          <a:xfrm>
            <a:off x="8526780" y="3840480"/>
            <a:ext cx="2788920" cy="1463040"/>
          </a:xfrm>
          <a:prstGeom prst="rect">
            <a:avLst/>
          </a:prstGeom>
          <a:noFill/>
          <a:ln/>
        </p:spPr>
        <p:txBody>
          <a:bodyPr wrap="square" lIns="0" tIns="0" rIns="0" bIns="0" rtlCol="0" anchor="ctr"/>
          <a:lstStyle/>
          <a:p>
            <a:pPr marL="0" indent="0">
              <a:spcAft>
                <a:spcPts val="600"/>
              </a:spcAft>
              <a:buNone/>
            </a:pPr>
            <a:r>
              <a:rPr lang="en-US" sz="1300" dirty="0">
                <a:solidFill>
                  <a:srgbClr val="5A6066"/>
                </a:solidFill>
                <a:latin typeface="Calibri" pitchFamily="34" charset="0"/>
                <a:ea typeface="Calibri" pitchFamily="34" charset="-122"/>
                <a:cs typeface="Calibri" pitchFamily="34" charset="-120"/>
              </a:rPr>
              <a:t>Picking the wrong layer means either over-engineering a one-call workflow or hitting a wall on stateful, multi-step systems.</a:t>
            </a:r>
            <a:endParaRPr lang="en-US" sz="1300" dirty="0"/>
          </a:p>
        </p:txBody>
      </p:sp>
      <p:sp>
        <p:nvSpPr>
          <p:cNvPr id="23" name="Text 18"/>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02 / 13</a:t>
            </a:r>
            <a:endParaRPr lang="en-US" sz="1000" dirty="0"/>
          </a:p>
        </p:txBody>
      </p:sp>
      <p:sp>
        <p:nvSpPr>
          <p:cNvPr id="24" name="Text 19"/>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DEFINITION  ·  THE RECIPE</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What is skills.md?</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640080" y="1783080"/>
            <a:ext cx="640080" cy="640080"/>
          </a:xfrm>
          <a:prstGeom prst="ellipse">
            <a:avLst/>
          </a:prstGeom>
          <a:solidFill>
            <a:srgbClr val="F4F6F8"/>
          </a:solidFill>
          <a:ln w="12700">
            <a:solidFill>
              <a:srgbClr val="E6E9EB"/>
            </a:solidFill>
            <a:prstDash val="solid"/>
          </a:ln>
        </p:spPr>
      </p:sp>
      <p:pic>
        <p:nvPicPr>
          <p:cNvPr id="6" name="Image 0" descr="preencoded.png"/>
          <p:cNvPicPr>
            <a:picLocks noChangeAspect="1"/>
          </p:cNvPicPr>
          <p:nvPr/>
        </p:nvPicPr>
        <p:blipFill>
          <a:blip r:embed="rId3"/>
          <a:stretch>
            <a:fillRect/>
          </a:stretch>
        </p:blipFill>
        <p:spPr>
          <a:xfrm>
            <a:off x="777240" y="1920240"/>
            <a:ext cx="365760" cy="365760"/>
          </a:xfrm>
          <a:prstGeom prst="rect">
            <a:avLst/>
          </a:prstGeom>
        </p:spPr>
      </p:pic>
      <p:sp>
        <p:nvSpPr>
          <p:cNvPr id="7" name="Text 4"/>
          <p:cNvSpPr/>
          <p:nvPr/>
        </p:nvSpPr>
        <p:spPr>
          <a:xfrm>
            <a:off x="1417320" y="176479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Declarative file</a:t>
            </a:r>
            <a:endParaRPr lang="en-US" sz="1600" dirty="0"/>
          </a:p>
        </p:txBody>
      </p:sp>
      <p:sp>
        <p:nvSpPr>
          <p:cNvPr id="8" name="Text 5"/>
          <p:cNvSpPr/>
          <p:nvPr/>
        </p:nvSpPr>
        <p:spPr>
          <a:xfrm>
            <a:off x="1417320" y="2075688"/>
            <a:ext cx="4572000" cy="45720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Instructions and tool schemas in a single markdown document.</a:t>
            </a:r>
            <a:endParaRPr lang="en-US" sz="1200" dirty="0"/>
          </a:p>
        </p:txBody>
      </p:sp>
      <p:sp>
        <p:nvSpPr>
          <p:cNvPr id="9" name="Shape 6"/>
          <p:cNvSpPr/>
          <p:nvPr/>
        </p:nvSpPr>
        <p:spPr>
          <a:xfrm>
            <a:off x="640080" y="2651760"/>
            <a:ext cx="640080" cy="640080"/>
          </a:xfrm>
          <a:prstGeom prst="ellipse">
            <a:avLst/>
          </a:prstGeom>
          <a:solidFill>
            <a:srgbClr val="F4F6F8"/>
          </a:solidFill>
          <a:ln w="12700">
            <a:solidFill>
              <a:srgbClr val="E6E9EB"/>
            </a:solidFill>
            <a:prstDash val="solid"/>
          </a:ln>
        </p:spPr>
      </p:sp>
      <p:pic>
        <p:nvPicPr>
          <p:cNvPr id="10" name="Image 1" descr="preencoded.png"/>
          <p:cNvPicPr>
            <a:picLocks noChangeAspect="1"/>
          </p:cNvPicPr>
          <p:nvPr/>
        </p:nvPicPr>
        <p:blipFill>
          <a:blip r:embed="rId4"/>
          <a:stretch>
            <a:fillRect/>
          </a:stretch>
        </p:blipFill>
        <p:spPr>
          <a:xfrm>
            <a:off x="777240" y="2788920"/>
            <a:ext cx="365760" cy="365760"/>
          </a:xfrm>
          <a:prstGeom prst="rect">
            <a:avLst/>
          </a:prstGeom>
        </p:spPr>
      </p:pic>
      <p:sp>
        <p:nvSpPr>
          <p:cNvPr id="11" name="Text 7"/>
          <p:cNvSpPr/>
          <p:nvPr/>
        </p:nvSpPr>
        <p:spPr>
          <a:xfrm>
            <a:off x="1417320" y="263347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Acts like a recipe</a:t>
            </a:r>
            <a:endParaRPr lang="en-US" sz="1600" dirty="0"/>
          </a:p>
        </p:txBody>
      </p:sp>
      <p:sp>
        <p:nvSpPr>
          <p:cNvPr id="12" name="Text 8"/>
          <p:cNvSpPr/>
          <p:nvPr/>
        </p:nvSpPr>
        <p:spPr>
          <a:xfrm>
            <a:off x="1417320" y="2944368"/>
            <a:ext cx="4572000" cy="45720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Tells the model how to behave step by step — no runtime needed.</a:t>
            </a:r>
            <a:endParaRPr lang="en-US" sz="1200" dirty="0"/>
          </a:p>
        </p:txBody>
      </p:sp>
      <p:sp>
        <p:nvSpPr>
          <p:cNvPr id="13" name="Shape 9"/>
          <p:cNvSpPr/>
          <p:nvPr/>
        </p:nvSpPr>
        <p:spPr>
          <a:xfrm>
            <a:off x="640080" y="3520440"/>
            <a:ext cx="640080" cy="640080"/>
          </a:xfrm>
          <a:prstGeom prst="ellipse">
            <a:avLst/>
          </a:prstGeom>
          <a:solidFill>
            <a:srgbClr val="F4F6F8"/>
          </a:solidFill>
          <a:ln w="12700">
            <a:solidFill>
              <a:srgbClr val="E6E9EB"/>
            </a:solidFill>
            <a:prstDash val="solid"/>
          </a:ln>
        </p:spPr>
      </p:sp>
      <p:pic>
        <p:nvPicPr>
          <p:cNvPr id="14" name="Image 2" descr="preencoded.png"/>
          <p:cNvPicPr>
            <a:picLocks noChangeAspect="1"/>
          </p:cNvPicPr>
          <p:nvPr/>
        </p:nvPicPr>
        <p:blipFill>
          <a:blip r:embed="rId5"/>
          <a:stretch>
            <a:fillRect/>
          </a:stretch>
        </p:blipFill>
        <p:spPr>
          <a:xfrm>
            <a:off x="777240" y="3657600"/>
            <a:ext cx="365760" cy="365760"/>
          </a:xfrm>
          <a:prstGeom prst="rect">
            <a:avLst/>
          </a:prstGeom>
        </p:spPr>
      </p:pic>
      <p:sp>
        <p:nvSpPr>
          <p:cNvPr id="15" name="Text 10"/>
          <p:cNvSpPr/>
          <p:nvPr/>
        </p:nvSpPr>
        <p:spPr>
          <a:xfrm>
            <a:off x="1417320" y="350215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Calls APIs over HTTPS</a:t>
            </a:r>
            <a:endParaRPr lang="en-US" sz="1600" dirty="0"/>
          </a:p>
        </p:txBody>
      </p:sp>
      <p:sp>
        <p:nvSpPr>
          <p:cNvPr id="16" name="Text 11"/>
          <p:cNvSpPr/>
          <p:nvPr/>
        </p:nvSpPr>
        <p:spPr>
          <a:xfrm>
            <a:off x="1417320" y="3813048"/>
            <a:ext cx="4572000" cy="45720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Tools defined inline can hit external REST endpoints directly.</a:t>
            </a:r>
            <a:endParaRPr lang="en-US" sz="1200" dirty="0"/>
          </a:p>
        </p:txBody>
      </p:sp>
      <p:sp>
        <p:nvSpPr>
          <p:cNvPr id="17" name="Shape 12"/>
          <p:cNvSpPr/>
          <p:nvPr/>
        </p:nvSpPr>
        <p:spPr>
          <a:xfrm>
            <a:off x="640080" y="4389120"/>
            <a:ext cx="640080" cy="640080"/>
          </a:xfrm>
          <a:prstGeom prst="ellipse">
            <a:avLst/>
          </a:prstGeom>
          <a:solidFill>
            <a:srgbClr val="F4F6F8"/>
          </a:solidFill>
          <a:ln w="12700">
            <a:solidFill>
              <a:srgbClr val="E6E9EB"/>
            </a:solidFill>
            <a:prstDash val="solid"/>
          </a:ln>
        </p:spPr>
      </p:sp>
      <p:pic>
        <p:nvPicPr>
          <p:cNvPr id="18" name="Image 3" descr="preencoded.png"/>
          <p:cNvPicPr>
            <a:picLocks noChangeAspect="1"/>
          </p:cNvPicPr>
          <p:nvPr/>
        </p:nvPicPr>
        <p:blipFill>
          <a:blip r:embed="rId6"/>
          <a:stretch>
            <a:fillRect/>
          </a:stretch>
        </p:blipFill>
        <p:spPr>
          <a:xfrm>
            <a:off x="777240" y="4526280"/>
            <a:ext cx="365760" cy="365760"/>
          </a:xfrm>
          <a:prstGeom prst="rect">
            <a:avLst/>
          </a:prstGeom>
        </p:spPr>
      </p:pic>
      <p:sp>
        <p:nvSpPr>
          <p:cNvPr id="19" name="Text 13"/>
          <p:cNvSpPr/>
          <p:nvPr/>
        </p:nvSpPr>
        <p:spPr>
          <a:xfrm>
            <a:off x="1417320" y="437083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Lightweight &amp; inline</a:t>
            </a:r>
            <a:endParaRPr lang="en-US" sz="1600" dirty="0"/>
          </a:p>
        </p:txBody>
      </p:sp>
      <p:sp>
        <p:nvSpPr>
          <p:cNvPr id="20" name="Text 14"/>
          <p:cNvSpPr/>
          <p:nvPr/>
        </p:nvSpPr>
        <p:spPr>
          <a:xfrm>
            <a:off x="1417320" y="4681728"/>
            <a:ext cx="4572000" cy="45720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Loaded into prompt context — no servers, no deployment.</a:t>
            </a:r>
            <a:endParaRPr lang="en-US" sz="1200" dirty="0"/>
          </a:p>
        </p:txBody>
      </p:sp>
      <p:sp>
        <p:nvSpPr>
          <p:cNvPr id="21" name="Shape 15"/>
          <p:cNvSpPr/>
          <p:nvPr/>
        </p:nvSpPr>
        <p:spPr>
          <a:xfrm>
            <a:off x="6583680" y="1691640"/>
            <a:ext cx="5029200" cy="4206240"/>
          </a:xfrm>
          <a:prstGeom prst="rect">
            <a:avLst/>
          </a:prstGeom>
          <a:solidFill>
            <a:srgbClr val="292E33"/>
          </a:solidFill>
          <a:ln/>
          <a:effectLst>
            <a:outerShdw blurRad="177800" dist="38100" dir="5400000" algn="bl" rotWithShape="0">
              <a:srgbClr val="000000">
                <a:alpha val="10000"/>
              </a:srgbClr>
            </a:outerShdw>
          </a:effectLst>
        </p:spPr>
      </p:sp>
      <p:sp>
        <p:nvSpPr>
          <p:cNvPr id="22" name="Shape 16"/>
          <p:cNvSpPr/>
          <p:nvPr/>
        </p:nvSpPr>
        <p:spPr>
          <a:xfrm>
            <a:off x="6812280" y="1920240"/>
            <a:ext cx="164592" cy="164592"/>
          </a:xfrm>
          <a:prstGeom prst="ellipse">
            <a:avLst/>
          </a:prstGeom>
          <a:solidFill>
            <a:srgbClr val="FF6058"/>
          </a:solidFill>
          <a:ln/>
        </p:spPr>
      </p:sp>
      <p:sp>
        <p:nvSpPr>
          <p:cNvPr id="23" name="Shape 17"/>
          <p:cNvSpPr/>
          <p:nvPr/>
        </p:nvSpPr>
        <p:spPr>
          <a:xfrm>
            <a:off x="7086600" y="1920240"/>
            <a:ext cx="164592" cy="164592"/>
          </a:xfrm>
          <a:prstGeom prst="ellipse">
            <a:avLst/>
          </a:prstGeom>
          <a:solidFill>
            <a:srgbClr val="FFBE2E"/>
          </a:solidFill>
          <a:ln/>
        </p:spPr>
      </p:sp>
      <p:sp>
        <p:nvSpPr>
          <p:cNvPr id="24" name="Shape 18"/>
          <p:cNvSpPr/>
          <p:nvPr/>
        </p:nvSpPr>
        <p:spPr>
          <a:xfrm>
            <a:off x="7360920" y="1920240"/>
            <a:ext cx="164592" cy="164592"/>
          </a:xfrm>
          <a:prstGeom prst="ellipse">
            <a:avLst/>
          </a:prstGeom>
          <a:solidFill>
            <a:srgbClr val="28C941"/>
          </a:solidFill>
          <a:ln/>
        </p:spPr>
      </p:sp>
      <p:sp>
        <p:nvSpPr>
          <p:cNvPr id="25" name="Text 19"/>
          <p:cNvSpPr/>
          <p:nvPr/>
        </p:nvSpPr>
        <p:spPr>
          <a:xfrm>
            <a:off x="7772400" y="1856232"/>
            <a:ext cx="2743200" cy="274320"/>
          </a:xfrm>
          <a:prstGeom prst="rect">
            <a:avLst/>
          </a:prstGeom>
          <a:noFill/>
          <a:ln/>
        </p:spPr>
        <p:txBody>
          <a:bodyPr wrap="square" lIns="0" tIns="0" rIns="0" bIns="0" rtlCol="0" anchor="ctr"/>
          <a:lstStyle/>
          <a:p>
            <a:pPr marL="0" indent="0">
              <a:buNone/>
            </a:pPr>
            <a:r>
              <a:rPr lang="en-US" sz="1100" dirty="0">
                <a:solidFill>
                  <a:srgbClr val="B0B6BD"/>
                </a:solidFill>
                <a:latin typeface="Consolas" pitchFamily="34" charset="0"/>
                <a:ea typeface="Consolas" pitchFamily="34" charset="-122"/>
                <a:cs typeface="Consolas" pitchFamily="34" charset="-120"/>
              </a:rPr>
              <a:t>skills.md</a:t>
            </a:r>
            <a:endParaRPr lang="en-US" sz="1100" dirty="0"/>
          </a:p>
        </p:txBody>
      </p:sp>
      <p:sp>
        <p:nvSpPr>
          <p:cNvPr id="26" name="Text 20"/>
          <p:cNvSpPr/>
          <p:nvPr/>
        </p:nvSpPr>
        <p:spPr>
          <a:xfrm>
            <a:off x="6903720" y="2331720"/>
            <a:ext cx="4480560" cy="292608"/>
          </a:xfrm>
          <a:prstGeom prst="rect">
            <a:avLst/>
          </a:prstGeom>
          <a:noFill/>
          <a:ln/>
        </p:spPr>
        <p:txBody>
          <a:bodyPr wrap="square" lIns="0" tIns="0" rIns="0" bIns="0" rtlCol="0" anchor="ctr"/>
          <a:lstStyle/>
          <a:p>
            <a:pPr marL="0" indent="0">
              <a:buNone/>
            </a:pPr>
            <a:r>
              <a:rPr lang="en-US" sz="1100" dirty="0">
                <a:solidFill>
                  <a:srgbClr val="8DB6DA"/>
                </a:solidFill>
                <a:latin typeface="Consolas" pitchFamily="34" charset="0"/>
                <a:ea typeface="Consolas" pitchFamily="34" charset="-122"/>
                <a:cs typeface="Consolas" pitchFamily="34" charset="-120"/>
              </a:rPr>
              <a:t># Calculate Shipping Quote</a:t>
            </a:r>
            <a:endParaRPr lang="en-US" sz="1100" dirty="0"/>
          </a:p>
        </p:txBody>
      </p:sp>
      <p:sp>
        <p:nvSpPr>
          <p:cNvPr id="27" name="Text 21"/>
          <p:cNvSpPr/>
          <p:nvPr/>
        </p:nvSpPr>
        <p:spPr>
          <a:xfrm>
            <a:off x="6903720" y="2615184"/>
            <a:ext cx="4480560" cy="292608"/>
          </a:xfrm>
          <a:prstGeom prst="rect">
            <a:avLst/>
          </a:prstGeom>
          <a:noFill/>
          <a:ln/>
        </p:spPr>
        <p:txBody>
          <a:bodyPr wrap="square" lIns="0" tIns="0" rIns="0" bIns="0" rtlCol="0" anchor="ctr"/>
          <a:lstStyle/>
          <a:p>
            <a:pPr marL="0" indent="0">
              <a:buNone/>
            </a:pPr>
            <a:endParaRPr lang="en-US" sz="1100" dirty="0"/>
          </a:p>
        </p:txBody>
      </p:sp>
      <p:sp>
        <p:nvSpPr>
          <p:cNvPr id="28" name="Text 22"/>
          <p:cNvSpPr/>
          <p:nvPr/>
        </p:nvSpPr>
        <p:spPr>
          <a:xfrm>
            <a:off x="6903720" y="2898648"/>
            <a:ext cx="4480560" cy="292608"/>
          </a:xfrm>
          <a:prstGeom prst="rect">
            <a:avLst/>
          </a:prstGeom>
          <a:noFill/>
          <a:ln/>
        </p:spPr>
        <p:txBody>
          <a:bodyPr wrap="square" lIns="0" tIns="0" rIns="0" bIns="0" rtlCol="0" anchor="ctr"/>
          <a:lstStyle/>
          <a:p>
            <a:pPr marL="0" indent="0">
              <a:buNone/>
            </a:pPr>
            <a:r>
              <a:rPr lang="en-US" sz="1100" dirty="0">
                <a:solidFill>
                  <a:srgbClr val="C8D0D8"/>
                </a:solidFill>
                <a:latin typeface="Consolas" pitchFamily="34" charset="0"/>
                <a:ea typeface="Consolas" pitchFamily="34" charset="-122"/>
                <a:cs typeface="Consolas" pitchFamily="34" charset="-120"/>
              </a:rPr>
              <a:t>When the user asks for shipping cost,</a:t>
            </a:r>
            <a:endParaRPr lang="en-US" sz="1100" dirty="0"/>
          </a:p>
        </p:txBody>
      </p:sp>
      <p:sp>
        <p:nvSpPr>
          <p:cNvPr id="29" name="Text 23"/>
          <p:cNvSpPr/>
          <p:nvPr/>
        </p:nvSpPr>
        <p:spPr>
          <a:xfrm>
            <a:off x="6903720" y="3182112"/>
            <a:ext cx="4480560" cy="292608"/>
          </a:xfrm>
          <a:prstGeom prst="rect">
            <a:avLst/>
          </a:prstGeom>
          <a:noFill/>
          <a:ln/>
        </p:spPr>
        <p:txBody>
          <a:bodyPr wrap="square" lIns="0" tIns="0" rIns="0" bIns="0" rtlCol="0" anchor="ctr"/>
          <a:lstStyle/>
          <a:p>
            <a:pPr marL="0" indent="0">
              <a:buNone/>
            </a:pPr>
            <a:r>
              <a:rPr lang="en-US" sz="1100" dirty="0">
                <a:solidFill>
                  <a:srgbClr val="C8D0D8"/>
                </a:solidFill>
                <a:latin typeface="Consolas" pitchFamily="34" charset="0"/>
                <a:ea typeface="Consolas" pitchFamily="34" charset="-122"/>
                <a:cs typeface="Consolas" pitchFamily="34" charset="-120"/>
              </a:rPr>
              <a:t>use the `quote` tool defined below.</a:t>
            </a:r>
            <a:endParaRPr lang="en-US" sz="1100" dirty="0"/>
          </a:p>
        </p:txBody>
      </p:sp>
      <p:sp>
        <p:nvSpPr>
          <p:cNvPr id="30" name="Text 24"/>
          <p:cNvSpPr/>
          <p:nvPr/>
        </p:nvSpPr>
        <p:spPr>
          <a:xfrm>
            <a:off x="6903720" y="3465576"/>
            <a:ext cx="4480560" cy="292608"/>
          </a:xfrm>
          <a:prstGeom prst="rect">
            <a:avLst/>
          </a:prstGeom>
          <a:noFill/>
          <a:ln/>
        </p:spPr>
        <p:txBody>
          <a:bodyPr wrap="square" lIns="0" tIns="0" rIns="0" bIns="0" rtlCol="0" anchor="ctr"/>
          <a:lstStyle/>
          <a:p>
            <a:pPr marL="0" indent="0">
              <a:buNone/>
            </a:pPr>
            <a:endParaRPr lang="en-US" sz="1100" dirty="0"/>
          </a:p>
        </p:txBody>
      </p:sp>
      <p:sp>
        <p:nvSpPr>
          <p:cNvPr id="31" name="Text 25"/>
          <p:cNvSpPr/>
          <p:nvPr/>
        </p:nvSpPr>
        <p:spPr>
          <a:xfrm>
            <a:off x="6903720" y="3749040"/>
            <a:ext cx="4480560" cy="292608"/>
          </a:xfrm>
          <a:prstGeom prst="rect">
            <a:avLst/>
          </a:prstGeom>
          <a:noFill/>
          <a:ln/>
        </p:spPr>
        <p:txBody>
          <a:bodyPr wrap="square" lIns="0" tIns="0" rIns="0" bIns="0" rtlCol="0" anchor="ctr"/>
          <a:lstStyle/>
          <a:p>
            <a:pPr marL="0" indent="0">
              <a:buNone/>
            </a:pPr>
            <a:r>
              <a:rPr lang="en-US" sz="1100" dirty="0">
                <a:solidFill>
                  <a:srgbClr val="8DB6DA"/>
                </a:solidFill>
                <a:latin typeface="Consolas" pitchFamily="34" charset="0"/>
                <a:ea typeface="Consolas" pitchFamily="34" charset="-122"/>
                <a:cs typeface="Consolas" pitchFamily="34" charset="-120"/>
              </a:rPr>
              <a:t>## tool: quote</a:t>
            </a:r>
            <a:endParaRPr lang="en-US" sz="1100" dirty="0"/>
          </a:p>
        </p:txBody>
      </p:sp>
      <p:sp>
        <p:nvSpPr>
          <p:cNvPr id="32" name="Text 26"/>
          <p:cNvSpPr/>
          <p:nvPr/>
        </p:nvSpPr>
        <p:spPr>
          <a:xfrm>
            <a:off x="6903720" y="4032504"/>
            <a:ext cx="4480560" cy="292608"/>
          </a:xfrm>
          <a:prstGeom prst="rect">
            <a:avLst/>
          </a:prstGeom>
          <a:noFill/>
          <a:ln/>
        </p:spPr>
        <p:txBody>
          <a:bodyPr wrap="square" lIns="0" tIns="0" rIns="0" bIns="0" rtlCol="0" anchor="ctr"/>
          <a:lstStyle/>
          <a:p>
            <a:pPr marL="0" indent="0">
              <a:buNone/>
            </a:pPr>
            <a:r>
              <a:rPr lang="en-US" sz="1100" dirty="0">
                <a:solidFill>
                  <a:srgbClr val="8FE388"/>
                </a:solidFill>
                <a:latin typeface="Consolas" pitchFamily="34" charset="0"/>
                <a:ea typeface="Consolas" pitchFamily="34" charset="-122"/>
                <a:cs typeface="Consolas" pitchFamily="34" charset="-120"/>
              </a:rPr>
              <a:t>endpoint: https://api.ship.io/v2/rate</a:t>
            </a:r>
            <a:endParaRPr lang="en-US" sz="1100" dirty="0"/>
          </a:p>
        </p:txBody>
      </p:sp>
      <p:sp>
        <p:nvSpPr>
          <p:cNvPr id="33" name="Text 27"/>
          <p:cNvSpPr/>
          <p:nvPr/>
        </p:nvSpPr>
        <p:spPr>
          <a:xfrm>
            <a:off x="6903720" y="4315968"/>
            <a:ext cx="4480560" cy="292608"/>
          </a:xfrm>
          <a:prstGeom prst="rect">
            <a:avLst/>
          </a:prstGeom>
          <a:noFill/>
          <a:ln/>
        </p:spPr>
        <p:txBody>
          <a:bodyPr wrap="square" lIns="0" tIns="0" rIns="0" bIns="0" rtlCol="0" anchor="ctr"/>
          <a:lstStyle/>
          <a:p>
            <a:pPr marL="0" indent="0">
              <a:buNone/>
            </a:pPr>
            <a:r>
              <a:rPr lang="en-US" sz="1100" dirty="0">
                <a:solidFill>
                  <a:srgbClr val="8FE388"/>
                </a:solidFill>
                <a:latin typeface="Consolas" pitchFamily="34" charset="0"/>
                <a:ea typeface="Consolas" pitchFamily="34" charset="-122"/>
                <a:cs typeface="Consolas" pitchFamily="34" charset="-120"/>
              </a:rPr>
              <a:t>method: POST</a:t>
            </a:r>
            <a:endParaRPr lang="en-US" sz="1100" dirty="0"/>
          </a:p>
        </p:txBody>
      </p:sp>
      <p:sp>
        <p:nvSpPr>
          <p:cNvPr id="34" name="Text 28"/>
          <p:cNvSpPr/>
          <p:nvPr/>
        </p:nvSpPr>
        <p:spPr>
          <a:xfrm>
            <a:off x="6903720" y="4599432"/>
            <a:ext cx="4480560" cy="292608"/>
          </a:xfrm>
          <a:prstGeom prst="rect">
            <a:avLst/>
          </a:prstGeom>
          <a:noFill/>
          <a:ln/>
        </p:spPr>
        <p:txBody>
          <a:bodyPr wrap="square" lIns="0" tIns="0" rIns="0" bIns="0" rtlCol="0" anchor="ctr"/>
          <a:lstStyle/>
          <a:p>
            <a:pPr marL="0" indent="0">
              <a:buNone/>
            </a:pPr>
            <a:r>
              <a:rPr lang="en-US" sz="1100" dirty="0">
                <a:solidFill>
                  <a:srgbClr val="8FE388"/>
                </a:solidFill>
                <a:latin typeface="Consolas" pitchFamily="34" charset="0"/>
                <a:ea typeface="Consolas" pitchFamily="34" charset="-122"/>
                <a:cs typeface="Consolas" pitchFamily="34" charset="-120"/>
              </a:rPr>
              <a:t>params:</a:t>
            </a:r>
            <a:endParaRPr lang="en-US" sz="1100" dirty="0"/>
          </a:p>
        </p:txBody>
      </p:sp>
      <p:sp>
        <p:nvSpPr>
          <p:cNvPr id="35" name="Text 29"/>
          <p:cNvSpPr/>
          <p:nvPr/>
        </p:nvSpPr>
        <p:spPr>
          <a:xfrm>
            <a:off x="6903720" y="4882896"/>
            <a:ext cx="4480560" cy="292608"/>
          </a:xfrm>
          <a:prstGeom prst="rect">
            <a:avLst/>
          </a:prstGeom>
          <a:noFill/>
          <a:ln/>
        </p:spPr>
        <p:txBody>
          <a:bodyPr wrap="square" lIns="0" tIns="0" rIns="0" bIns="0" rtlCol="0" anchor="ctr"/>
          <a:lstStyle/>
          <a:p>
            <a:pPr marL="0" indent="0">
              <a:buNone/>
            </a:pPr>
            <a:r>
              <a:rPr lang="en-US" sz="1100" dirty="0">
                <a:solidFill>
                  <a:srgbClr val="C8D0D8"/>
                </a:solidFill>
                <a:latin typeface="Consolas" pitchFamily="34" charset="0"/>
                <a:ea typeface="Consolas" pitchFamily="34" charset="-122"/>
                <a:cs typeface="Consolas" pitchFamily="34" charset="-120"/>
              </a:rPr>
              <a:t>  - origin (zip)</a:t>
            </a:r>
            <a:endParaRPr lang="en-US" sz="1100" dirty="0"/>
          </a:p>
        </p:txBody>
      </p:sp>
      <p:sp>
        <p:nvSpPr>
          <p:cNvPr id="36" name="Text 30"/>
          <p:cNvSpPr/>
          <p:nvPr/>
        </p:nvSpPr>
        <p:spPr>
          <a:xfrm>
            <a:off x="6903720" y="5166360"/>
            <a:ext cx="4480560" cy="292608"/>
          </a:xfrm>
          <a:prstGeom prst="rect">
            <a:avLst/>
          </a:prstGeom>
          <a:noFill/>
          <a:ln/>
        </p:spPr>
        <p:txBody>
          <a:bodyPr wrap="square" lIns="0" tIns="0" rIns="0" bIns="0" rtlCol="0" anchor="ctr"/>
          <a:lstStyle/>
          <a:p>
            <a:pPr marL="0" indent="0">
              <a:buNone/>
            </a:pPr>
            <a:r>
              <a:rPr lang="en-US" sz="1100" dirty="0">
                <a:solidFill>
                  <a:srgbClr val="C8D0D8"/>
                </a:solidFill>
                <a:latin typeface="Consolas" pitchFamily="34" charset="0"/>
                <a:ea typeface="Consolas" pitchFamily="34" charset="-122"/>
                <a:cs typeface="Consolas" pitchFamily="34" charset="-120"/>
              </a:rPr>
              <a:t>  - destination (zip)</a:t>
            </a:r>
            <a:endParaRPr lang="en-US" sz="1100" dirty="0"/>
          </a:p>
        </p:txBody>
      </p:sp>
      <p:sp>
        <p:nvSpPr>
          <p:cNvPr id="37" name="Text 31"/>
          <p:cNvSpPr/>
          <p:nvPr/>
        </p:nvSpPr>
        <p:spPr>
          <a:xfrm>
            <a:off x="6903720" y="5449824"/>
            <a:ext cx="4480560" cy="292608"/>
          </a:xfrm>
          <a:prstGeom prst="rect">
            <a:avLst/>
          </a:prstGeom>
          <a:noFill/>
          <a:ln/>
        </p:spPr>
        <p:txBody>
          <a:bodyPr wrap="square" lIns="0" tIns="0" rIns="0" bIns="0" rtlCol="0" anchor="ctr"/>
          <a:lstStyle/>
          <a:p>
            <a:pPr marL="0" indent="0">
              <a:buNone/>
            </a:pPr>
            <a:r>
              <a:rPr lang="en-US" sz="1100" dirty="0">
                <a:solidFill>
                  <a:srgbClr val="C8D0D8"/>
                </a:solidFill>
                <a:latin typeface="Consolas" pitchFamily="34" charset="0"/>
                <a:ea typeface="Consolas" pitchFamily="34" charset="-122"/>
                <a:cs typeface="Consolas" pitchFamily="34" charset="-120"/>
              </a:rPr>
              <a:t>  - weight (lb)</a:t>
            </a:r>
            <a:endParaRPr lang="en-US" sz="1100" dirty="0"/>
          </a:p>
        </p:txBody>
      </p:sp>
      <p:sp>
        <p:nvSpPr>
          <p:cNvPr id="38" name="Text 32"/>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03 / 13</a:t>
            </a:r>
            <a:endParaRPr lang="en-US" sz="1000" dirty="0"/>
          </a:p>
        </p:txBody>
      </p:sp>
      <p:sp>
        <p:nvSpPr>
          <p:cNvPr id="39" name="Text 3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DEFINITION  ·  THE KITCHEN</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What are MCP servers?</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640080" y="1783080"/>
            <a:ext cx="5486400" cy="4114800"/>
          </a:xfrm>
          <a:prstGeom prst="rect">
            <a:avLst/>
          </a:prstGeom>
          <a:solidFill>
            <a:srgbClr val="F4F6F8"/>
          </a:solidFill>
          <a:ln w="12700">
            <a:solidFill>
              <a:srgbClr val="E6E9EB"/>
            </a:solidFill>
            <a:prstDash val="solid"/>
          </a:ln>
        </p:spPr>
      </p:sp>
      <p:sp>
        <p:nvSpPr>
          <p:cNvPr id="6" name="Shape 4"/>
          <p:cNvSpPr/>
          <p:nvPr/>
        </p:nvSpPr>
        <p:spPr>
          <a:xfrm>
            <a:off x="1005840" y="3337560"/>
            <a:ext cx="1463040" cy="914400"/>
          </a:xfrm>
          <a:prstGeom prst="rect">
            <a:avLst/>
          </a:prstGeom>
          <a:solidFill>
            <a:srgbClr val="FFFFFF"/>
          </a:solidFill>
          <a:ln w="19050">
            <a:solidFill>
              <a:srgbClr val="117ACA"/>
            </a:solidFill>
            <a:prstDash val="solid"/>
          </a:ln>
          <a:effectLst>
            <a:outerShdw blurRad="177800" dist="38100" dir="5400000" algn="bl" rotWithShape="0">
              <a:srgbClr val="000000">
                <a:alpha val="10000"/>
              </a:srgbClr>
            </a:outerShdw>
          </a:effectLst>
        </p:spPr>
      </p:sp>
      <p:sp>
        <p:nvSpPr>
          <p:cNvPr id="7" name="Text 5"/>
          <p:cNvSpPr/>
          <p:nvPr/>
        </p:nvSpPr>
        <p:spPr>
          <a:xfrm>
            <a:off x="1005840" y="3337560"/>
            <a:ext cx="1463040" cy="914400"/>
          </a:xfrm>
          <a:prstGeom prst="rect">
            <a:avLst/>
          </a:prstGeom>
          <a:noFill/>
          <a:ln/>
        </p:spPr>
        <p:txBody>
          <a:bodyPr wrap="square" lIns="0" tIns="0" rIns="0" bIns="0" rtlCol="0" anchor="ctr"/>
          <a:lstStyle/>
          <a:p>
            <a:pPr marL="0" indent="0" algn="ctr">
              <a:buNone/>
            </a:pPr>
            <a:r>
              <a:rPr lang="en-US" sz="1200" b="1" dirty="0">
                <a:solidFill>
                  <a:srgbClr val="211E1E"/>
                </a:solidFill>
                <a:latin typeface="Calibri" pitchFamily="34" charset="0"/>
                <a:ea typeface="Calibri" pitchFamily="34" charset="-122"/>
                <a:cs typeface="Calibri" pitchFamily="34" charset="-120"/>
              </a:rPr>
              <a:t>LLM Client</a:t>
            </a:r>
            <a:endParaRPr lang="en-US" sz="1200" dirty="0"/>
          </a:p>
        </p:txBody>
      </p:sp>
      <p:sp>
        <p:nvSpPr>
          <p:cNvPr id="8" name="Shape 6"/>
          <p:cNvSpPr/>
          <p:nvPr/>
        </p:nvSpPr>
        <p:spPr>
          <a:xfrm>
            <a:off x="2468880" y="3657600"/>
            <a:ext cx="914400" cy="274320"/>
          </a:xfrm>
          <a:prstGeom prst="rect">
            <a:avLst/>
          </a:prstGeom>
          <a:solidFill>
            <a:srgbClr val="117ACA"/>
          </a:solidFill>
          <a:ln/>
        </p:spPr>
      </p:sp>
      <p:sp>
        <p:nvSpPr>
          <p:cNvPr id="9" name="Text 7"/>
          <p:cNvSpPr/>
          <p:nvPr/>
        </p:nvSpPr>
        <p:spPr>
          <a:xfrm>
            <a:off x="2468880" y="3657600"/>
            <a:ext cx="914400" cy="27432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MCP</a:t>
            </a:r>
            <a:endParaRPr lang="en-US" sz="1000" dirty="0"/>
          </a:p>
        </p:txBody>
      </p:sp>
      <p:sp>
        <p:nvSpPr>
          <p:cNvPr id="10" name="Shape 8"/>
          <p:cNvSpPr/>
          <p:nvPr/>
        </p:nvSpPr>
        <p:spPr>
          <a:xfrm>
            <a:off x="3383280" y="2880360"/>
            <a:ext cx="1828800" cy="1828800"/>
          </a:xfrm>
          <a:prstGeom prst="rect">
            <a:avLst/>
          </a:prstGeom>
          <a:solidFill>
            <a:srgbClr val="FFFFFF"/>
          </a:solidFill>
          <a:ln w="19050">
            <a:solidFill>
              <a:srgbClr val="1B7F9E"/>
            </a:solidFill>
            <a:prstDash val="solid"/>
          </a:ln>
          <a:effectLst>
            <a:outerShdw blurRad="177800" dist="38100" dir="5400000" algn="bl" rotWithShape="0">
              <a:srgbClr val="000000">
                <a:alpha val="10000"/>
              </a:srgbClr>
            </a:outerShdw>
          </a:effectLst>
        </p:spPr>
      </p:sp>
      <p:sp>
        <p:nvSpPr>
          <p:cNvPr id="11" name="Text 9"/>
          <p:cNvSpPr/>
          <p:nvPr/>
        </p:nvSpPr>
        <p:spPr>
          <a:xfrm>
            <a:off x="3383280" y="2880360"/>
            <a:ext cx="1828800" cy="1828800"/>
          </a:xfrm>
          <a:prstGeom prst="rect">
            <a:avLst/>
          </a:prstGeom>
          <a:noFill/>
          <a:ln/>
        </p:spPr>
        <p:txBody>
          <a:bodyPr wrap="square" lIns="0" tIns="0" rIns="0" bIns="0" rtlCol="0" anchor="ctr"/>
          <a:lstStyle/>
          <a:p>
            <a:pPr marL="0" indent="0" algn="ctr">
              <a:buNone/>
            </a:pPr>
            <a:r>
              <a:rPr lang="en-US" sz="1200" b="1" dirty="0">
                <a:solidFill>
                  <a:srgbClr val="211E1E"/>
                </a:solidFill>
                <a:latin typeface="Calibri" pitchFamily="34" charset="0"/>
                <a:ea typeface="Calibri" pitchFamily="34" charset="-122"/>
                <a:cs typeface="Calibri" pitchFamily="34" charset="-120"/>
              </a:rPr>
              <a:t>MCP Server</a:t>
            </a:r>
            <a:endParaRPr lang="en-US" sz="1200" dirty="0"/>
          </a:p>
        </p:txBody>
      </p:sp>
      <p:sp>
        <p:nvSpPr>
          <p:cNvPr id="12" name="Text 10"/>
          <p:cNvSpPr/>
          <p:nvPr/>
        </p:nvSpPr>
        <p:spPr>
          <a:xfrm>
            <a:off x="3383280" y="4023360"/>
            <a:ext cx="1828800" cy="274320"/>
          </a:xfrm>
          <a:prstGeom prst="rect">
            <a:avLst/>
          </a:prstGeom>
          <a:noFill/>
          <a:ln/>
        </p:spPr>
        <p:txBody>
          <a:bodyPr wrap="square" lIns="0" tIns="0" rIns="0" bIns="0" rtlCol="0" anchor="ctr"/>
          <a:lstStyle/>
          <a:p>
            <a:pPr marL="0" indent="0" algn="ctr">
              <a:buNone/>
            </a:pPr>
            <a:r>
              <a:rPr lang="en-US" sz="900" i="1" dirty="0">
                <a:solidFill>
                  <a:srgbClr val="5A6066"/>
                </a:solidFill>
                <a:latin typeface="Calibri" pitchFamily="34" charset="0"/>
                <a:ea typeface="Calibri" pitchFamily="34" charset="-122"/>
                <a:cs typeface="Calibri" pitchFamily="34" charset="-120"/>
              </a:rPr>
              <a:t>tools · memory · auth</a:t>
            </a:r>
            <a:endParaRPr lang="en-US" sz="900" dirty="0"/>
          </a:p>
        </p:txBody>
      </p:sp>
      <p:sp>
        <p:nvSpPr>
          <p:cNvPr id="13" name="Shape 11"/>
          <p:cNvSpPr/>
          <p:nvPr/>
        </p:nvSpPr>
        <p:spPr>
          <a:xfrm>
            <a:off x="1005840" y="5166360"/>
            <a:ext cx="1280160" cy="640080"/>
          </a:xfrm>
          <a:prstGeom prst="rect">
            <a:avLst/>
          </a:prstGeom>
          <a:solidFill>
            <a:srgbClr val="FFFFFF"/>
          </a:solidFill>
          <a:ln w="12700">
            <a:solidFill>
              <a:srgbClr val="E6E9EB"/>
            </a:solidFill>
            <a:prstDash val="solid"/>
          </a:ln>
        </p:spPr>
      </p:sp>
      <p:pic>
        <p:nvPicPr>
          <p:cNvPr id="14" name="Image 0" descr="preencoded.png"/>
          <p:cNvPicPr>
            <a:picLocks noChangeAspect="1"/>
          </p:cNvPicPr>
          <p:nvPr/>
        </p:nvPicPr>
        <p:blipFill>
          <a:blip r:embed="rId3"/>
          <a:stretch>
            <a:fillRect/>
          </a:stretch>
        </p:blipFill>
        <p:spPr>
          <a:xfrm>
            <a:off x="1115568" y="5330952"/>
            <a:ext cx="310896" cy="310896"/>
          </a:xfrm>
          <a:prstGeom prst="rect">
            <a:avLst/>
          </a:prstGeom>
        </p:spPr>
      </p:pic>
      <p:sp>
        <p:nvSpPr>
          <p:cNvPr id="15" name="Text 12"/>
          <p:cNvSpPr/>
          <p:nvPr/>
        </p:nvSpPr>
        <p:spPr>
          <a:xfrm>
            <a:off x="1463040" y="5166360"/>
            <a:ext cx="822960" cy="64008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REST APIs</a:t>
            </a:r>
            <a:endParaRPr lang="en-US" sz="1000" dirty="0"/>
          </a:p>
        </p:txBody>
      </p:sp>
      <p:sp>
        <p:nvSpPr>
          <p:cNvPr id="16" name="Shape 13"/>
          <p:cNvSpPr/>
          <p:nvPr/>
        </p:nvSpPr>
        <p:spPr>
          <a:xfrm>
            <a:off x="4297680" y="4709160"/>
            <a:ext cx="0" cy="457200"/>
          </a:xfrm>
          <a:prstGeom prst="line">
            <a:avLst/>
          </a:prstGeom>
          <a:noFill/>
          <a:ln w="12700">
            <a:solidFill>
              <a:srgbClr val="5BA8BF"/>
            </a:solidFill>
            <a:prstDash val="solid"/>
          </a:ln>
        </p:spPr>
      </p:sp>
      <p:sp>
        <p:nvSpPr>
          <p:cNvPr id="17" name="Shape 14"/>
          <p:cNvSpPr/>
          <p:nvPr/>
        </p:nvSpPr>
        <p:spPr>
          <a:xfrm>
            <a:off x="2468880" y="5166360"/>
            <a:ext cx="1280160" cy="640080"/>
          </a:xfrm>
          <a:prstGeom prst="rect">
            <a:avLst/>
          </a:prstGeom>
          <a:solidFill>
            <a:srgbClr val="FFFFFF"/>
          </a:solidFill>
          <a:ln w="12700">
            <a:solidFill>
              <a:srgbClr val="E6E9EB"/>
            </a:solidFill>
            <a:prstDash val="solid"/>
          </a:ln>
        </p:spPr>
      </p:sp>
      <p:pic>
        <p:nvPicPr>
          <p:cNvPr id="18" name="Image 1" descr="preencoded.png"/>
          <p:cNvPicPr>
            <a:picLocks noChangeAspect="1"/>
          </p:cNvPicPr>
          <p:nvPr/>
        </p:nvPicPr>
        <p:blipFill>
          <a:blip r:embed="rId4"/>
          <a:stretch>
            <a:fillRect/>
          </a:stretch>
        </p:blipFill>
        <p:spPr>
          <a:xfrm>
            <a:off x="2578608" y="5330952"/>
            <a:ext cx="310896" cy="310896"/>
          </a:xfrm>
          <a:prstGeom prst="rect">
            <a:avLst/>
          </a:prstGeom>
        </p:spPr>
      </p:pic>
      <p:sp>
        <p:nvSpPr>
          <p:cNvPr id="19" name="Text 15"/>
          <p:cNvSpPr/>
          <p:nvPr/>
        </p:nvSpPr>
        <p:spPr>
          <a:xfrm>
            <a:off x="2926080" y="5166360"/>
            <a:ext cx="822960" cy="64008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Databases</a:t>
            </a:r>
            <a:endParaRPr lang="en-US" sz="1000" dirty="0"/>
          </a:p>
        </p:txBody>
      </p:sp>
      <p:sp>
        <p:nvSpPr>
          <p:cNvPr id="20" name="Shape 16"/>
          <p:cNvSpPr/>
          <p:nvPr/>
        </p:nvSpPr>
        <p:spPr>
          <a:xfrm>
            <a:off x="4297680" y="4709160"/>
            <a:ext cx="0" cy="457200"/>
          </a:xfrm>
          <a:prstGeom prst="line">
            <a:avLst/>
          </a:prstGeom>
          <a:noFill/>
          <a:ln w="12700">
            <a:solidFill>
              <a:srgbClr val="5BA8BF"/>
            </a:solidFill>
            <a:prstDash val="solid"/>
          </a:ln>
        </p:spPr>
      </p:sp>
      <p:sp>
        <p:nvSpPr>
          <p:cNvPr id="21" name="Shape 17"/>
          <p:cNvSpPr/>
          <p:nvPr/>
        </p:nvSpPr>
        <p:spPr>
          <a:xfrm>
            <a:off x="3931920" y="5166360"/>
            <a:ext cx="1280160" cy="640080"/>
          </a:xfrm>
          <a:prstGeom prst="rect">
            <a:avLst/>
          </a:prstGeom>
          <a:solidFill>
            <a:srgbClr val="FFFFFF"/>
          </a:solidFill>
          <a:ln w="12700">
            <a:solidFill>
              <a:srgbClr val="E6E9EB"/>
            </a:solidFill>
            <a:prstDash val="solid"/>
          </a:ln>
        </p:spPr>
      </p:sp>
      <p:pic>
        <p:nvPicPr>
          <p:cNvPr id="22" name="Image 2" descr="preencoded.png"/>
          <p:cNvPicPr>
            <a:picLocks noChangeAspect="1"/>
          </p:cNvPicPr>
          <p:nvPr/>
        </p:nvPicPr>
        <p:blipFill>
          <a:blip r:embed="rId5"/>
          <a:stretch>
            <a:fillRect/>
          </a:stretch>
        </p:blipFill>
        <p:spPr>
          <a:xfrm>
            <a:off x="4041648" y="5330952"/>
            <a:ext cx="310896" cy="310896"/>
          </a:xfrm>
          <a:prstGeom prst="rect">
            <a:avLst/>
          </a:prstGeom>
        </p:spPr>
      </p:pic>
      <p:sp>
        <p:nvSpPr>
          <p:cNvPr id="23" name="Text 18"/>
          <p:cNvSpPr/>
          <p:nvPr/>
        </p:nvSpPr>
        <p:spPr>
          <a:xfrm>
            <a:off x="4389120" y="5166360"/>
            <a:ext cx="822960" cy="64008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Workflows</a:t>
            </a:r>
            <a:endParaRPr lang="en-US" sz="1000" dirty="0"/>
          </a:p>
        </p:txBody>
      </p:sp>
      <p:sp>
        <p:nvSpPr>
          <p:cNvPr id="24" name="Shape 19"/>
          <p:cNvSpPr/>
          <p:nvPr/>
        </p:nvSpPr>
        <p:spPr>
          <a:xfrm>
            <a:off x="4297680" y="4709160"/>
            <a:ext cx="274320" cy="457200"/>
          </a:xfrm>
          <a:prstGeom prst="line">
            <a:avLst/>
          </a:prstGeom>
          <a:noFill/>
          <a:ln w="12700">
            <a:solidFill>
              <a:srgbClr val="5BA8BF"/>
            </a:solidFill>
            <a:prstDash val="solid"/>
          </a:ln>
        </p:spPr>
      </p:sp>
      <p:sp>
        <p:nvSpPr>
          <p:cNvPr id="25" name="Shape 20"/>
          <p:cNvSpPr/>
          <p:nvPr/>
        </p:nvSpPr>
        <p:spPr>
          <a:xfrm>
            <a:off x="5394960" y="5166360"/>
            <a:ext cx="1280160" cy="640080"/>
          </a:xfrm>
          <a:prstGeom prst="rect">
            <a:avLst/>
          </a:prstGeom>
          <a:solidFill>
            <a:srgbClr val="FFFFFF"/>
          </a:solidFill>
          <a:ln w="12700">
            <a:solidFill>
              <a:srgbClr val="E6E9EB"/>
            </a:solidFill>
            <a:prstDash val="solid"/>
          </a:ln>
        </p:spPr>
      </p:sp>
      <p:pic>
        <p:nvPicPr>
          <p:cNvPr id="26" name="Image 3" descr="preencoded.png"/>
          <p:cNvPicPr>
            <a:picLocks noChangeAspect="1"/>
          </p:cNvPicPr>
          <p:nvPr/>
        </p:nvPicPr>
        <p:blipFill>
          <a:blip r:embed="rId6"/>
          <a:stretch>
            <a:fillRect/>
          </a:stretch>
        </p:blipFill>
        <p:spPr>
          <a:xfrm>
            <a:off x="5504688" y="5330952"/>
            <a:ext cx="310896" cy="310896"/>
          </a:xfrm>
          <a:prstGeom prst="rect">
            <a:avLst/>
          </a:prstGeom>
        </p:spPr>
      </p:pic>
      <p:sp>
        <p:nvSpPr>
          <p:cNvPr id="27" name="Text 21"/>
          <p:cNvSpPr/>
          <p:nvPr/>
        </p:nvSpPr>
        <p:spPr>
          <a:xfrm>
            <a:off x="5852160" y="5166360"/>
            <a:ext cx="822960" cy="64008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Auth/Vault</a:t>
            </a:r>
            <a:endParaRPr lang="en-US" sz="1000" dirty="0"/>
          </a:p>
        </p:txBody>
      </p:sp>
      <p:sp>
        <p:nvSpPr>
          <p:cNvPr id="28" name="Shape 22"/>
          <p:cNvSpPr/>
          <p:nvPr/>
        </p:nvSpPr>
        <p:spPr>
          <a:xfrm>
            <a:off x="4297680" y="4709160"/>
            <a:ext cx="1737360" cy="457200"/>
          </a:xfrm>
          <a:prstGeom prst="line">
            <a:avLst/>
          </a:prstGeom>
          <a:noFill/>
          <a:ln w="12700">
            <a:solidFill>
              <a:srgbClr val="5BA8BF"/>
            </a:solidFill>
            <a:prstDash val="solid"/>
          </a:ln>
        </p:spPr>
      </p:sp>
      <p:sp>
        <p:nvSpPr>
          <p:cNvPr id="29" name="Shape 23"/>
          <p:cNvSpPr/>
          <p:nvPr/>
        </p:nvSpPr>
        <p:spPr>
          <a:xfrm>
            <a:off x="6766560" y="1783080"/>
            <a:ext cx="640080" cy="640080"/>
          </a:xfrm>
          <a:prstGeom prst="ellipse">
            <a:avLst/>
          </a:prstGeom>
          <a:solidFill>
            <a:srgbClr val="F4F6F8"/>
          </a:solidFill>
          <a:ln w="12700">
            <a:solidFill>
              <a:srgbClr val="E6E9EB"/>
            </a:solidFill>
            <a:prstDash val="solid"/>
          </a:ln>
        </p:spPr>
      </p:sp>
      <p:pic>
        <p:nvPicPr>
          <p:cNvPr id="30" name="Image 4" descr="preencoded.png"/>
          <p:cNvPicPr>
            <a:picLocks noChangeAspect="1"/>
          </p:cNvPicPr>
          <p:nvPr/>
        </p:nvPicPr>
        <p:blipFill>
          <a:blip r:embed="rId7"/>
          <a:stretch>
            <a:fillRect/>
          </a:stretch>
        </p:blipFill>
        <p:spPr>
          <a:xfrm>
            <a:off x="6903720" y="1920240"/>
            <a:ext cx="365760" cy="365760"/>
          </a:xfrm>
          <a:prstGeom prst="rect">
            <a:avLst/>
          </a:prstGeom>
        </p:spPr>
      </p:pic>
      <p:sp>
        <p:nvSpPr>
          <p:cNvPr id="31" name="Text 24"/>
          <p:cNvSpPr/>
          <p:nvPr/>
        </p:nvSpPr>
        <p:spPr>
          <a:xfrm>
            <a:off x="7543800" y="176479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External tool servers</a:t>
            </a:r>
            <a:endParaRPr lang="en-US" sz="1600" dirty="0"/>
          </a:p>
        </p:txBody>
      </p:sp>
      <p:sp>
        <p:nvSpPr>
          <p:cNvPr id="32" name="Text 25"/>
          <p:cNvSpPr/>
          <p:nvPr/>
        </p:nvSpPr>
        <p:spPr>
          <a:xfrm>
            <a:off x="7543800" y="2075688"/>
            <a:ext cx="4572000" cy="59436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Run as standalone services that expose a stable MCP contract.</a:t>
            </a:r>
            <a:endParaRPr lang="en-US" sz="1200" dirty="0"/>
          </a:p>
        </p:txBody>
      </p:sp>
      <p:sp>
        <p:nvSpPr>
          <p:cNvPr id="33" name="Shape 26"/>
          <p:cNvSpPr/>
          <p:nvPr/>
        </p:nvSpPr>
        <p:spPr>
          <a:xfrm>
            <a:off x="6766560" y="2743200"/>
            <a:ext cx="640080" cy="640080"/>
          </a:xfrm>
          <a:prstGeom prst="ellipse">
            <a:avLst/>
          </a:prstGeom>
          <a:solidFill>
            <a:srgbClr val="F4F6F8"/>
          </a:solidFill>
          <a:ln w="12700">
            <a:solidFill>
              <a:srgbClr val="E6E9EB"/>
            </a:solidFill>
            <a:prstDash val="solid"/>
          </a:ln>
        </p:spPr>
      </p:sp>
      <p:pic>
        <p:nvPicPr>
          <p:cNvPr id="34" name="Image 5" descr="preencoded.png"/>
          <p:cNvPicPr>
            <a:picLocks noChangeAspect="1"/>
          </p:cNvPicPr>
          <p:nvPr/>
        </p:nvPicPr>
        <p:blipFill>
          <a:blip r:embed="rId8"/>
          <a:stretch>
            <a:fillRect/>
          </a:stretch>
        </p:blipFill>
        <p:spPr>
          <a:xfrm>
            <a:off x="6903720" y="2880360"/>
            <a:ext cx="365760" cy="365760"/>
          </a:xfrm>
          <a:prstGeom prst="rect">
            <a:avLst/>
          </a:prstGeom>
        </p:spPr>
      </p:pic>
      <p:sp>
        <p:nvSpPr>
          <p:cNvPr id="35" name="Text 27"/>
          <p:cNvSpPr/>
          <p:nvPr/>
        </p:nvSpPr>
        <p:spPr>
          <a:xfrm>
            <a:off x="7543800" y="272491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Structured tools &amp; memory</a:t>
            </a:r>
            <a:endParaRPr lang="en-US" sz="1600" dirty="0"/>
          </a:p>
        </p:txBody>
      </p:sp>
      <p:sp>
        <p:nvSpPr>
          <p:cNvPr id="36" name="Text 28"/>
          <p:cNvSpPr/>
          <p:nvPr/>
        </p:nvSpPr>
        <p:spPr>
          <a:xfrm>
            <a:off x="7543800" y="3035808"/>
            <a:ext cx="4572000" cy="59436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Tools, resources, prompts, and session state — all schema-defined.</a:t>
            </a:r>
            <a:endParaRPr lang="en-US" sz="1200" dirty="0"/>
          </a:p>
        </p:txBody>
      </p:sp>
      <p:sp>
        <p:nvSpPr>
          <p:cNvPr id="37" name="Shape 29"/>
          <p:cNvSpPr/>
          <p:nvPr/>
        </p:nvSpPr>
        <p:spPr>
          <a:xfrm>
            <a:off x="6766560" y="3703320"/>
            <a:ext cx="640080" cy="640080"/>
          </a:xfrm>
          <a:prstGeom prst="ellipse">
            <a:avLst/>
          </a:prstGeom>
          <a:solidFill>
            <a:srgbClr val="F4F6F8"/>
          </a:solidFill>
          <a:ln w="12700">
            <a:solidFill>
              <a:srgbClr val="E6E9EB"/>
            </a:solidFill>
            <a:prstDash val="solid"/>
          </a:ln>
        </p:spPr>
      </p:sp>
      <p:pic>
        <p:nvPicPr>
          <p:cNvPr id="38" name="Image 6" descr="preencoded.png"/>
          <p:cNvPicPr>
            <a:picLocks noChangeAspect="1"/>
          </p:cNvPicPr>
          <p:nvPr/>
        </p:nvPicPr>
        <p:blipFill>
          <a:blip r:embed="rId5"/>
          <a:stretch>
            <a:fillRect/>
          </a:stretch>
        </p:blipFill>
        <p:spPr>
          <a:xfrm>
            <a:off x="6903720" y="3840480"/>
            <a:ext cx="365760" cy="365760"/>
          </a:xfrm>
          <a:prstGeom prst="rect">
            <a:avLst/>
          </a:prstGeom>
        </p:spPr>
      </p:pic>
      <p:sp>
        <p:nvSpPr>
          <p:cNvPr id="39" name="Text 30"/>
          <p:cNvSpPr/>
          <p:nvPr/>
        </p:nvSpPr>
        <p:spPr>
          <a:xfrm>
            <a:off x="7543800" y="368503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Real execution environment</a:t>
            </a:r>
            <a:endParaRPr lang="en-US" sz="1600" dirty="0"/>
          </a:p>
        </p:txBody>
      </p:sp>
      <p:sp>
        <p:nvSpPr>
          <p:cNvPr id="40" name="Text 31"/>
          <p:cNvSpPr/>
          <p:nvPr/>
        </p:nvSpPr>
        <p:spPr>
          <a:xfrm>
            <a:off x="7543800" y="3995928"/>
            <a:ext cx="4572000" cy="59436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Heavy logic runs server-side: orchestration, retries, transactions.</a:t>
            </a:r>
            <a:endParaRPr lang="en-US" sz="1200" dirty="0"/>
          </a:p>
        </p:txBody>
      </p:sp>
      <p:sp>
        <p:nvSpPr>
          <p:cNvPr id="41" name="Shape 32"/>
          <p:cNvSpPr/>
          <p:nvPr/>
        </p:nvSpPr>
        <p:spPr>
          <a:xfrm>
            <a:off x="6766560" y="4663440"/>
            <a:ext cx="640080" cy="640080"/>
          </a:xfrm>
          <a:prstGeom prst="ellipse">
            <a:avLst/>
          </a:prstGeom>
          <a:solidFill>
            <a:srgbClr val="F4F6F8"/>
          </a:solidFill>
          <a:ln w="12700">
            <a:solidFill>
              <a:srgbClr val="E6E9EB"/>
            </a:solidFill>
            <a:prstDash val="solid"/>
          </a:ln>
        </p:spPr>
      </p:sp>
      <p:pic>
        <p:nvPicPr>
          <p:cNvPr id="42" name="Image 7" descr="preencoded.png"/>
          <p:cNvPicPr>
            <a:picLocks noChangeAspect="1"/>
          </p:cNvPicPr>
          <p:nvPr/>
        </p:nvPicPr>
        <p:blipFill>
          <a:blip r:embed="rId6"/>
          <a:stretch>
            <a:fillRect/>
          </a:stretch>
        </p:blipFill>
        <p:spPr>
          <a:xfrm>
            <a:off x="6903720" y="4800600"/>
            <a:ext cx="365760" cy="365760"/>
          </a:xfrm>
          <a:prstGeom prst="rect">
            <a:avLst/>
          </a:prstGeom>
        </p:spPr>
      </p:pic>
      <p:sp>
        <p:nvSpPr>
          <p:cNvPr id="43" name="Text 33"/>
          <p:cNvSpPr/>
          <p:nvPr/>
        </p:nvSpPr>
        <p:spPr>
          <a:xfrm>
            <a:off x="7543800" y="4645152"/>
            <a:ext cx="4572000" cy="36576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Persistent &amp; reusable</a:t>
            </a:r>
            <a:endParaRPr lang="en-US" sz="1600" dirty="0"/>
          </a:p>
        </p:txBody>
      </p:sp>
      <p:sp>
        <p:nvSpPr>
          <p:cNvPr id="44" name="Text 34"/>
          <p:cNvSpPr/>
          <p:nvPr/>
        </p:nvSpPr>
        <p:spPr>
          <a:xfrm>
            <a:off x="7543800" y="4956048"/>
            <a:ext cx="4572000" cy="594360"/>
          </a:xfrm>
          <a:prstGeom prst="rect">
            <a:avLst/>
          </a:prstGeom>
          <a:noFill/>
          <a:ln/>
        </p:spPr>
        <p:txBody>
          <a:bodyPr wrap="square" lIns="0" tIns="0" rIns="0" bIns="0" rtlCol="0" anchor="ctr"/>
          <a:lstStyle/>
          <a:p>
            <a:pPr marL="0" indent="0">
              <a:buNone/>
            </a:pPr>
            <a:r>
              <a:rPr lang="en-US" sz="1200" dirty="0">
                <a:solidFill>
                  <a:srgbClr val="5A6066"/>
                </a:solidFill>
                <a:latin typeface="Calibri" pitchFamily="34" charset="0"/>
                <a:ea typeface="Calibri" pitchFamily="34" charset="-122"/>
                <a:cs typeface="Calibri" pitchFamily="34" charset="-120"/>
              </a:rPr>
              <a:t>One server serves many sessions, many models, many products.</a:t>
            </a:r>
            <a:endParaRPr lang="en-US" sz="1200" dirty="0"/>
          </a:p>
        </p:txBody>
      </p:sp>
      <p:sp>
        <p:nvSpPr>
          <p:cNvPr id="45" name="Text 35"/>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04 / 13</a:t>
            </a:r>
            <a:endParaRPr lang="en-US" sz="1000" dirty="0"/>
          </a:p>
        </p:txBody>
      </p:sp>
      <p:sp>
        <p:nvSpPr>
          <p:cNvPr id="46" name="Text 36"/>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ARCHITECTURE COMPARISON</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Architecture at a glance</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457200" y="1691640"/>
            <a:ext cx="5394960" cy="46634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6" name="Shape 4"/>
          <p:cNvSpPr/>
          <p:nvPr/>
        </p:nvSpPr>
        <p:spPr>
          <a:xfrm>
            <a:off x="457200" y="1691640"/>
            <a:ext cx="5394960" cy="502920"/>
          </a:xfrm>
          <a:prstGeom prst="rect">
            <a:avLst/>
          </a:prstGeom>
          <a:solidFill>
            <a:srgbClr val="117ACA"/>
          </a:solidFill>
          <a:ln/>
        </p:spPr>
      </p:sp>
      <p:sp>
        <p:nvSpPr>
          <p:cNvPr id="7" name="Text 5"/>
          <p:cNvSpPr/>
          <p:nvPr/>
        </p:nvSpPr>
        <p:spPr>
          <a:xfrm>
            <a:off x="731520" y="1691640"/>
            <a:ext cx="4846320" cy="50292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skills.md  ·  inline &amp; stateless</a:t>
            </a:r>
            <a:endParaRPr lang="en-US" sz="1400" dirty="0"/>
          </a:p>
        </p:txBody>
      </p:sp>
      <p:sp>
        <p:nvSpPr>
          <p:cNvPr id="8" name="Shape 6"/>
          <p:cNvSpPr/>
          <p:nvPr/>
        </p:nvSpPr>
        <p:spPr>
          <a:xfrm>
            <a:off x="914400" y="2560320"/>
            <a:ext cx="4480560" cy="3337560"/>
          </a:xfrm>
          <a:prstGeom prst="rect">
            <a:avLst/>
          </a:prstGeom>
          <a:solidFill>
            <a:srgbClr val="F4F6F8"/>
          </a:solidFill>
          <a:ln w="12700">
            <a:solidFill>
              <a:srgbClr val="117ACA"/>
            </a:solidFill>
            <a:prstDash val="dash"/>
          </a:ln>
        </p:spPr>
      </p:sp>
      <p:sp>
        <p:nvSpPr>
          <p:cNvPr id="9" name="Text 7"/>
          <p:cNvSpPr/>
          <p:nvPr/>
        </p:nvSpPr>
        <p:spPr>
          <a:xfrm>
            <a:off x="1051560" y="2633472"/>
            <a:ext cx="4206240" cy="274320"/>
          </a:xfrm>
          <a:prstGeom prst="rect">
            <a:avLst/>
          </a:prstGeom>
          <a:noFill/>
          <a:ln/>
        </p:spPr>
        <p:txBody>
          <a:bodyPr wrap="square" lIns="0" tIns="0" rIns="0" bIns="0" rtlCol="0" anchor="ctr"/>
          <a:lstStyle/>
          <a:p>
            <a:pPr marL="0" indent="0">
              <a:buNone/>
            </a:pPr>
            <a:r>
              <a:rPr lang="en-US" sz="1000" i="1" dirty="0">
                <a:solidFill>
                  <a:srgbClr val="5A6066"/>
                </a:solidFill>
                <a:latin typeface="Calibri" pitchFamily="34" charset="0"/>
                <a:ea typeface="Calibri" pitchFamily="34" charset="-122"/>
                <a:cs typeface="Calibri" pitchFamily="34" charset="-120"/>
              </a:rPr>
              <a:t>Prompt Context Window</a:t>
            </a:r>
            <a:endParaRPr lang="en-US" sz="1000" dirty="0"/>
          </a:p>
        </p:txBody>
      </p:sp>
      <p:sp>
        <p:nvSpPr>
          <p:cNvPr id="10" name="Shape 8"/>
          <p:cNvSpPr/>
          <p:nvPr/>
        </p:nvSpPr>
        <p:spPr>
          <a:xfrm>
            <a:off x="1280160" y="3063240"/>
            <a:ext cx="1554480" cy="914400"/>
          </a:xfrm>
          <a:prstGeom prst="rect">
            <a:avLst/>
          </a:prstGeom>
          <a:solidFill>
            <a:srgbClr val="FFFFFF"/>
          </a:solidFill>
          <a:ln w="19050">
            <a:solidFill>
              <a:srgbClr val="117ACA"/>
            </a:solidFill>
            <a:prstDash val="solid"/>
          </a:ln>
        </p:spPr>
      </p:sp>
      <p:sp>
        <p:nvSpPr>
          <p:cNvPr id="11" name="Text 9"/>
          <p:cNvSpPr/>
          <p:nvPr/>
        </p:nvSpPr>
        <p:spPr>
          <a:xfrm>
            <a:off x="1280160" y="3063240"/>
            <a:ext cx="1554480" cy="914400"/>
          </a:xfrm>
          <a:prstGeom prst="rect">
            <a:avLst/>
          </a:prstGeom>
          <a:noFill/>
          <a:ln/>
        </p:spPr>
        <p:txBody>
          <a:bodyPr wrap="square" lIns="0" tIns="0" rIns="0" bIns="0" rtlCol="0" anchor="ctr"/>
          <a:lstStyle/>
          <a:p>
            <a:pPr marL="0" indent="0" algn="ctr">
              <a:buNone/>
            </a:pPr>
            <a:r>
              <a:rPr lang="en-US" sz="1400" b="1" dirty="0">
                <a:solidFill>
                  <a:srgbClr val="211E1E"/>
                </a:solidFill>
                <a:latin typeface="Calibri" pitchFamily="34" charset="0"/>
                <a:ea typeface="Calibri" pitchFamily="34" charset="-122"/>
                <a:cs typeface="Calibri" pitchFamily="34" charset="-120"/>
              </a:rPr>
              <a:t>LLM</a:t>
            </a:r>
            <a:endParaRPr lang="en-US" sz="1400" dirty="0"/>
          </a:p>
        </p:txBody>
      </p:sp>
      <p:sp>
        <p:nvSpPr>
          <p:cNvPr id="12" name="Shape 10"/>
          <p:cNvSpPr/>
          <p:nvPr/>
        </p:nvSpPr>
        <p:spPr>
          <a:xfrm>
            <a:off x="3291840" y="3063240"/>
            <a:ext cx="1737360" cy="914400"/>
          </a:xfrm>
          <a:prstGeom prst="rect">
            <a:avLst/>
          </a:prstGeom>
          <a:solidFill>
            <a:srgbClr val="FFFFFF"/>
          </a:solidFill>
          <a:ln w="19050">
            <a:solidFill>
              <a:srgbClr val="117ACA"/>
            </a:solidFill>
            <a:prstDash val="solid"/>
          </a:ln>
        </p:spPr>
      </p:sp>
      <p:pic>
        <p:nvPicPr>
          <p:cNvPr id="13" name="Image 0" descr="preencoded.png"/>
          <p:cNvPicPr>
            <a:picLocks noChangeAspect="1"/>
          </p:cNvPicPr>
          <p:nvPr/>
        </p:nvPicPr>
        <p:blipFill>
          <a:blip r:embed="rId3"/>
          <a:stretch>
            <a:fillRect/>
          </a:stretch>
        </p:blipFill>
        <p:spPr>
          <a:xfrm>
            <a:off x="3429000" y="3200400"/>
            <a:ext cx="320040" cy="320040"/>
          </a:xfrm>
          <a:prstGeom prst="rect">
            <a:avLst/>
          </a:prstGeom>
        </p:spPr>
      </p:pic>
      <p:sp>
        <p:nvSpPr>
          <p:cNvPr id="14" name="Text 11"/>
          <p:cNvSpPr/>
          <p:nvPr/>
        </p:nvSpPr>
        <p:spPr>
          <a:xfrm>
            <a:off x="3794760" y="3108960"/>
            <a:ext cx="118872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skills.md</a:t>
            </a:r>
            <a:endParaRPr lang="en-US" sz="1300" dirty="0"/>
          </a:p>
        </p:txBody>
      </p:sp>
      <p:sp>
        <p:nvSpPr>
          <p:cNvPr id="15" name="Text 12"/>
          <p:cNvSpPr/>
          <p:nvPr/>
        </p:nvSpPr>
        <p:spPr>
          <a:xfrm>
            <a:off x="3794760" y="3429000"/>
            <a:ext cx="1188720" cy="320040"/>
          </a:xfrm>
          <a:prstGeom prst="rect">
            <a:avLst/>
          </a:prstGeom>
          <a:noFill/>
          <a:ln/>
        </p:spPr>
        <p:txBody>
          <a:bodyPr wrap="square" lIns="0" tIns="0" rIns="0" bIns="0" rtlCol="0" anchor="ctr"/>
          <a:lstStyle/>
          <a:p>
            <a:pPr marL="0" indent="0">
              <a:buNone/>
            </a:pPr>
            <a:r>
              <a:rPr lang="en-US" sz="900" dirty="0">
                <a:solidFill>
                  <a:srgbClr val="5A6066"/>
                </a:solidFill>
                <a:latin typeface="Calibri" pitchFamily="34" charset="0"/>
                <a:ea typeface="Calibri" pitchFamily="34" charset="-122"/>
                <a:cs typeface="Calibri" pitchFamily="34" charset="-120"/>
              </a:rPr>
              <a:t>rules + tool defs</a:t>
            </a:r>
            <a:endParaRPr lang="en-US" sz="900" dirty="0"/>
          </a:p>
        </p:txBody>
      </p:sp>
      <p:sp>
        <p:nvSpPr>
          <p:cNvPr id="16" name="Shape 13"/>
          <p:cNvSpPr/>
          <p:nvPr/>
        </p:nvSpPr>
        <p:spPr>
          <a:xfrm>
            <a:off x="2834640" y="3520440"/>
            <a:ext cx="457200" cy="0"/>
          </a:xfrm>
          <a:prstGeom prst="line">
            <a:avLst/>
          </a:prstGeom>
          <a:noFill/>
          <a:ln w="19050">
            <a:solidFill>
              <a:srgbClr val="117ACA"/>
            </a:solidFill>
            <a:prstDash val="solid"/>
            <a:tailEnd type="triangle"/>
          </a:ln>
        </p:spPr>
      </p:sp>
      <p:sp>
        <p:nvSpPr>
          <p:cNvPr id="17" name="Text 14"/>
          <p:cNvSpPr/>
          <p:nvPr/>
        </p:nvSpPr>
        <p:spPr>
          <a:xfrm>
            <a:off x="1280160" y="5394960"/>
            <a:ext cx="3749040" cy="320040"/>
          </a:xfrm>
          <a:prstGeom prst="rect">
            <a:avLst/>
          </a:prstGeom>
          <a:noFill/>
          <a:ln/>
        </p:spPr>
        <p:txBody>
          <a:bodyPr wrap="square" lIns="0" tIns="0" rIns="0" bIns="0" rtlCol="0" anchor="ctr"/>
          <a:lstStyle/>
          <a:p>
            <a:pPr marL="0" indent="0" algn="ctr">
              <a:buNone/>
            </a:pPr>
            <a:r>
              <a:rPr lang="en-US" sz="1000" i="1" dirty="0">
                <a:solidFill>
                  <a:srgbClr val="5A6066"/>
                </a:solidFill>
                <a:latin typeface="Calibri" pitchFamily="34" charset="0"/>
                <a:ea typeface="Calibri" pitchFamily="34" charset="-122"/>
                <a:cs typeface="Calibri" pitchFamily="34" charset="-120"/>
              </a:rPr>
              <a:t>→ outbound HTTPS only</a:t>
            </a:r>
            <a:endParaRPr lang="en-US" sz="1000" dirty="0"/>
          </a:p>
        </p:txBody>
      </p:sp>
      <p:sp>
        <p:nvSpPr>
          <p:cNvPr id="18" name="Shape 15"/>
          <p:cNvSpPr/>
          <p:nvPr/>
        </p:nvSpPr>
        <p:spPr>
          <a:xfrm>
            <a:off x="822960" y="5852160"/>
            <a:ext cx="1325880" cy="292608"/>
          </a:xfrm>
          <a:prstGeom prst="rect">
            <a:avLst/>
          </a:prstGeom>
          <a:solidFill>
            <a:srgbClr val="117ACA"/>
          </a:solidFill>
          <a:ln/>
        </p:spPr>
      </p:sp>
      <p:sp>
        <p:nvSpPr>
          <p:cNvPr id="19" name="Text 16"/>
          <p:cNvSpPr/>
          <p:nvPr/>
        </p:nvSpPr>
        <p:spPr>
          <a:xfrm>
            <a:off x="822960" y="5852160"/>
            <a:ext cx="13258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INLINE</a:t>
            </a:r>
            <a:endParaRPr lang="en-US" sz="900" dirty="0"/>
          </a:p>
        </p:txBody>
      </p:sp>
      <p:sp>
        <p:nvSpPr>
          <p:cNvPr id="20" name="Shape 17"/>
          <p:cNvSpPr/>
          <p:nvPr/>
        </p:nvSpPr>
        <p:spPr>
          <a:xfrm>
            <a:off x="2240280" y="5852160"/>
            <a:ext cx="1325880" cy="292608"/>
          </a:xfrm>
          <a:prstGeom prst="rect">
            <a:avLst/>
          </a:prstGeom>
          <a:solidFill>
            <a:srgbClr val="292E33"/>
          </a:solidFill>
          <a:ln/>
        </p:spPr>
      </p:sp>
      <p:sp>
        <p:nvSpPr>
          <p:cNvPr id="21" name="Text 18"/>
          <p:cNvSpPr/>
          <p:nvPr/>
        </p:nvSpPr>
        <p:spPr>
          <a:xfrm>
            <a:off x="2240280" y="5852160"/>
            <a:ext cx="13258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STATELESS</a:t>
            </a:r>
            <a:endParaRPr lang="en-US" sz="900" dirty="0"/>
          </a:p>
        </p:txBody>
      </p:sp>
      <p:sp>
        <p:nvSpPr>
          <p:cNvPr id="22" name="Shape 19"/>
          <p:cNvSpPr/>
          <p:nvPr/>
        </p:nvSpPr>
        <p:spPr>
          <a:xfrm>
            <a:off x="3657600" y="5852160"/>
            <a:ext cx="1325880" cy="292608"/>
          </a:xfrm>
          <a:prstGeom prst="rect">
            <a:avLst/>
          </a:prstGeom>
          <a:solidFill>
            <a:srgbClr val="292E33"/>
          </a:solidFill>
          <a:ln/>
        </p:spPr>
      </p:sp>
      <p:sp>
        <p:nvSpPr>
          <p:cNvPr id="23" name="Text 20"/>
          <p:cNvSpPr/>
          <p:nvPr/>
        </p:nvSpPr>
        <p:spPr>
          <a:xfrm>
            <a:off x="3657600" y="5852160"/>
            <a:ext cx="13258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PROMPT-DRIVEN</a:t>
            </a:r>
            <a:endParaRPr lang="en-US" sz="900" dirty="0"/>
          </a:p>
        </p:txBody>
      </p:sp>
      <p:sp>
        <p:nvSpPr>
          <p:cNvPr id="24" name="Shape 21"/>
          <p:cNvSpPr/>
          <p:nvPr/>
        </p:nvSpPr>
        <p:spPr>
          <a:xfrm>
            <a:off x="6309360" y="1691640"/>
            <a:ext cx="5394960" cy="46634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25" name="Shape 22"/>
          <p:cNvSpPr/>
          <p:nvPr/>
        </p:nvSpPr>
        <p:spPr>
          <a:xfrm>
            <a:off x="6309360" y="1691640"/>
            <a:ext cx="5394960" cy="502920"/>
          </a:xfrm>
          <a:prstGeom prst="rect">
            <a:avLst/>
          </a:prstGeom>
          <a:solidFill>
            <a:srgbClr val="1B7F9E"/>
          </a:solidFill>
          <a:ln/>
        </p:spPr>
      </p:sp>
      <p:sp>
        <p:nvSpPr>
          <p:cNvPr id="26" name="Text 23"/>
          <p:cNvSpPr/>
          <p:nvPr/>
        </p:nvSpPr>
        <p:spPr>
          <a:xfrm>
            <a:off x="6583680" y="1691640"/>
            <a:ext cx="4846320" cy="50292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MCP server  ·  external &amp; stateful</a:t>
            </a:r>
            <a:endParaRPr lang="en-US" sz="1400" dirty="0"/>
          </a:p>
        </p:txBody>
      </p:sp>
      <p:sp>
        <p:nvSpPr>
          <p:cNvPr id="27" name="Shape 24"/>
          <p:cNvSpPr/>
          <p:nvPr/>
        </p:nvSpPr>
        <p:spPr>
          <a:xfrm>
            <a:off x="6766560" y="2788920"/>
            <a:ext cx="1463040" cy="914400"/>
          </a:xfrm>
          <a:prstGeom prst="rect">
            <a:avLst/>
          </a:prstGeom>
          <a:solidFill>
            <a:srgbClr val="FFFFFF"/>
          </a:solidFill>
          <a:ln w="19050">
            <a:solidFill>
              <a:srgbClr val="1B7F9E"/>
            </a:solidFill>
            <a:prstDash val="solid"/>
          </a:ln>
        </p:spPr>
      </p:sp>
      <p:sp>
        <p:nvSpPr>
          <p:cNvPr id="28" name="Text 25"/>
          <p:cNvSpPr/>
          <p:nvPr/>
        </p:nvSpPr>
        <p:spPr>
          <a:xfrm>
            <a:off x="6766560" y="2788920"/>
            <a:ext cx="1463040" cy="914400"/>
          </a:xfrm>
          <a:prstGeom prst="rect">
            <a:avLst/>
          </a:prstGeom>
          <a:noFill/>
          <a:ln/>
        </p:spPr>
        <p:txBody>
          <a:bodyPr wrap="square" lIns="0" tIns="0" rIns="0" bIns="0" rtlCol="0" anchor="ctr"/>
          <a:lstStyle/>
          <a:p>
            <a:pPr marL="0" indent="0" algn="ctr">
              <a:buNone/>
            </a:pPr>
            <a:r>
              <a:rPr lang="en-US" sz="1400" b="1" dirty="0">
                <a:solidFill>
                  <a:srgbClr val="211E1E"/>
                </a:solidFill>
                <a:latin typeface="Calibri" pitchFamily="34" charset="0"/>
                <a:ea typeface="Calibri" pitchFamily="34" charset="-122"/>
                <a:cs typeface="Calibri" pitchFamily="34" charset="-120"/>
              </a:rPr>
              <a:t>LLM</a:t>
            </a:r>
            <a:endParaRPr lang="en-US" sz="1400" dirty="0"/>
          </a:p>
        </p:txBody>
      </p:sp>
      <p:sp>
        <p:nvSpPr>
          <p:cNvPr id="29" name="Shape 26"/>
          <p:cNvSpPr/>
          <p:nvPr/>
        </p:nvSpPr>
        <p:spPr>
          <a:xfrm>
            <a:off x="8275320" y="3246120"/>
            <a:ext cx="640080" cy="0"/>
          </a:xfrm>
          <a:prstGeom prst="line">
            <a:avLst/>
          </a:prstGeom>
          <a:noFill/>
          <a:ln w="25400">
            <a:solidFill>
              <a:srgbClr val="1B7F9E"/>
            </a:solidFill>
            <a:prstDash val="solid"/>
            <a:tailEnd type="triangle"/>
          </a:ln>
        </p:spPr>
      </p:sp>
      <p:sp>
        <p:nvSpPr>
          <p:cNvPr id="30" name="Text 27"/>
          <p:cNvSpPr/>
          <p:nvPr/>
        </p:nvSpPr>
        <p:spPr>
          <a:xfrm>
            <a:off x="8138160" y="2834640"/>
            <a:ext cx="914400" cy="274320"/>
          </a:xfrm>
          <a:prstGeom prst="rect">
            <a:avLst/>
          </a:prstGeom>
          <a:noFill/>
          <a:ln/>
        </p:spPr>
        <p:txBody>
          <a:bodyPr wrap="square" lIns="0" tIns="0" rIns="0" bIns="0" rtlCol="0" anchor="ctr"/>
          <a:lstStyle/>
          <a:p>
            <a:pPr marL="0" indent="0" algn="ctr">
              <a:buNone/>
            </a:pPr>
            <a:r>
              <a:rPr lang="en-US" sz="900" b="1" kern="0" spc="200" dirty="0">
                <a:solidFill>
                  <a:srgbClr val="1B7F9E"/>
                </a:solidFill>
                <a:latin typeface="Calibri" pitchFamily="34" charset="0"/>
                <a:ea typeface="Calibri" pitchFamily="34" charset="-122"/>
                <a:cs typeface="Calibri" pitchFamily="34" charset="-120"/>
              </a:rPr>
              <a:t>MCP</a:t>
            </a:r>
            <a:endParaRPr lang="en-US" sz="900" dirty="0"/>
          </a:p>
        </p:txBody>
      </p:sp>
      <p:sp>
        <p:nvSpPr>
          <p:cNvPr id="31" name="Shape 28"/>
          <p:cNvSpPr/>
          <p:nvPr/>
        </p:nvSpPr>
        <p:spPr>
          <a:xfrm>
            <a:off x="9006840" y="2743200"/>
            <a:ext cx="2377440" cy="1005840"/>
          </a:xfrm>
          <a:prstGeom prst="rect">
            <a:avLst/>
          </a:prstGeom>
          <a:solidFill>
            <a:srgbClr val="FFFFFF"/>
          </a:solidFill>
          <a:ln w="19050">
            <a:solidFill>
              <a:srgbClr val="1B7F9E"/>
            </a:solidFill>
            <a:prstDash val="solid"/>
          </a:ln>
        </p:spPr>
      </p:sp>
      <p:pic>
        <p:nvPicPr>
          <p:cNvPr id="32" name="Image 1" descr="preencoded.png"/>
          <p:cNvPicPr>
            <a:picLocks noChangeAspect="1"/>
          </p:cNvPicPr>
          <p:nvPr/>
        </p:nvPicPr>
        <p:blipFill>
          <a:blip r:embed="rId4"/>
          <a:stretch>
            <a:fillRect/>
          </a:stretch>
        </p:blipFill>
        <p:spPr>
          <a:xfrm>
            <a:off x="9144000" y="2834640"/>
            <a:ext cx="365760" cy="365760"/>
          </a:xfrm>
          <a:prstGeom prst="rect">
            <a:avLst/>
          </a:prstGeom>
        </p:spPr>
      </p:pic>
      <p:sp>
        <p:nvSpPr>
          <p:cNvPr id="33" name="Text 29"/>
          <p:cNvSpPr/>
          <p:nvPr/>
        </p:nvSpPr>
        <p:spPr>
          <a:xfrm>
            <a:off x="9555480" y="2788920"/>
            <a:ext cx="1783080" cy="41148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MCP Server</a:t>
            </a:r>
            <a:endParaRPr lang="en-US" sz="1300" dirty="0"/>
          </a:p>
        </p:txBody>
      </p:sp>
      <p:sp>
        <p:nvSpPr>
          <p:cNvPr id="34" name="Text 30"/>
          <p:cNvSpPr/>
          <p:nvPr/>
        </p:nvSpPr>
        <p:spPr>
          <a:xfrm>
            <a:off x="9555480" y="3154680"/>
            <a:ext cx="1783080" cy="36576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tools · session · memory</a:t>
            </a:r>
            <a:endParaRPr lang="en-US" sz="1000" dirty="0"/>
          </a:p>
        </p:txBody>
      </p:sp>
      <p:sp>
        <p:nvSpPr>
          <p:cNvPr id="35" name="Shape 31"/>
          <p:cNvSpPr/>
          <p:nvPr/>
        </p:nvSpPr>
        <p:spPr>
          <a:xfrm>
            <a:off x="9006840" y="4206240"/>
            <a:ext cx="868680" cy="548640"/>
          </a:xfrm>
          <a:prstGeom prst="rect">
            <a:avLst/>
          </a:prstGeom>
          <a:solidFill>
            <a:srgbClr val="F4F6F8"/>
          </a:solidFill>
          <a:ln w="12700">
            <a:solidFill>
              <a:srgbClr val="E6E9EB"/>
            </a:solidFill>
            <a:prstDash val="solid"/>
          </a:ln>
        </p:spPr>
      </p:sp>
      <p:pic>
        <p:nvPicPr>
          <p:cNvPr id="36" name="Image 2" descr="preencoded.png"/>
          <p:cNvPicPr>
            <a:picLocks noChangeAspect="1"/>
          </p:cNvPicPr>
          <p:nvPr/>
        </p:nvPicPr>
        <p:blipFill>
          <a:blip r:embed="rId5"/>
          <a:stretch>
            <a:fillRect/>
          </a:stretch>
        </p:blipFill>
        <p:spPr>
          <a:xfrm>
            <a:off x="9098280" y="4325112"/>
            <a:ext cx="292608" cy="292608"/>
          </a:xfrm>
          <a:prstGeom prst="rect">
            <a:avLst/>
          </a:prstGeom>
        </p:spPr>
      </p:pic>
      <p:sp>
        <p:nvSpPr>
          <p:cNvPr id="37" name="Text 32"/>
          <p:cNvSpPr/>
          <p:nvPr/>
        </p:nvSpPr>
        <p:spPr>
          <a:xfrm>
            <a:off x="9390888" y="4206240"/>
            <a:ext cx="457200" cy="54864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API</a:t>
            </a:r>
            <a:endParaRPr lang="en-US" sz="1000" dirty="0"/>
          </a:p>
        </p:txBody>
      </p:sp>
      <p:sp>
        <p:nvSpPr>
          <p:cNvPr id="38" name="Shape 33"/>
          <p:cNvSpPr/>
          <p:nvPr/>
        </p:nvSpPr>
        <p:spPr>
          <a:xfrm>
            <a:off x="9418320" y="3794760"/>
            <a:ext cx="0" cy="365760"/>
          </a:xfrm>
          <a:prstGeom prst="line">
            <a:avLst/>
          </a:prstGeom>
          <a:noFill/>
          <a:ln w="12700">
            <a:solidFill>
              <a:srgbClr val="5BA8BF"/>
            </a:solidFill>
            <a:prstDash val="solid"/>
          </a:ln>
        </p:spPr>
      </p:sp>
      <p:sp>
        <p:nvSpPr>
          <p:cNvPr id="39" name="Shape 34"/>
          <p:cNvSpPr/>
          <p:nvPr/>
        </p:nvSpPr>
        <p:spPr>
          <a:xfrm>
            <a:off x="9966960" y="4206240"/>
            <a:ext cx="868680" cy="548640"/>
          </a:xfrm>
          <a:prstGeom prst="rect">
            <a:avLst/>
          </a:prstGeom>
          <a:solidFill>
            <a:srgbClr val="F4F6F8"/>
          </a:solidFill>
          <a:ln w="12700">
            <a:solidFill>
              <a:srgbClr val="E6E9EB"/>
            </a:solidFill>
            <a:prstDash val="solid"/>
          </a:ln>
        </p:spPr>
      </p:sp>
      <p:pic>
        <p:nvPicPr>
          <p:cNvPr id="40" name="Image 3" descr="preencoded.png"/>
          <p:cNvPicPr>
            <a:picLocks noChangeAspect="1"/>
          </p:cNvPicPr>
          <p:nvPr/>
        </p:nvPicPr>
        <p:blipFill>
          <a:blip r:embed="rId6"/>
          <a:stretch>
            <a:fillRect/>
          </a:stretch>
        </p:blipFill>
        <p:spPr>
          <a:xfrm>
            <a:off x="10058400" y="4325112"/>
            <a:ext cx="292608" cy="292608"/>
          </a:xfrm>
          <a:prstGeom prst="rect">
            <a:avLst/>
          </a:prstGeom>
        </p:spPr>
      </p:pic>
      <p:sp>
        <p:nvSpPr>
          <p:cNvPr id="41" name="Text 35"/>
          <p:cNvSpPr/>
          <p:nvPr/>
        </p:nvSpPr>
        <p:spPr>
          <a:xfrm>
            <a:off x="10351008" y="4206240"/>
            <a:ext cx="457200" cy="54864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DB</a:t>
            </a:r>
            <a:endParaRPr lang="en-US" sz="1000" dirty="0"/>
          </a:p>
        </p:txBody>
      </p:sp>
      <p:sp>
        <p:nvSpPr>
          <p:cNvPr id="42" name="Shape 36"/>
          <p:cNvSpPr/>
          <p:nvPr/>
        </p:nvSpPr>
        <p:spPr>
          <a:xfrm>
            <a:off x="10378440" y="3794760"/>
            <a:ext cx="0" cy="365760"/>
          </a:xfrm>
          <a:prstGeom prst="line">
            <a:avLst/>
          </a:prstGeom>
          <a:noFill/>
          <a:ln w="12700">
            <a:solidFill>
              <a:srgbClr val="5BA8BF"/>
            </a:solidFill>
            <a:prstDash val="solid"/>
          </a:ln>
        </p:spPr>
      </p:sp>
      <p:sp>
        <p:nvSpPr>
          <p:cNvPr id="43" name="Shape 37"/>
          <p:cNvSpPr/>
          <p:nvPr/>
        </p:nvSpPr>
        <p:spPr>
          <a:xfrm>
            <a:off x="10927080" y="4206240"/>
            <a:ext cx="868680" cy="548640"/>
          </a:xfrm>
          <a:prstGeom prst="rect">
            <a:avLst/>
          </a:prstGeom>
          <a:solidFill>
            <a:srgbClr val="F4F6F8"/>
          </a:solidFill>
          <a:ln w="12700">
            <a:solidFill>
              <a:srgbClr val="E6E9EB"/>
            </a:solidFill>
            <a:prstDash val="solid"/>
          </a:ln>
        </p:spPr>
      </p:sp>
      <p:pic>
        <p:nvPicPr>
          <p:cNvPr id="44" name="Image 4" descr="preencoded.png"/>
          <p:cNvPicPr>
            <a:picLocks noChangeAspect="1"/>
          </p:cNvPicPr>
          <p:nvPr/>
        </p:nvPicPr>
        <p:blipFill>
          <a:blip r:embed="rId7"/>
          <a:stretch>
            <a:fillRect/>
          </a:stretch>
        </p:blipFill>
        <p:spPr>
          <a:xfrm>
            <a:off x="11018520" y="4325112"/>
            <a:ext cx="292608" cy="292608"/>
          </a:xfrm>
          <a:prstGeom prst="rect">
            <a:avLst/>
          </a:prstGeom>
        </p:spPr>
      </p:pic>
      <p:sp>
        <p:nvSpPr>
          <p:cNvPr id="45" name="Text 38"/>
          <p:cNvSpPr/>
          <p:nvPr/>
        </p:nvSpPr>
        <p:spPr>
          <a:xfrm>
            <a:off x="11311128" y="4206240"/>
            <a:ext cx="457200" cy="548640"/>
          </a:xfrm>
          <a:prstGeom prst="rect">
            <a:avLst/>
          </a:prstGeom>
          <a:noFill/>
          <a:ln/>
        </p:spPr>
        <p:txBody>
          <a:bodyPr wrap="square" lIns="0" tIns="0" rIns="0" bIns="0" rtlCol="0" anchor="ctr"/>
          <a:lstStyle/>
          <a:p>
            <a:pPr marL="0" indent="0">
              <a:buNone/>
            </a:pPr>
            <a:r>
              <a:rPr lang="en-US" sz="1000" dirty="0">
                <a:solidFill>
                  <a:srgbClr val="211E1E"/>
                </a:solidFill>
                <a:latin typeface="Calibri" pitchFamily="34" charset="0"/>
                <a:ea typeface="Calibri" pitchFamily="34" charset="-122"/>
                <a:cs typeface="Calibri" pitchFamily="34" charset="-120"/>
              </a:rPr>
              <a:t>Jobs</a:t>
            </a:r>
            <a:endParaRPr lang="en-US" sz="1000" dirty="0"/>
          </a:p>
        </p:txBody>
      </p:sp>
      <p:sp>
        <p:nvSpPr>
          <p:cNvPr id="46" name="Shape 39"/>
          <p:cNvSpPr/>
          <p:nvPr/>
        </p:nvSpPr>
        <p:spPr>
          <a:xfrm>
            <a:off x="11338560" y="3794760"/>
            <a:ext cx="0" cy="365760"/>
          </a:xfrm>
          <a:prstGeom prst="line">
            <a:avLst/>
          </a:prstGeom>
          <a:noFill/>
          <a:ln w="12700">
            <a:solidFill>
              <a:srgbClr val="5BA8BF"/>
            </a:solidFill>
            <a:prstDash val="solid"/>
          </a:ln>
        </p:spPr>
      </p:sp>
      <p:sp>
        <p:nvSpPr>
          <p:cNvPr id="47" name="Shape 40"/>
          <p:cNvSpPr/>
          <p:nvPr/>
        </p:nvSpPr>
        <p:spPr>
          <a:xfrm>
            <a:off x="6675120" y="5852160"/>
            <a:ext cx="1325880" cy="292608"/>
          </a:xfrm>
          <a:prstGeom prst="rect">
            <a:avLst/>
          </a:prstGeom>
          <a:solidFill>
            <a:srgbClr val="1B7F9E"/>
          </a:solidFill>
          <a:ln/>
        </p:spPr>
      </p:sp>
      <p:sp>
        <p:nvSpPr>
          <p:cNvPr id="48" name="Text 41"/>
          <p:cNvSpPr/>
          <p:nvPr/>
        </p:nvSpPr>
        <p:spPr>
          <a:xfrm>
            <a:off x="6675120" y="5852160"/>
            <a:ext cx="13258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EXTERNAL</a:t>
            </a:r>
            <a:endParaRPr lang="en-US" sz="900" dirty="0"/>
          </a:p>
        </p:txBody>
      </p:sp>
      <p:sp>
        <p:nvSpPr>
          <p:cNvPr id="49" name="Shape 42"/>
          <p:cNvSpPr/>
          <p:nvPr/>
        </p:nvSpPr>
        <p:spPr>
          <a:xfrm>
            <a:off x="8092440" y="5852160"/>
            <a:ext cx="1325880" cy="292608"/>
          </a:xfrm>
          <a:prstGeom prst="rect">
            <a:avLst/>
          </a:prstGeom>
          <a:solidFill>
            <a:srgbClr val="292E33"/>
          </a:solidFill>
          <a:ln/>
        </p:spPr>
      </p:sp>
      <p:sp>
        <p:nvSpPr>
          <p:cNvPr id="50" name="Text 43"/>
          <p:cNvSpPr/>
          <p:nvPr/>
        </p:nvSpPr>
        <p:spPr>
          <a:xfrm>
            <a:off x="8092440" y="5852160"/>
            <a:ext cx="13258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STATEFUL</a:t>
            </a:r>
            <a:endParaRPr lang="en-US" sz="900" dirty="0"/>
          </a:p>
        </p:txBody>
      </p:sp>
      <p:sp>
        <p:nvSpPr>
          <p:cNvPr id="51" name="Shape 44"/>
          <p:cNvSpPr/>
          <p:nvPr/>
        </p:nvSpPr>
        <p:spPr>
          <a:xfrm>
            <a:off x="9509760" y="5852160"/>
            <a:ext cx="1325880" cy="292608"/>
          </a:xfrm>
          <a:prstGeom prst="rect">
            <a:avLst/>
          </a:prstGeom>
          <a:solidFill>
            <a:srgbClr val="292E33"/>
          </a:solidFill>
          <a:ln/>
        </p:spPr>
      </p:sp>
      <p:sp>
        <p:nvSpPr>
          <p:cNvPr id="52" name="Text 45"/>
          <p:cNvSpPr/>
          <p:nvPr/>
        </p:nvSpPr>
        <p:spPr>
          <a:xfrm>
            <a:off x="9509760" y="5852160"/>
            <a:ext cx="132588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TOOL-BASED</a:t>
            </a:r>
            <a:endParaRPr lang="en-US" sz="900" dirty="0"/>
          </a:p>
        </p:txBody>
      </p:sp>
      <p:sp>
        <p:nvSpPr>
          <p:cNvPr id="53" name="Text 46"/>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05 / 13</a:t>
            </a:r>
            <a:endParaRPr lang="en-US" sz="1000" dirty="0"/>
          </a:p>
        </p:txBody>
      </p:sp>
      <p:sp>
        <p:nvSpPr>
          <p:cNvPr id="54" name="Text 47"/>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API INTEGRATION</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How each handles APIs</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457200" y="1691640"/>
            <a:ext cx="5440680" cy="46634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6" name="Shape 4"/>
          <p:cNvSpPr/>
          <p:nvPr/>
        </p:nvSpPr>
        <p:spPr>
          <a:xfrm>
            <a:off x="457200" y="1691640"/>
            <a:ext cx="109728" cy="4663440"/>
          </a:xfrm>
          <a:prstGeom prst="rect">
            <a:avLst/>
          </a:prstGeom>
          <a:solidFill>
            <a:srgbClr val="117ACA"/>
          </a:solidFill>
          <a:ln/>
        </p:spPr>
      </p:sp>
      <p:pic>
        <p:nvPicPr>
          <p:cNvPr id="7" name="Image 0" descr="preencoded.png"/>
          <p:cNvPicPr>
            <a:picLocks noChangeAspect="1"/>
          </p:cNvPicPr>
          <p:nvPr/>
        </p:nvPicPr>
        <p:blipFill>
          <a:blip r:embed="rId3"/>
          <a:stretch>
            <a:fillRect/>
          </a:stretch>
        </p:blipFill>
        <p:spPr>
          <a:xfrm>
            <a:off x="822960" y="2011680"/>
            <a:ext cx="457200" cy="457200"/>
          </a:xfrm>
          <a:prstGeom prst="rect">
            <a:avLst/>
          </a:prstGeom>
        </p:spPr>
      </p:pic>
      <p:sp>
        <p:nvSpPr>
          <p:cNvPr id="8" name="Text 5"/>
          <p:cNvSpPr/>
          <p:nvPr/>
        </p:nvSpPr>
        <p:spPr>
          <a:xfrm>
            <a:off x="1417320" y="1965960"/>
            <a:ext cx="4251960" cy="548640"/>
          </a:xfrm>
          <a:prstGeom prst="rect">
            <a:avLst/>
          </a:prstGeom>
          <a:noFill/>
          <a:ln/>
        </p:spPr>
        <p:txBody>
          <a:bodyPr wrap="square" lIns="0" tIns="0" rIns="0" bIns="0" rtlCol="0" anchor="ctr"/>
          <a:lstStyle/>
          <a:p>
            <a:pPr marL="0" indent="0">
              <a:buNone/>
            </a:pPr>
            <a:r>
              <a:rPr lang="en-US" sz="2000" b="1" dirty="0">
                <a:solidFill>
                  <a:srgbClr val="211E1E"/>
                </a:solidFill>
                <a:latin typeface="Georgia" pitchFamily="34" charset="0"/>
                <a:ea typeface="Georgia" pitchFamily="34" charset="-122"/>
                <a:cs typeface="Georgia" pitchFamily="34" charset="-120"/>
              </a:rPr>
              <a:t>skills.md</a:t>
            </a:r>
            <a:endParaRPr lang="en-US" sz="2000" dirty="0"/>
          </a:p>
        </p:txBody>
      </p:sp>
      <p:sp>
        <p:nvSpPr>
          <p:cNvPr id="9" name="Shape 6"/>
          <p:cNvSpPr/>
          <p:nvPr/>
        </p:nvSpPr>
        <p:spPr>
          <a:xfrm>
            <a:off x="868680" y="2971800"/>
            <a:ext cx="274320" cy="274320"/>
          </a:xfrm>
          <a:prstGeom prst="ellipse">
            <a:avLst/>
          </a:prstGeom>
          <a:solidFill>
            <a:srgbClr val="117ACA"/>
          </a:solidFill>
          <a:ln/>
        </p:spPr>
      </p:sp>
      <p:sp>
        <p:nvSpPr>
          <p:cNvPr id="10" name="Text 7"/>
          <p:cNvSpPr/>
          <p:nvPr/>
        </p:nvSpPr>
        <p:spPr>
          <a:xfrm>
            <a:off x="868680" y="29718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80160" y="2926080"/>
            <a:ext cx="443484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REST over HTTPS</a:t>
            </a:r>
            <a:endParaRPr lang="en-US" sz="1400" dirty="0"/>
          </a:p>
        </p:txBody>
      </p:sp>
      <p:sp>
        <p:nvSpPr>
          <p:cNvPr id="12" name="Text 9"/>
          <p:cNvSpPr/>
          <p:nvPr/>
        </p:nvSpPr>
        <p:spPr>
          <a:xfrm>
            <a:off x="1280160" y="3273552"/>
            <a:ext cx="4434840" cy="548640"/>
          </a:xfrm>
          <a:prstGeom prst="rect">
            <a:avLst/>
          </a:prstGeom>
          <a:noFill/>
          <a:ln/>
        </p:spPr>
        <p:txBody>
          <a:bodyPr wrap="square" lIns="0" tIns="0" rIns="0" bIns="0" rtlCol="0" anchor="ctr"/>
          <a:lstStyle/>
          <a:p>
            <a:pPr marL="0" indent="0">
              <a:buNone/>
            </a:pPr>
            <a:r>
              <a:rPr lang="en-US" sz="1100" dirty="0">
                <a:solidFill>
                  <a:srgbClr val="5A6066"/>
                </a:solidFill>
                <a:latin typeface="Calibri" pitchFamily="34" charset="0"/>
                <a:ea typeface="Calibri" pitchFamily="34" charset="-122"/>
                <a:cs typeface="Calibri" pitchFamily="34" charset="-120"/>
              </a:rPr>
              <a:t>Tools defined in markdown can issue direct HTTPS calls.</a:t>
            </a:r>
            <a:endParaRPr lang="en-US" sz="1100" dirty="0"/>
          </a:p>
        </p:txBody>
      </p:sp>
      <p:sp>
        <p:nvSpPr>
          <p:cNvPr id="13" name="Shape 10"/>
          <p:cNvSpPr/>
          <p:nvPr/>
        </p:nvSpPr>
        <p:spPr>
          <a:xfrm>
            <a:off x="868680" y="3931920"/>
            <a:ext cx="274320" cy="274320"/>
          </a:xfrm>
          <a:prstGeom prst="ellipse">
            <a:avLst/>
          </a:prstGeom>
          <a:solidFill>
            <a:srgbClr val="117ACA"/>
          </a:solidFill>
          <a:ln/>
        </p:spPr>
      </p:sp>
      <p:sp>
        <p:nvSpPr>
          <p:cNvPr id="14" name="Text 11"/>
          <p:cNvSpPr/>
          <p:nvPr/>
        </p:nvSpPr>
        <p:spPr>
          <a:xfrm>
            <a:off x="868680" y="39319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1280160" y="3886200"/>
            <a:ext cx="443484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Schema in the prompt</a:t>
            </a:r>
            <a:endParaRPr lang="en-US" sz="1400" dirty="0"/>
          </a:p>
        </p:txBody>
      </p:sp>
      <p:sp>
        <p:nvSpPr>
          <p:cNvPr id="16" name="Text 13"/>
          <p:cNvSpPr/>
          <p:nvPr/>
        </p:nvSpPr>
        <p:spPr>
          <a:xfrm>
            <a:off x="1280160" y="4233672"/>
            <a:ext cx="4434840" cy="548640"/>
          </a:xfrm>
          <a:prstGeom prst="rect">
            <a:avLst/>
          </a:prstGeom>
          <a:noFill/>
          <a:ln/>
        </p:spPr>
        <p:txBody>
          <a:bodyPr wrap="square" lIns="0" tIns="0" rIns="0" bIns="0" rtlCol="0" anchor="ctr"/>
          <a:lstStyle/>
          <a:p>
            <a:pPr marL="0" indent="0">
              <a:buNone/>
            </a:pPr>
            <a:r>
              <a:rPr lang="en-US" sz="1100" dirty="0">
                <a:solidFill>
                  <a:srgbClr val="5A6066"/>
                </a:solidFill>
                <a:latin typeface="Calibri" pitchFamily="34" charset="0"/>
                <a:ea typeface="Calibri" pitchFamily="34" charset="-122"/>
                <a:cs typeface="Calibri" pitchFamily="34" charset="-120"/>
              </a:rPr>
              <a:t>Endpoint, method, and parameters declared in the file itself.</a:t>
            </a:r>
            <a:endParaRPr lang="en-US" sz="1100" dirty="0"/>
          </a:p>
        </p:txBody>
      </p:sp>
      <p:sp>
        <p:nvSpPr>
          <p:cNvPr id="17" name="Shape 14"/>
          <p:cNvSpPr/>
          <p:nvPr/>
        </p:nvSpPr>
        <p:spPr>
          <a:xfrm>
            <a:off x="868680" y="4892040"/>
            <a:ext cx="274320" cy="274320"/>
          </a:xfrm>
          <a:prstGeom prst="ellipse">
            <a:avLst/>
          </a:prstGeom>
          <a:solidFill>
            <a:srgbClr val="117ACA"/>
          </a:solidFill>
          <a:ln/>
        </p:spPr>
      </p:sp>
      <p:sp>
        <p:nvSpPr>
          <p:cNvPr id="18" name="Text 15"/>
          <p:cNvSpPr/>
          <p:nvPr/>
        </p:nvSpPr>
        <p:spPr>
          <a:xfrm>
            <a:off x="868680" y="48920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1280160" y="4846320"/>
            <a:ext cx="443484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Best for simple cases</a:t>
            </a:r>
            <a:endParaRPr lang="en-US" sz="1400" dirty="0"/>
          </a:p>
        </p:txBody>
      </p:sp>
      <p:sp>
        <p:nvSpPr>
          <p:cNvPr id="20" name="Text 17"/>
          <p:cNvSpPr/>
          <p:nvPr/>
        </p:nvSpPr>
        <p:spPr>
          <a:xfrm>
            <a:off x="1280160" y="5193792"/>
            <a:ext cx="4434840" cy="548640"/>
          </a:xfrm>
          <a:prstGeom prst="rect">
            <a:avLst/>
          </a:prstGeom>
          <a:noFill/>
          <a:ln/>
        </p:spPr>
        <p:txBody>
          <a:bodyPr wrap="square" lIns="0" tIns="0" rIns="0" bIns="0" rtlCol="0" anchor="ctr"/>
          <a:lstStyle/>
          <a:p>
            <a:pPr marL="0" indent="0">
              <a:buNone/>
            </a:pPr>
            <a:r>
              <a:rPr lang="en-US" sz="1100" dirty="0">
                <a:solidFill>
                  <a:srgbClr val="5A6066"/>
                </a:solidFill>
                <a:latin typeface="Calibri" pitchFamily="34" charset="0"/>
                <a:ea typeface="Calibri" pitchFamily="34" charset="-122"/>
                <a:cs typeface="Calibri" pitchFamily="34" charset="-120"/>
              </a:rPr>
              <a:t>One or two endpoints, request/response, no orchestration needed.</a:t>
            </a:r>
            <a:endParaRPr lang="en-US" sz="1100" dirty="0"/>
          </a:p>
        </p:txBody>
      </p:sp>
      <p:sp>
        <p:nvSpPr>
          <p:cNvPr id="21" name="Shape 18"/>
          <p:cNvSpPr/>
          <p:nvPr/>
        </p:nvSpPr>
        <p:spPr>
          <a:xfrm>
            <a:off x="6263640" y="1691640"/>
            <a:ext cx="5440680" cy="466344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22" name="Shape 19"/>
          <p:cNvSpPr/>
          <p:nvPr/>
        </p:nvSpPr>
        <p:spPr>
          <a:xfrm>
            <a:off x="6263640" y="1691640"/>
            <a:ext cx="109728" cy="4663440"/>
          </a:xfrm>
          <a:prstGeom prst="rect">
            <a:avLst/>
          </a:prstGeom>
          <a:solidFill>
            <a:srgbClr val="1B7F9E"/>
          </a:solidFill>
          <a:ln/>
        </p:spPr>
      </p:sp>
      <p:pic>
        <p:nvPicPr>
          <p:cNvPr id="23" name="Image 1" descr="preencoded.png"/>
          <p:cNvPicPr>
            <a:picLocks noChangeAspect="1"/>
          </p:cNvPicPr>
          <p:nvPr/>
        </p:nvPicPr>
        <p:blipFill>
          <a:blip r:embed="rId4"/>
          <a:stretch>
            <a:fillRect/>
          </a:stretch>
        </p:blipFill>
        <p:spPr>
          <a:xfrm>
            <a:off x="6629400" y="2011680"/>
            <a:ext cx="457200" cy="457200"/>
          </a:xfrm>
          <a:prstGeom prst="rect">
            <a:avLst/>
          </a:prstGeom>
        </p:spPr>
      </p:pic>
      <p:sp>
        <p:nvSpPr>
          <p:cNvPr id="24" name="Text 20"/>
          <p:cNvSpPr/>
          <p:nvPr/>
        </p:nvSpPr>
        <p:spPr>
          <a:xfrm>
            <a:off x="7223760" y="1965960"/>
            <a:ext cx="4251960" cy="548640"/>
          </a:xfrm>
          <a:prstGeom prst="rect">
            <a:avLst/>
          </a:prstGeom>
          <a:noFill/>
          <a:ln/>
        </p:spPr>
        <p:txBody>
          <a:bodyPr wrap="square" lIns="0" tIns="0" rIns="0" bIns="0" rtlCol="0" anchor="ctr"/>
          <a:lstStyle/>
          <a:p>
            <a:pPr marL="0" indent="0">
              <a:buNone/>
            </a:pPr>
            <a:r>
              <a:rPr lang="en-US" sz="2000" b="1" dirty="0">
                <a:solidFill>
                  <a:srgbClr val="211E1E"/>
                </a:solidFill>
                <a:latin typeface="Georgia" pitchFamily="34" charset="0"/>
                <a:ea typeface="Georgia" pitchFamily="34" charset="-122"/>
                <a:cs typeface="Georgia" pitchFamily="34" charset="-120"/>
              </a:rPr>
              <a:t>MCP servers</a:t>
            </a:r>
            <a:endParaRPr lang="en-US" sz="2000" dirty="0"/>
          </a:p>
        </p:txBody>
      </p:sp>
      <p:sp>
        <p:nvSpPr>
          <p:cNvPr id="25" name="Shape 21"/>
          <p:cNvSpPr/>
          <p:nvPr/>
        </p:nvSpPr>
        <p:spPr>
          <a:xfrm>
            <a:off x="6675120" y="2971800"/>
            <a:ext cx="274320" cy="274320"/>
          </a:xfrm>
          <a:prstGeom prst="ellipse">
            <a:avLst/>
          </a:prstGeom>
          <a:solidFill>
            <a:srgbClr val="1B7F9E"/>
          </a:solidFill>
          <a:ln/>
        </p:spPr>
      </p:sp>
      <p:sp>
        <p:nvSpPr>
          <p:cNvPr id="26" name="Text 22"/>
          <p:cNvSpPr/>
          <p:nvPr/>
        </p:nvSpPr>
        <p:spPr>
          <a:xfrm>
            <a:off x="6675120" y="29718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7" name="Text 23"/>
          <p:cNvSpPr/>
          <p:nvPr/>
        </p:nvSpPr>
        <p:spPr>
          <a:xfrm>
            <a:off x="7086600" y="2926080"/>
            <a:ext cx="443484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Full backend capabilities</a:t>
            </a:r>
            <a:endParaRPr lang="en-US" sz="1400" dirty="0"/>
          </a:p>
        </p:txBody>
      </p:sp>
      <p:sp>
        <p:nvSpPr>
          <p:cNvPr id="28" name="Text 24"/>
          <p:cNvSpPr/>
          <p:nvPr/>
        </p:nvSpPr>
        <p:spPr>
          <a:xfrm>
            <a:off x="7086600" y="3273552"/>
            <a:ext cx="4434840" cy="548640"/>
          </a:xfrm>
          <a:prstGeom prst="rect">
            <a:avLst/>
          </a:prstGeom>
          <a:noFill/>
          <a:ln/>
        </p:spPr>
        <p:txBody>
          <a:bodyPr wrap="square" lIns="0" tIns="0" rIns="0" bIns="0" rtlCol="0" anchor="ctr"/>
          <a:lstStyle/>
          <a:p>
            <a:pPr marL="0" indent="0">
              <a:buNone/>
            </a:pPr>
            <a:r>
              <a:rPr lang="en-US" sz="1100" dirty="0">
                <a:solidFill>
                  <a:srgbClr val="5A6066"/>
                </a:solidFill>
                <a:latin typeface="Calibri" pitchFamily="34" charset="0"/>
                <a:ea typeface="Calibri" pitchFamily="34" charset="-122"/>
                <a:cs typeface="Calibri" pitchFamily="34" charset="-120"/>
              </a:rPr>
              <a:t>Code, libraries, secrets, schedulers — anything a server can do.</a:t>
            </a:r>
            <a:endParaRPr lang="en-US" sz="1100" dirty="0"/>
          </a:p>
        </p:txBody>
      </p:sp>
      <p:sp>
        <p:nvSpPr>
          <p:cNvPr id="29" name="Shape 25"/>
          <p:cNvSpPr/>
          <p:nvPr/>
        </p:nvSpPr>
        <p:spPr>
          <a:xfrm>
            <a:off x="6675120" y="3931920"/>
            <a:ext cx="274320" cy="274320"/>
          </a:xfrm>
          <a:prstGeom prst="ellipse">
            <a:avLst/>
          </a:prstGeom>
          <a:solidFill>
            <a:srgbClr val="1B7F9E"/>
          </a:solidFill>
          <a:ln/>
        </p:spPr>
      </p:sp>
      <p:sp>
        <p:nvSpPr>
          <p:cNvPr id="30" name="Text 26"/>
          <p:cNvSpPr/>
          <p:nvPr/>
        </p:nvSpPr>
        <p:spPr>
          <a:xfrm>
            <a:off x="6675120" y="393192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7"/>
          <p:cNvSpPr/>
          <p:nvPr/>
        </p:nvSpPr>
        <p:spPr>
          <a:xfrm>
            <a:off x="7086600" y="3886200"/>
            <a:ext cx="443484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Multi-API orchestration</a:t>
            </a:r>
            <a:endParaRPr lang="en-US" sz="1400" dirty="0"/>
          </a:p>
        </p:txBody>
      </p:sp>
      <p:sp>
        <p:nvSpPr>
          <p:cNvPr id="32" name="Text 28"/>
          <p:cNvSpPr/>
          <p:nvPr/>
        </p:nvSpPr>
        <p:spPr>
          <a:xfrm>
            <a:off x="7086600" y="4233672"/>
            <a:ext cx="4434840" cy="548640"/>
          </a:xfrm>
          <a:prstGeom prst="rect">
            <a:avLst/>
          </a:prstGeom>
          <a:noFill/>
          <a:ln/>
        </p:spPr>
        <p:txBody>
          <a:bodyPr wrap="square" lIns="0" tIns="0" rIns="0" bIns="0" rtlCol="0" anchor="ctr"/>
          <a:lstStyle/>
          <a:p>
            <a:pPr marL="0" indent="0">
              <a:buNone/>
            </a:pPr>
            <a:r>
              <a:rPr lang="en-US" sz="1100" dirty="0">
                <a:solidFill>
                  <a:srgbClr val="5A6066"/>
                </a:solidFill>
                <a:latin typeface="Calibri" pitchFamily="34" charset="0"/>
                <a:ea typeface="Calibri" pitchFamily="34" charset="-122"/>
                <a:cs typeface="Calibri" pitchFamily="34" charset="-120"/>
              </a:rPr>
              <a:t>Compose APIs, databases, queues, and workflows behind a single tool.</a:t>
            </a:r>
            <a:endParaRPr lang="en-US" sz="1100" dirty="0"/>
          </a:p>
        </p:txBody>
      </p:sp>
      <p:sp>
        <p:nvSpPr>
          <p:cNvPr id="33" name="Shape 29"/>
          <p:cNvSpPr/>
          <p:nvPr/>
        </p:nvSpPr>
        <p:spPr>
          <a:xfrm>
            <a:off x="6675120" y="4892040"/>
            <a:ext cx="274320" cy="274320"/>
          </a:xfrm>
          <a:prstGeom prst="ellipse">
            <a:avLst/>
          </a:prstGeom>
          <a:solidFill>
            <a:srgbClr val="1B7F9E"/>
          </a:solidFill>
          <a:ln/>
        </p:spPr>
      </p:sp>
      <p:sp>
        <p:nvSpPr>
          <p:cNvPr id="34" name="Text 30"/>
          <p:cNvSpPr/>
          <p:nvPr/>
        </p:nvSpPr>
        <p:spPr>
          <a:xfrm>
            <a:off x="6675120" y="489204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5" name="Text 31"/>
          <p:cNvSpPr/>
          <p:nvPr/>
        </p:nvSpPr>
        <p:spPr>
          <a:xfrm>
            <a:off x="7086600" y="4846320"/>
            <a:ext cx="443484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Built for complex systems</a:t>
            </a:r>
            <a:endParaRPr lang="en-US" sz="1400" dirty="0"/>
          </a:p>
        </p:txBody>
      </p:sp>
      <p:sp>
        <p:nvSpPr>
          <p:cNvPr id="36" name="Text 32"/>
          <p:cNvSpPr/>
          <p:nvPr/>
        </p:nvSpPr>
        <p:spPr>
          <a:xfrm>
            <a:off x="7086600" y="5193792"/>
            <a:ext cx="4434840" cy="548640"/>
          </a:xfrm>
          <a:prstGeom prst="rect">
            <a:avLst/>
          </a:prstGeom>
          <a:noFill/>
          <a:ln/>
        </p:spPr>
        <p:txBody>
          <a:bodyPr wrap="square" lIns="0" tIns="0" rIns="0" bIns="0" rtlCol="0" anchor="ctr"/>
          <a:lstStyle/>
          <a:p>
            <a:pPr marL="0" indent="0">
              <a:buNone/>
            </a:pPr>
            <a:r>
              <a:rPr lang="en-US" sz="1100" dirty="0">
                <a:solidFill>
                  <a:srgbClr val="5A6066"/>
                </a:solidFill>
                <a:latin typeface="Calibri" pitchFamily="34" charset="0"/>
                <a:ea typeface="Calibri" pitchFamily="34" charset="-122"/>
                <a:cs typeface="Calibri" pitchFamily="34" charset="-120"/>
              </a:rPr>
              <a:t>Retries, transactions, caching, observability — production-grade.</a:t>
            </a:r>
            <a:endParaRPr lang="en-US" sz="1100" dirty="0"/>
          </a:p>
        </p:txBody>
      </p:sp>
      <p:sp>
        <p:nvSpPr>
          <p:cNvPr id="37" name="Text 33"/>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06 / 13</a:t>
            </a:r>
            <a:endParaRPr lang="en-US" sz="1000" dirty="0"/>
          </a:p>
        </p:txBody>
      </p:sp>
      <p:sp>
        <p:nvSpPr>
          <p:cNvPr id="38" name="Text 34"/>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RUNTIME BEHAVIOR</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Execution flow</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548640" y="1920240"/>
            <a:ext cx="1463040" cy="365760"/>
          </a:xfrm>
          <a:prstGeom prst="rect">
            <a:avLst/>
          </a:prstGeom>
          <a:solidFill>
            <a:srgbClr val="117ACA"/>
          </a:solidFill>
          <a:ln/>
        </p:spPr>
      </p:sp>
      <p:sp>
        <p:nvSpPr>
          <p:cNvPr id="6" name="Text 4"/>
          <p:cNvSpPr/>
          <p:nvPr/>
        </p:nvSpPr>
        <p:spPr>
          <a:xfrm>
            <a:off x="548640" y="1920240"/>
            <a:ext cx="1463040" cy="36576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skills.md</a:t>
            </a:r>
            <a:endParaRPr lang="en-US" sz="1100" dirty="0"/>
          </a:p>
        </p:txBody>
      </p:sp>
      <p:sp>
        <p:nvSpPr>
          <p:cNvPr id="7" name="Text 5"/>
          <p:cNvSpPr/>
          <p:nvPr/>
        </p:nvSpPr>
        <p:spPr>
          <a:xfrm>
            <a:off x="2103120" y="1956816"/>
            <a:ext cx="8229600" cy="292608"/>
          </a:xfrm>
          <a:prstGeom prst="rect">
            <a:avLst/>
          </a:prstGeom>
          <a:noFill/>
          <a:ln/>
        </p:spPr>
        <p:txBody>
          <a:bodyPr wrap="square" lIns="0" tIns="0" rIns="0" bIns="0" rtlCol="0" anchor="ctr"/>
          <a:lstStyle/>
          <a:p>
            <a:pPr marL="0" indent="0">
              <a:buNone/>
            </a:pPr>
            <a:r>
              <a:rPr lang="en-US" sz="1100" i="1" dirty="0">
                <a:solidFill>
                  <a:srgbClr val="5A6066"/>
                </a:solidFill>
                <a:latin typeface="Calibri" pitchFamily="34" charset="0"/>
                <a:ea typeface="Calibri" pitchFamily="34" charset="-122"/>
                <a:cs typeface="Calibri" pitchFamily="34" charset="-120"/>
              </a:rPr>
              <a:t>Loaded per request · executes within model context</a:t>
            </a:r>
            <a:endParaRPr lang="en-US" sz="1100" dirty="0"/>
          </a:p>
        </p:txBody>
      </p:sp>
      <p:sp>
        <p:nvSpPr>
          <p:cNvPr id="8" name="Shape 6"/>
          <p:cNvSpPr/>
          <p:nvPr/>
        </p:nvSpPr>
        <p:spPr>
          <a:xfrm>
            <a:off x="548640" y="2468880"/>
            <a:ext cx="2491740" cy="1280160"/>
          </a:xfrm>
          <a:prstGeom prst="rect">
            <a:avLst/>
          </a:prstGeom>
          <a:solidFill>
            <a:srgbClr val="FFFFFF"/>
          </a:solidFill>
          <a:ln w="19050">
            <a:solidFill>
              <a:srgbClr val="117ACA"/>
            </a:solidFill>
            <a:prstDash val="solid"/>
          </a:ln>
          <a:effectLst>
            <a:outerShdw blurRad="177800" dist="38100" dir="5400000" algn="bl" rotWithShape="0">
              <a:srgbClr val="000000">
                <a:alpha val="10000"/>
              </a:srgbClr>
            </a:outerShdw>
          </a:effectLst>
        </p:spPr>
      </p:sp>
      <p:sp>
        <p:nvSpPr>
          <p:cNvPr id="9" name="Shape 7"/>
          <p:cNvSpPr/>
          <p:nvPr/>
        </p:nvSpPr>
        <p:spPr>
          <a:xfrm>
            <a:off x="731520" y="2633472"/>
            <a:ext cx="411480" cy="411480"/>
          </a:xfrm>
          <a:prstGeom prst="ellipse">
            <a:avLst/>
          </a:prstGeom>
          <a:solidFill>
            <a:srgbClr val="117ACA"/>
          </a:solidFill>
          <a:ln/>
        </p:spPr>
      </p:sp>
      <p:sp>
        <p:nvSpPr>
          <p:cNvPr id="10" name="Text 8"/>
          <p:cNvSpPr/>
          <p:nvPr/>
        </p:nvSpPr>
        <p:spPr>
          <a:xfrm>
            <a:off x="731520" y="263347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234440" y="265176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Load</a:t>
            </a:r>
            <a:endParaRPr lang="en-US" sz="1300" dirty="0"/>
          </a:p>
        </p:txBody>
      </p:sp>
      <p:sp>
        <p:nvSpPr>
          <p:cNvPr id="12" name="Text 10"/>
          <p:cNvSpPr/>
          <p:nvPr/>
        </p:nvSpPr>
        <p:spPr>
          <a:xfrm>
            <a:off x="731520" y="315468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File injected into prompt context per request.</a:t>
            </a:r>
            <a:endParaRPr lang="en-US" sz="1000" dirty="0"/>
          </a:p>
        </p:txBody>
      </p:sp>
      <p:sp>
        <p:nvSpPr>
          <p:cNvPr id="13" name="Shape 11"/>
          <p:cNvSpPr/>
          <p:nvPr/>
        </p:nvSpPr>
        <p:spPr>
          <a:xfrm>
            <a:off x="3086100" y="3108960"/>
            <a:ext cx="274320" cy="0"/>
          </a:xfrm>
          <a:prstGeom prst="line">
            <a:avLst/>
          </a:prstGeom>
          <a:noFill/>
          <a:ln w="19050">
            <a:solidFill>
              <a:srgbClr val="5A6066"/>
            </a:solidFill>
            <a:prstDash val="solid"/>
            <a:tailEnd type="triangle"/>
          </a:ln>
        </p:spPr>
      </p:sp>
      <p:sp>
        <p:nvSpPr>
          <p:cNvPr id="14" name="Shape 12"/>
          <p:cNvSpPr/>
          <p:nvPr/>
        </p:nvSpPr>
        <p:spPr>
          <a:xfrm>
            <a:off x="3406140" y="2468880"/>
            <a:ext cx="2491740" cy="1280160"/>
          </a:xfrm>
          <a:prstGeom prst="rect">
            <a:avLst/>
          </a:prstGeom>
          <a:solidFill>
            <a:srgbClr val="FFFFFF"/>
          </a:solidFill>
          <a:ln w="19050">
            <a:solidFill>
              <a:srgbClr val="117ACA"/>
            </a:solidFill>
            <a:prstDash val="solid"/>
          </a:ln>
          <a:effectLst>
            <a:outerShdw blurRad="177800" dist="38100" dir="5400000" algn="bl" rotWithShape="0">
              <a:srgbClr val="000000">
                <a:alpha val="10000"/>
              </a:srgbClr>
            </a:outerShdw>
          </a:effectLst>
        </p:spPr>
      </p:sp>
      <p:sp>
        <p:nvSpPr>
          <p:cNvPr id="15" name="Shape 13"/>
          <p:cNvSpPr/>
          <p:nvPr/>
        </p:nvSpPr>
        <p:spPr>
          <a:xfrm>
            <a:off x="3589020" y="2633472"/>
            <a:ext cx="411480" cy="411480"/>
          </a:xfrm>
          <a:prstGeom prst="ellipse">
            <a:avLst/>
          </a:prstGeom>
          <a:solidFill>
            <a:srgbClr val="117ACA"/>
          </a:solidFill>
          <a:ln/>
        </p:spPr>
      </p:sp>
      <p:sp>
        <p:nvSpPr>
          <p:cNvPr id="16" name="Text 14"/>
          <p:cNvSpPr/>
          <p:nvPr/>
        </p:nvSpPr>
        <p:spPr>
          <a:xfrm>
            <a:off x="3589020" y="263347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4091940" y="265176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Parse</a:t>
            </a:r>
            <a:endParaRPr lang="en-US" sz="1300" dirty="0"/>
          </a:p>
        </p:txBody>
      </p:sp>
      <p:sp>
        <p:nvSpPr>
          <p:cNvPr id="18" name="Text 16"/>
          <p:cNvSpPr/>
          <p:nvPr/>
        </p:nvSpPr>
        <p:spPr>
          <a:xfrm>
            <a:off x="3589020" y="315468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Model reads instructions and tool schema inline.</a:t>
            </a:r>
            <a:endParaRPr lang="en-US" sz="1000" dirty="0"/>
          </a:p>
        </p:txBody>
      </p:sp>
      <p:sp>
        <p:nvSpPr>
          <p:cNvPr id="19" name="Shape 17"/>
          <p:cNvSpPr/>
          <p:nvPr/>
        </p:nvSpPr>
        <p:spPr>
          <a:xfrm>
            <a:off x="5943600" y="3108960"/>
            <a:ext cx="274320" cy="0"/>
          </a:xfrm>
          <a:prstGeom prst="line">
            <a:avLst/>
          </a:prstGeom>
          <a:noFill/>
          <a:ln w="19050">
            <a:solidFill>
              <a:srgbClr val="5A6066"/>
            </a:solidFill>
            <a:prstDash val="solid"/>
            <a:tailEnd type="triangle"/>
          </a:ln>
        </p:spPr>
      </p:sp>
      <p:sp>
        <p:nvSpPr>
          <p:cNvPr id="20" name="Shape 18"/>
          <p:cNvSpPr/>
          <p:nvPr/>
        </p:nvSpPr>
        <p:spPr>
          <a:xfrm>
            <a:off x="6263640" y="2468880"/>
            <a:ext cx="2491740" cy="1280160"/>
          </a:xfrm>
          <a:prstGeom prst="rect">
            <a:avLst/>
          </a:prstGeom>
          <a:solidFill>
            <a:srgbClr val="FFFFFF"/>
          </a:solidFill>
          <a:ln w="19050">
            <a:solidFill>
              <a:srgbClr val="117ACA"/>
            </a:solidFill>
            <a:prstDash val="solid"/>
          </a:ln>
          <a:effectLst>
            <a:outerShdw blurRad="177800" dist="38100" dir="5400000" algn="bl" rotWithShape="0">
              <a:srgbClr val="000000">
                <a:alpha val="10000"/>
              </a:srgbClr>
            </a:outerShdw>
          </a:effectLst>
        </p:spPr>
      </p:sp>
      <p:sp>
        <p:nvSpPr>
          <p:cNvPr id="21" name="Shape 19"/>
          <p:cNvSpPr/>
          <p:nvPr/>
        </p:nvSpPr>
        <p:spPr>
          <a:xfrm>
            <a:off x="6446520" y="2633472"/>
            <a:ext cx="411480" cy="411480"/>
          </a:xfrm>
          <a:prstGeom prst="ellipse">
            <a:avLst/>
          </a:prstGeom>
          <a:solidFill>
            <a:srgbClr val="117ACA"/>
          </a:solidFill>
          <a:ln/>
        </p:spPr>
      </p:sp>
      <p:sp>
        <p:nvSpPr>
          <p:cNvPr id="22" name="Text 20"/>
          <p:cNvSpPr/>
          <p:nvPr/>
        </p:nvSpPr>
        <p:spPr>
          <a:xfrm>
            <a:off x="6446520" y="263347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6949440" y="265176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Execute</a:t>
            </a:r>
            <a:endParaRPr lang="en-US" sz="1300" dirty="0"/>
          </a:p>
        </p:txBody>
      </p:sp>
      <p:sp>
        <p:nvSpPr>
          <p:cNvPr id="24" name="Text 22"/>
          <p:cNvSpPr/>
          <p:nvPr/>
        </p:nvSpPr>
        <p:spPr>
          <a:xfrm>
            <a:off x="6446520" y="315468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Action runs within the model context window.</a:t>
            </a:r>
            <a:endParaRPr lang="en-US" sz="1000" dirty="0"/>
          </a:p>
        </p:txBody>
      </p:sp>
      <p:sp>
        <p:nvSpPr>
          <p:cNvPr id="25" name="Shape 23"/>
          <p:cNvSpPr/>
          <p:nvPr/>
        </p:nvSpPr>
        <p:spPr>
          <a:xfrm>
            <a:off x="8801100" y="3108960"/>
            <a:ext cx="274320" cy="0"/>
          </a:xfrm>
          <a:prstGeom prst="line">
            <a:avLst/>
          </a:prstGeom>
          <a:noFill/>
          <a:ln w="19050">
            <a:solidFill>
              <a:srgbClr val="5A6066"/>
            </a:solidFill>
            <a:prstDash val="solid"/>
            <a:tailEnd type="triangle"/>
          </a:ln>
        </p:spPr>
      </p:sp>
      <p:sp>
        <p:nvSpPr>
          <p:cNvPr id="26" name="Shape 24"/>
          <p:cNvSpPr/>
          <p:nvPr/>
        </p:nvSpPr>
        <p:spPr>
          <a:xfrm>
            <a:off x="9121140" y="2468880"/>
            <a:ext cx="2491740" cy="1280160"/>
          </a:xfrm>
          <a:prstGeom prst="rect">
            <a:avLst/>
          </a:prstGeom>
          <a:solidFill>
            <a:srgbClr val="FFFFFF"/>
          </a:solidFill>
          <a:ln w="19050">
            <a:solidFill>
              <a:srgbClr val="117ACA"/>
            </a:solidFill>
            <a:prstDash val="solid"/>
          </a:ln>
          <a:effectLst>
            <a:outerShdw blurRad="177800" dist="38100" dir="5400000" algn="bl" rotWithShape="0">
              <a:srgbClr val="000000">
                <a:alpha val="10000"/>
              </a:srgbClr>
            </a:outerShdw>
          </a:effectLst>
        </p:spPr>
      </p:sp>
      <p:sp>
        <p:nvSpPr>
          <p:cNvPr id="27" name="Shape 25"/>
          <p:cNvSpPr/>
          <p:nvPr/>
        </p:nvSpPr>
        <p:spPr>
          <a:xfrm>
            <a:off x="9304020" y="2633472"/>
            <a:ext cx="411480" cy="411480"/>
          </a:xfrm>
          <a:prstGeom prst="ellipse">
            <a:avLst/>
          </a:prstGeom>
          <a:solidFill>
            <a:srgbClr val="117ACA"/>
          </a:solidFill>
          <a:ln/>
        </p:spPr>
      </p:sp>
      <p:sp>
        <p:nvSpPr>
          <p:cNvPr id="28" name="Text 26"/>
          <p:cNvSpPr/>
          <p:nvPr/>
        </p:nvSpPr>
        <p:spPr>
          <a:xfrm>
            <a:off x="9304020" y="263347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9806940" y="265176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Respond</a:t>
            </a:r>
            <a:endParaRPr lang="en-US" sz="1300" dirty="0"/>
          </a:p>
        </p:txBody>
      </p:sp>
      <p:sp>
        <p:nvSpPr>
          <p:cNvPr id="30" name="Text 28"/>
          <p:cNvSpPr/>
          <p:nvPr/>
        </p:nvSpPr>
        <p:spPr>
          <a:xfrm>
            <a:off x="9304020" y="315468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Result returned to the user — no state persists.</a:t>
            </a:r>
            <a:endParaRPr lang="en-US" sz="1000" dirty="0"/>
          </a:p>
        </p:txBody>
      </p:sp>
      <p:sp>
        <p:nvSpPr>
          <p:cNvPr id="31" name="Shape 29"/>
          <p:cNvSpPr/>
          <p:nvPr/>
        </p:nvSpPr>
        <p:spPr>
          <a:xfrm>
            <a:off x="548640" y="4389120"/>
            <a:ext cx="1463040" cy="365760"/>
          </a:xfrm>
          <a:prstGeom prst="rect">
            <a:avLst/>
          </a:prstGeom>
          <a:solidFill>
            <a:srgbClr val="1B7F9E"/>
          </a:solidFill>
          <a:ln/>
        </p:spPr>
      </p:sp>
      <p:sp>
        <p:nvSpPr>
          <p:cNvPr id="32" name="Text 30"/>
          <p:cNvSpPr/>
          <p:nvPr/>
        </p:nvSpPr>
        <p:spPr>
          <a:xfrm>
            <a:off x="548640" y="4389120"/>
            <a:ext cx="1463040" cy="365760"/>
          </a:xfrm>
          <a:prstGeom prst="rect">
            <a:avLst/>
          </a:prstGeom>
          <a:noFill/>
          <a:ln/>
        </p:spPr>
        <p:txBody>
          <a:bodyPr wrap="square" lIns="0" tIns="0" rIns="0" bIns="0" rtlCol="0" anchor="ctr"/>
          <a:lstStyle/>
          <a:p>
            <a:pPr marL="0" indent="0" algn="ctr">
              <a:buNone/>
            </a:pPr>
            <a:r>
              <a:rPr lang="en-US" sz="1100" b="1" kern="0" spc="300" dirty="0">
                <a:solidFill>
                  <a:srgbClr val="FFFFFF"/>
                </a:solidFill>
                <a:latin typeface="Calibri" pitchFamily="34" charset="0"/>
                <a:ea typeface="Calibri" pitchFamily="34" charset="-122"/>
                <a:cs typeface="Calibri" pitchFamily="34" charset="-120"/>
              </a:rPr>
              <a:t>MCP server</a:t>
            </a:r>
            <a:endParaRPr lang="en-US" sz="1100" dirty="0"/>
          </a:p>
        </p:txBody>
      </p:sp>
      <p:sp>
        <p:nvSpPr>
          <p:cNvPr id="33" name="Text 31"/>
          <p:cNvSpPr/>
          <p:nvPr/>
        </p:nvSpPr>
        <p:spPr>
          <a:xfrm>
            <a:off x="2103120" y="4425696"/>
            <a:ext cx="8229600" cy="292608"/>
          </a:xfrm>
          <a:prstGeom prst="rect">
            <a:avLst/>
          </a:prstGeom>
          <a:noFill/>
          <a:ln/>
        </p:spPr>
        <p:txBody>
          <a:bodyPr wrap="square" lIns="0" tIns="0" rIns="0" bIns="0" rtlCol="0" anchor="ctr"/>
          <a:lstStyle/>
          <a:p>
            <a:pPr marL="0" indent="0">
              <a:buNone/>
            </a:pPr>
            <a:r>
              <a:rPr lang="en-US" sz="1100" i="1" dirty="0">
                <a:solidFill>
                  <a:srgbClr val="5A6066"/>
                </a:solidFill>
                <a:latin typeface="Calibri" pitchFamily="34" charset="0"/>
                <a:ea typeface="Calibri" pitchFamily="34" charset="-122"/>
                <a:cs typeface="Calibri" pitchFamily="34" charset="-120"/>
              </a:rPr>
              <a:t>Tool discovery → tool call → execution → response</a:t>
            </a:r>
            <a:endParaRPr lang="en-US" sz="1100" dirty="0"/>
          </a:p>
        </p:txBody>
      </p:sp>
      <p:sp>
        <p:nvSpPr>
          <p:cNvPr id="34" name="Shape 32"/>
          <p:cNvSpPr/>
          <p:nvPr/>
        </p:nvSpPr>
        <p:spPr>
          <a:xfrm>
            <a:off x="548640" y="4937760"/>
            <a:ext cx="2491740" cy="1280160"/>
          </a:xfrm>
          <a:prstGeom prst="rect">
            <a:avLst/>
          </a:prstGeom>
          <a:solidFill>
            <a:srgbClr val="FFFFFF"/>
          </a:solidFill>
          <a:ln w="19050">
            <a:solidFill>
              <a:srgbClr val="1B7F9E"/>
            </a:solidFill>
            <a:prstDash val="solid"/>
          </a:ln>
          <a:effectLst>
            <a:outerShdw blurRad="177800" dist="38100" dir="5400000" algn="bl" rotWithShape="0">
              <a:srgbClr val="000000">
                <a:alpha val="10000"/>
              </a:srgbClr>
            </a:outerShdw>
          </a:effectLst>
        </p:spPr>
      </p:sp>
      <p:sp>
        <p:nvSpPr>
          <p:cNvPr id="35" name="Shape 33"/>
          <p:cNvSpPr/>
          <p:nvPr/>
        </p:nvSpPr>
        <p:spPr>
          <a:xfrm>
            <a:off x="731520" y="5102352"/>
            <a:ext cx="411480" cy="411480"/>
          </a:xfrm>
          <a:prstGeom prst="ellipse">
            <a:avLst/>
          </a:prstGeom>
          <a:solidFill>
            <a:srgbClr val="1B7F9E"/>
          </a:solidFill>
          <a:ln/>
        </p:spPr>
      </p:sp>
      <p:sp>
        <p:nvSpPr>
          <p:cNvPr id="36" name="Text 34"/>
          <p:cNvSpPr/>
          <p:nvPr/>
        </p:nvSpPr>
        <p:spPr>
          <a:xfrm>
            <a:off x="731520" y="510235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7" name="Text 35"/>
          <p:cNvSpPr/>
          <p:nvPr/>
        </p:nvSpPr>
        <p:spPr>
          <a:xfrm>
            <a:off x="1234440" y="512064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Discover</a:t>
            </a:r>
            <a:endParaRPr lang="en-US" sz="1300" dirty="0"/>
          </a:p>
        </p:txBody>
      </p:sp>
      <p:sp>
        <p:nvSpPr>
          <p:cNvPr id="38" name="Text 36"/>
          <p:cNvSpPr/>
          <p:nvPr/>
        </p:nvSpPr>
        <p:spPr>
          <a:xfrm>
            <a:off x="731520" y="562356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Client lists server's available tools at session start.</a:t>
            </a:r>
            <a:endParaRPr lang="en-US" sz="1000" dirty="0"/>
          </a:p>
        </p:txBody>
      </p:sp>
      <p:sp>
        <p:nvSpPr>
          <p:cNvPr id="39" name="Shape 37"/>
          <p:cNvSpPr/>
          <p:nvPr/>
        </p:nvSpPr>
        <p:spPr>
          <a:xfrm>
            <a:off x="3086100" y="5577840"/>
            <a:ext cx="274320" cy="0"/>
          </a:xfrm>
          <a:prstGeom prst="line">
            <a:avLst/>
          </a:prstGeom>
          <a:noFill/>
          <a:ln w="19050">
            <a:solidFill>
              <a:srgbClr val="5A6066"/>
            </a:solidFill>
            <a:prstDash val="solid"/>
            <a:tailEnd type="triangle"/>
          </a:ln>
        </p:spPr>
      </p:sp>
      <p:sp>
        <p:nvSpPr>
          <p:cNvPr id="40" name="Shape 38"/>
          <p:cNvSpPr/>
          <p:nvPr/>
        </p:nvSpPr>
        <p:spPr>
          <a:xfrm>
            <a:off x="3406140" y="4937760"/>
            <a:ext cx="2491740" cy="1280160"/>
          </a:xfrm>
          <a:prstGeom prst="rect">
            <a:avLst/>
          </a:prstGeom>
          <a:solidFill>
            <a:srgbClr val="FFFFFF"/>
          </a:solidFill>
          <a:ln w="19050">
            <a:solidFill>
              <a:srgbClr val="1B7F9E"/>
            </a:solidFill>
            <a:prstDash val="solid"/>
          </a:ln>
          <a:effectLst>
            <a:outerShdw blurRad="177800" dist="38100" dir="5400000" algn="bl" rotWithShape="0">
              <a:srgbClr val="000000">
                <a:alpha val="10000"/>
              </a:srgbClr>
            </a:outerShdw>
          </a:effectLst>
        </p:spPr>
      </p:sp>
      <p:sp>
        <p:nvSpPr>
          <p:cNvPr id="41" name="Shape 39"/>
          <p:cNvSpPr/>
          <p:nvPr/>
        </p:nvSpPr>
        <p:spPr>
          <a:xfrm>
            <a:off x="3589020" y="5102352"/>
            <a:ext cx="411480" cy="411480"/>
          </a:xfrm>
          <a:prstGeom prst="ellipse">
            <a:avLst/>
          </a:prstGeom>
          <a:solidFill>
            <a:srgbClr val="1B7F9E"/>
          </a:solidFill>
          <a:ln/>
        </p:spPr>
      </p:sp>
      <p:sp>
        <p:nvSpPr>
          <p:cNvPr id="42" name="Text 40"/>
          <p:cNvSpPr/>
          <p:nvPr/>
        </p:nvSpPr>
        <p:spPr>
          <a:xfrm>
            <a:off x="3589020" y="510235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3" name="Text 41"/>
          <p:cNvSpPr/>
          <p:nvPr/>
        </p:nvSpPr>
        <p:spPr>
          <a:xfrm>
            <a:off x="4091940" y="512064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Call</a:t>
            </a:r>
            <a:endParaRPr lang="en-US" sz="1300" dirty="0"/>
          </a:p>
        </p:txBody>
      </p:sp>
      <p:sp>
        <p:nvSpPr>
          <p:cNvPr id="44" name="Text 42"/>
          <p:cNvSpPr/>
          <p:nvPr/>
        </p:nvSpPr>
        <p:spPr>
          <a:xfrm>
            <a:off x="3589020" y="562356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Model invokes a tool with structured parameters.</a:t>
            </a:r>
            <a:endParaRPr lang="en-US" sz="1000" dirty="0"/>
          </a:p>
        </p:txBody>
      </p:sp>
      <p:sp>
        <p:nvSpPr>
          <p:cNvPr id="45" name="Shape 43"/>
          <p:cNvSpPr/>
          <p:nvPr/>
        </p:nvSpPr>
        <p:spPr>
          <a:xfrm>
            <a:off x="5943600" y="5577840"/>
            <a:ext cx="274320" cy="0"/>
          </a:xfrm>
          <a:prstGeom prst="line">
            <a:avLst/>
          </a:prstGeom>
          <a:noFill/>
          <a:ln w="19050">
            <a:solidFill>
              <a:srgbClr val="5A6066"/>
            </a:solidFill>
            <a:prstDash val="solid"/>
            <a:tailEnd type="triangle"/>
          </a:ln>
        </p:spPr>
      </p:sp>
      <p:sp>
        <p:nvSpPr>
          <p:cNvPr id="46" name="Shape 44"/>
          <p:cNvSpPr/>
          <p:nvPr/>
        </p:nvSpPr>
        <p:spPr>
          <a:xfrm>
            <a:off x="6263640" y="4937760"/>
            <a:ext cx="2491740" cy="1280160"/>
          </a:xfrm>
          <a:prstGeom prst="rect">
            <a:avLst/>
          </a:prstGeom>
          <a:solidFill>
            <a:srgbClr val="FFFFFF"/>
          </a:solidFill>
          <a:ln w="19050">
            <a:solidFill>
              <a:srgbClr val="1B7F9E"/>
            </a:solidFill>
            <a:prstDash val="solid"/>
          </a:ln>
          <a:effectLst>
            <a:outerShdw blurRad="177800" dist="38100" dir="5400000" algn="bl" rotWithShape="0">
              <a:srgbClr val="000000">
                <a:alpha val="10000"/>
              </a:srgbClr>
            </a:outerShdw>
          </a:effectLst>
        </p:spPr>
      </p:sp>
      <p:sp>
        <p:nvSpPr>
          <p:cNvPr id="47" name="Shape 45"/>
          <p:cNvSpPr/>
          <p:nvPr/>
        </p:nvSpPr>
        <p:spPr>
          <a:xfrm>
            <a:off x="6446520" y="5102352"/>
            <a:ext cx="411480" cy="411480"/>
          </a:xfrm>
          <a:prstGeom prst="ellipse">
            <a:avLst/>
          </a:prstGeom>
          <a:solidFill>
            <a:srgbClr val="1B7F9E"/>
          </a:solidFill>
          <a:ln/>
        </p:spPr>
      </p:sp>
      <p:sp>
        <p:nvSpPr>
          <p:cNvPr id="48" name="Text 46"/>
          <p:cNvSpPr/>
          <p:nvPr/>
        </p:nvSpPr>
        <p:spPr>
          <a:xfrm>
            <a:off x="6446520" y="510235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9" name="Text 47"/>
          <p:cNvSpPr/>
          <p:nvPr/>
        </p:nvSpPr>
        <p:spPr>
          <a:xfrm>
            <a:off x="6949440" y="512064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Execute</a:t>
            </a:r>
            <a:endParaRPr lang="en-US" sz="1300" dirty="0"/>
          </a:p>
        </p:txBody>
      </p:sp>
      <p:sp>
        <p:nvSpPr>
          <p:cNvPr id="50" name="Text 48"/>
          <p:cNvSpPr/>
          <p:nvPr/>
        </p:nvSpPr>
        <p:spPr>
          <a:xfrm>
            <a:off x="6446520" y="562356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Server runs logic, hits APIs/DBs, manages state.</a:t>
            </a:r>
            <a:endParaRPr lang="en-US" sz="1000" dirty="0"/>
          </a:p>
        </p:txBody>
      </p:sp>
      <p:sp>
        <p:nvSpPr>
          <p:cNvPr id="51" name="Shape 49"/>
          <p:cNvSpPr/>
          <p:nvPr/>
        </p:nvSpPr>
        <p:spPr>
          <a:xfrm>
            <a:off x="8801100" y="5577840"/>
            <a:ext cx="274320" cy="0"/>
          </a:xfrm>
          <a:prstGeom prst="line">
            <a:avLst/>
          </a:prstGeom>
          <a:noFill/>
          <a:ln w="19050">
            <a:solidFill>
              <a:srgbClr val="5A6066"/>
            </a:solidFill>
            <a:prstDash val="solid"/>
            <a:tailEnd type="triangle"/>
          </a:ln>
        </p:spPr>
      </p:sp>
      <p:sp>
        <p:nvSpPr>
          <p:cNvPr id="52" name="Shape 50"/>
          <p:cNvSpPr/>
          <p:nvPr/>
        </p:nvSpPr>
        <p:spPr>
          <a:xfrm>
            <a:off x="9121140" y="4937760"/>
            <a:ext cx="2491740" cy="1280160"/>
          </a:xfrm>
          <a:prstGeom prst="rect">
            <a:avLst/>
          </a:prstGeom>
          <a:solidFill>
            <a:srgbClr val="FFFFFF"/>
          </a:solidFill>
          <a:ln w="19050">
            <a:solidFill>
              <a:srgbClr val="1B7F9E"/>
            </a:solidFill>
            <a:prstDash val="solid"/>
          </a:ln>
          <a:effectLst>
            <a:outerShdw blurRad="177800" dist="38100" dir="5400000" algn="bl" rotWithShape="0">
              <a:srgbClr val="000000">
                <a:alpha val="10000"/>
              </a:srgbClr>
            </a:outerShdw>
          </a:effectLst>
        </p:spPr>
      </p:sp>
      <p:sp>
        <p:nvSpPr>
          <p:cNvPr id="53" name="Shape 51"/>
          <p:cNvSpPr/>
          <p:nvPr/>
        </p:nvSpPr>
        <p:spPr>
          <a:xfrm>
            <a:off x="9304020" y="5102352"/>
            <a:ext cx="411480" cy="411480"/>
          </a:xfrm>
          <a:prstGeom prst="ellipse">
            <a:avLst/>
          </a:prstGeom>
          <a:solidFill>
            <a:srgbClr val="1B7F9E"/>
          </a:solidFill>
          <a:ln/>
        </p:spPr>
      </p:sp>
      <p:sp>
        <p:nvSpPr>
          <p:cNvPr id="54" name="Text 52"/>
          <p:cNvSpPr/>
          <p:nvPr/>
        </p:nvSpPr>
        <p:spPr>
          <a:xfrm>
            <a:off x="9304020" y="510235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5" name="Text 53"/>
          <p:cNvSpPr/>
          <p:nvPr/>
        </p:nvSpPr>
        <p:spPr>
          <a:xfrm>
            <a:off x="9806940" y="5120640"/>
            <a:ext cx="1668780" cy="365760"/>
          </a:xfrm>
          <a:prstGeom prst="rect">
            <a:avLst/>
          </a:prstGeom>
          <a:noFill/>
          <a:ln/>
        </p:spPr>
        <p:txBody>
          <a:bodyPr wrap="square" lIns="0" tIns="0" rIns="0" bIns="0" rtlCol="0" anchor="ctr"/>
          <a:lstStyle/>
          <a:p>
            <a:pPr marL="0" indent="0">
              <a:buNone/>
            </a:pPr>
            <a:r>
              <a:rPr lang="en-US" sz="1300" b="1" dirty="0">
                <a:solidFill>
                  <a:srgbClr val="211E1E"/>
                </a:solidFill>
                <a:latin typeface="Calibri" pitchFamily="34" charset="0"/>
                <a:ea typeface="Calibri" pitchFamily="34" charset="-122"/>
                <a:cs typeface="Calibri" pitchFamily="34" charset="-120"/>
              </a:rPr>
              <a:t>Respond</a:t>
            </a:r>
            <a:endParaRPr lang="en-US" sz="1300" dirty="0"/>
          </a:p>
        </p:txBody>
      </p:sp>
      <p:sp>
        <p:nvSpPr>
          <p:cNvPr id="56" name="Text 54"/>
          <p:cNvSpPr/>
          <p:nvPr/>
        </p:nvSpPr>
        <p:spPr>
          <a:xfrm>
            <a:off x="9304020" y="5623560"/>
            <a:ext cx="2125980" cy="54864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Structured result returned via MCP to the model.</a:t>
            </a:r>
            <a:endParaRPr lang="en-US" sz="1000" dirty="0"/>
          </a:p>
        </p:txBody>
      </p:sp>
      <p:sp>
        <p:nvSpPr>
          <p:cNvPr id="57" name="Text 55"/>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07 / 13</a:t>
            </a:r>
            <a:endParaRPr lang="en-US" sz="1000" dirty="0"/>
          </a:p>
        </p:txBody>
      </p:sp>
      <p:sp>
        <p:nvSpPr>
          <p:cNvPr id="58" name="Text 56"/>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COST  ·  LATENCY  ·  SCALE</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Tokens &amp; performance</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640080" y="1783080"/>
            <a:ext cx="5486400" cy="461772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6" name="Shape 4"/>
          <p:cNvSpPr/>
          <p:nvPr/>
        </p:nvSpPr>
        <p:spPr>
          <a:xfrm>
            <a:off x="640080" y="1783080"/>
            <a:ext cx="5486400" cy="109728"/>
          </a:xfrm>
          <a:prstGeom prst="rect">
            <a:avLst/>
          </a:prstGeom>
          <a:solidFill>
            <a:srgbClr val="117ACA"/>
          </a:solidFill>
          <a:ln/>
        </p:spPr>
      </p:sp>
      <p:pic>
        <p:nvPicPr>
          <p:cNvPr id="7" name="Image 0" descr="preencoded.png"/>
          <p:cNvPicPr>
            <a:picLocks noChangeAspect="1"/>
          </p:cNvPicPr>
          <p:nvPr/>
        </p:nvPicPr>
        <p:blipFill>
          <a:blip r:embed="rId3"/>
          <a:stretch>
            <a:fillRect/>
          </a:stretch>
        </p:blipFill>
        <p:spPr>
          <a:xfrm>
            <a:off x="1005840" y="2148840"/>
            <a:ext cx="411480" cy="411480"/>
          </a:xfrm>
          <a:prstGeom prst="rect">
            <a:avLst/>
          </a:prstGeom>
        </p:spPr>
      </p:pic>
      <p:sp>
        <p:nvSpPr>
          <p:cNvPr id="8" name="Text 5"/>
          <p:cNvSpPr/>
          <p:nvPr/>
        </p:nvSpPr>
        <p:spPr>
          <a:xfrm>
            <a:off x="1554480" y="2103120"/>
            <a:ext cx="4389120" cy="502920"/>
          </a:xfrm>
          <a:prstGeom prst="rect">
            <a:avLst/>
          </a:prstGeom>
          <a:noFill/>
          <a:ln/>
        </p:spPr>
        <p:txBody>
          <a:bodyPr wrap="square" lIns="0" tIns="0" rIns="0" bIns="0" rtlCol="0" anchor="ctr"/>
          <a:lstStyle/>
          <a:p>
            <a:pPr marL="0" indent="0">
              <a:buNone/>
            </a:pPr>
            <a:r>
              <a:rPr lang="en-US" sz="2200" b="1" dirty="0">
                <a:solidFill>
                  <a:srgbClr val="211E1E"/>
                </a:solidFill>
                <a:latin typeface="Georgia" pitchFamily="34" charset="0"/>
                <a:ea typeface="Georgia" pitchFamily="34" charset="-122"/>
                <a:cs typeface="Georgia" pitchFamily="34" charset="-120"/>
              </a:rPr>
              <a:t>skills.md</a:t>
            </a:r>
            <a:endParaRPr lang="en-US" sz="2200" dirty="0"/>
          </a:p>
        </p:txBody>
      </p:sp>
      <p:sp>
        <p:nvSpPr>
          <p:cNvPr id="9" name="Text 6"/>
          <p:cNvSpPr/>
          <p:nvPr/>
        </p:nvSpPr>
        <p:spPr>
          <a:xfrm>
            <a:off x="1005840" y="2834640"/>
            <a:ext cx="4754880" cy="1280160"/>
          </a:xfrm>
          <a:prstGeom prst="rect">
            <a:avLst/>
          </a:prstGeom>
          <a:noFill/>
          <a:ln/>
        </p:spPr>
        <p:txBody>
          <a:bodyPr wrap="square" lIns="0" tIns="0" rIns="0" bIns="0" rtlCol="0" anchor="ctr"/>
          <a:lstStyle/>
          <a:p>
            <a:pPr marL="0" indent="0" algn="l">
              <a:buNone/>
            </a:pPr>
            <a:r>
              <a:rPr lang="en-US" sz="8800" b="1" dirty="0">
                <a:solidFill>
                  <a:srgbClr val="117ACA"/>
                </a:solidFill>
                <a:latin typeface="Georgia" pitchFamily="34" charset="0"/>
                <a:ea typeface="Georgia" pitchFamily="34" charset="-122"/>
                <a:cs typeface="Georgia" pitchFamily="34" charset="-120"/>
              </a:rPr>
              <a:t>HIGH</a:t>
            </a:r>
            <a:endParaRPr lang="en-US" sz="8800" dirty="0"/>
          </a:p>
        </p:txBody>
      </p:sp>
      <p:sp>
        <p:nvSpPr>
          <p:cNvPr id="10" name="Text 7"/>
          <p:cNvSpPr/>
          <p:nvPr/>
        </p:nvSpPr>
        <p:spPr>
          <a:xfrm>
            <a:off x="1051560" y="4114800"/>
            <a:ext cx="4754880" cy="365760"/>
          </a:xfrm>
          <a:prstGeom prst="rect">
            <a:avLst/>
          </a:prstGeom>
          <a:noFill/>
          <a:ln/>
        </p:spPr>
        <p:txBody>
          <a:bodyPr wrap="square" lIns="0" tIns="0" rIns="0" bIns="0" rtlCol="0" anchor="ctr"/>
          <a:lstStyle/>
          <a:p>
            <a:pPr marL="0" indent="0">
              <a:buNone/>
            </a:pPr>
            <a:r>
              <a:rPr lang="en-US" sz="1300" i="1" dirty="0">
                <a:solidFill>
                  <a:srgbClr val="5A6066"/>
                </a:solidFill>
                <a:latin typeface="Calibri" pitchFamily="34" charset="0"/>
                <a:ea typeface="Calibri" pitchFamily="34" charset="-122"/>
                <a:cs typeface="Calibri" pitchFamily="34" charset="-120"/>
              </a:rPr>
              <a:t>token cost per request</a:t>
            </a:r>
            <a:endParaRPr lang="en-US" sz="1300" dirty="0"/>
          </a:p>
        </p:txBody>
      </p:sp>
      <p:pic>
        <p:nvPicPr>
          <p:cNvPr id="11" name="Image 1" descr="preencoded.png"/>
          <p:cNvPicPr>
            <a:picLocks noChangeAspect="1"/>
          </p:cNvPicPr>
          <p:nvPr/>
        </p:nvPicPr>
        <p:blipFill>
          <a:blip r:embed="rId4"/>
          <a:stretch>
            <a:fillRect/>
          </a:stretch>
        </p:blipFill>
        <p:spPr>
          <a:xfrm>
            <a:off x="1051560" y="4709160"/>
            <a:ext cx="201168" cy="201168"/>
          </a:xfrm>
          <a:prstGeom prst="rect">
            <a:avLst/>
          </a:prstGeom>
        </p:spPr>
      </p:pic>
      <p:sp>
        <p:nvSpPr>
          <p:cNvPr id="12" name="Text 8"/>
          <p:cNvSpPr/>
          <p:nvPr/>
        </p:nvSpPr>
        <p:spPr>
          <a:xfrm>
            <a:off x="1417320" y="4663440"/>
            <a:ext cx="4480560" cy="365760"/>
          </a:xfrm>
          <a:prstGeom prst="rect">
            <a:avLst/>
          </a:prstGeom>
          <a:noFill/>
          <a:ln/>
        </p:spPr>
        <p:txBody>
          <a:bodyPr wrap="square" lIns="0" tIns="0" rIns="0" bIns="0" rtlCol="0" anchor="ctr"/>
          <a:lstStyle/>
          <a:p>
            <a:pPr marL="0" indent="0">
              <a:buNone/>
            </a:pPr>
            <a:r>
              <a:rPr lang="en-US" sz="1300" dirty="0">
                <a:solidFill>
                  <a:srgbClr val="211E1E"/>
                </a:solidFill>
                <a:latin typeface="Calibri" pitchFamily="34" charset="0"/>
                <a:ea typeface="Calibri" pitchFamily="34" charset="-122"/>
                <a:cs typeface="Calibri" pitchFamily="34" charset="-120"/>
              </a:rPr>
              <a:t>Whole skill loaded into prompt every turn</a:t>
            </a:r>
            <a:endParaRPr lang="en-US" sz="1300" dirty="0"/>
          </a:p>
        </p:txBody>
      </p:sp>
      <p:pic>
        <p:nvPicPr>
          <p:cNvPr id="13" name="Image 2" descr="preencoded.png"/>
          <p:cNvPicPr>
            <a:picLocks noChangeAspect="1"/>
          </p:cNvPicPr>
          <p:nvPr/>
        </p:nvPicPr>
        <p:blipFill>
          <a:blip r:embed="rId4"/>
          <a:stretch>
            <a:fillRect/>
          </a:stretch>
        </p:blipFill>
        <p:spPr>
          <a:xfrm>
            <a:off x="1051560" y="5212080"/>
            <a:ext cx="201168" cy="201168"/>
          </a:xfrm>
          <a:prstGeom prst="rect">
            <a:avLst/>
          </a:prstGeom>
        </p:spPr>
      </p:pic>
      <p:sp>
        <p:nvSpPr>
          <p:cNvPr id="14" name="Text 9"/>
          <p:cNvSpPr/>
          <p:nvPr/>
        </p:nvSpPr>
        <p:spPr>
          <a:xfrm>
            <a:off x="1417320" y="5166360"/>
            <a:ext cx="4480560" cy="365760"/>
          </a:xfrm>
          <a:prstGeom prst="rect">
            <a:avLst/>
          </a:prstGeom>
          <a:noFill/>
          <a:ln/>
        </p:spPr>
        <p:txBody>
          <a:bodyPr wrap="square" lIns="0" tIns="0" rIns="0" bIns="0" rtlCol="0" anchor="ctr"/>
          <a:lstStyle/>
          <a:p>
            <a:pPr marL="0" indent="0">
              <a:buNone/>
            </a:pPr>
            <a:r>
              <a:rPr lang="en-US" sz="1300" dirty="0">
                <a:solidFill>
                  <a:srgbClr val="211E1E"/>
                </a:solidFill>
                <a:latin typeface="Calibri" pitchFamily="34" charset="0"/>
                <a:ea typeface="Calibri" pitchFamily="34" charset="-122"/>
                <a:cs typeface="Calibri" pitchFamily="34" charset="-120"/>
              </a:rPr>
              <a:t>Bound by the model's context window</a:t>
            </a:r>
            <a:endParaRPr lang="en-US" sz="1300" dirty="0"/>
          </a:p>
        </p:txBody>
      </p:sp>
      <p:pic>
        <p:nvPicPr>
          <p:cNvPr id="15" name="Image 3" descr="preencoded.png"/>
          <p:cNvPicPr>
            <a:picLocks noChangeAspect="1"/>
          </p:cNvPicPr>
          <p:nvPr/>
        </p:nvPicPr>
        <p:blipFill>
          <a:blip r:embed="rId4"/>
          <a:stretch>
            <a:fillRect/>
          </a:stretch>
        </p:blipFill>
        <p:spPr>
          <a:xfrm>
            <a:off x="1051560" y="5715000"/>
            <a:ext cx="201168" cy="201168"/>
          </a:xfrm>
          <a:prstGeom prst="rect">
            <a:avLst/>
          </a:prstGeom>
        </p:spPr>
      </p:pic>
      <p:sp>
        <p:nvSpPr>
          <p:cNvPr id="16" name="Text 10"/>
          <p:cNvSpPr/>
          <p:nvPr/>
        </p:nvSpPr>
        <p:spPr>
          <a:xfrm>
            <a:off x="1417320" y="5669280"/>
            <a:ext cx="4480560" cy="365760"/>
          </a:xfrm>
          <a:prstGeom prst="rect">
            <a:avLst/>
          </a:prstGeom>
          <a:noFill/>
          <a:ln/>
        </p:spPr>
        <p:txBody>
          <a:bodyPr wrap="square" lIns="0" tIns="0" rIns="0" bIns="0" rtlCol="0" anchor="ctr"/>
          <a:lstStyle/>
          <a:p>
            <a:pPr marL="0" indent="0">
              <a:buNone/>
            </a:pPr>
            <a:r>
              <a:rPr lang="en-US" sz="1300" dirty="0">
                <a:solidFill>
                  <a:srgbClr val="211E1E"/>
                </a:solidFill>
                <a:latin typeface="Calibri" pitchFamily="34" charset="0"/>
                <a:ea typeface="Calibri" pitchFamily="34" charset="-122"/>
                <a:cs typeface="Calibri" pitchFamily="34" charset="-120"/>
              </a:rPr>
              <a:t>Latency tied to prompt processing time</a:t>
            </a:r>
            <a:endParaRPr lang="en-US" sz="1300" dirty="0"/>
          </a:p>
        </p:txBody>
      </p:sp>
      <p:sp>
        <p:nvSpPr>
          <p:cNvPr id="17" name="Shape 11"/>
          <p:cNvSpPr/>
          <p:nvPr/>
        </p:nvSpPr>
        <p:spPr>
          <a:xfrm>
            <a:off x="6492240" y="1783080"/>
            <a:ext cx="5486400" cy="461772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18" name="Shape 12"/>
          <p:cNvSpPr/>
          <p:nvPr/>
        </p:nvSpPr>
        <p:spPr>
          <a:xfrm>
            <a:off x="6492240" y="1783080"/>
            <a:ext cx="5486400" cy="109728"/>
          </a:xfrm>
          <a:prstGeom prst="rect">
            <a:avLst/>
          </a:prstGeom>
          <a:solidFill>
            <a:srgbClr val="1B7F9E"/>
          </a:solidFill>
          <a:ln/>
        </p:spPr>
      </p:sp>
      <p:pic>
        <p:nvPicPr>
          <p:cNvPr id="19" name="Image 4" descr="preencoded.png"/>
          <p:cNvPicPr>
            <a:picLocks noChangeAspect="1"/>
          </p:cNvPicPr>
          <p:nvPr/>
        </p:nvPicPr>
        <p:blipFill>
          <a:blip r:embed="rId5"/>
          <a:stretch>
            <a:fillRect/>
          </a:stretch>
        </p:blipFill>
        <p:spPr>
          <a:xfrm>
            <a:off x="6858000" y="2148840"/>
            <a:ext cx="411480" cy="411480"/>
          </a:xfrm>
          <a:prstGeom prst="rect">
            <a:avLst/>
          </a:prstGeom>
        </p:spPr>
      </p:pic>
      <p:sp>
        <p:nvSpPr>
          <p:cNvPr id="20" name="Text 13"/>
          <p:cNvSpPr/>
          <p:nvPr/>
        </p:nvSpPr>
        <p:spPr>
          <a:xfrm>
            <a:off x="7406640" y="2103120"/>
            <a:ext cx="4389120" cy="502920"/>
          </a:xfrm>
          <a:prstGeom prst="rect">
            <a:avLst/>
          </a:prstGeom>
          <a:noFill/>
          <a:ln/>
        </p:spPr>
        <p:txBody>
          <a:bodyPr wrap="square" lIns="0" tIns="0" rIns="0" bIns="0" rtlCol="0" anchor="ctr"/>
          <a:lstStyle/>
          <a:p>
            <a:pPr marL="0" indent="0">
              <a:buNone/>
            </a:pPr>
            <a:r>
              <a:rPr lang="en-US" sz="2200" b="1" dirty="0">
                <a:solidFill>
                  <a:srgbClr val="211E1E"/>
                </a:solidFill>
                <a:latin typeface="Georgia" pitchFamily="34" charset="0"/>
                <a:ea typeface="Georgia" pitchFamily="34" charset="-122"/>
                <a:cs typeface="Georgia" pitchFamily="34" charset="-120"/>
              </a:rPr>
              <a:t>MCP servers</a:t>
            </a:r>
            <a:endParaRPr lang="en-US" sz="2200" dirty="0"/>
          </a:p>
        </p:txBody>
      </p:sp>
      <p:sp>
        <p:nvSpPr>
          <p:cNvPr id="21" name="Text 14"/>
          <p:cNvSpPr/>
          <p:nvPr/>
        </p:nvSpPr>
        <p:spPr>
          <a:xfrm>
            <a:off x="6858000" y="2834640"/>
            <a:ext cx="4754880" cy="1280160"/>
          </a:xfrm>
          <a:prstGeom prst="rect">
            <a:avLst/>
          </a:prstGeom>
          <a:noFill/>
          <a:ln/>
        </p:spPr>
        <p:txBody>
          <a:bodyPr wrap="square" lIns="0" tIns="0" rIns="0" bIns="0" rtlCol="0" anchor="ctr"/>
          <a:lstStyle/>
          <a:p>
            <a:pPr marL="0" indent="0" algn="l">
              <a:buNone/>
            </a:pPr>
            <a:r>
              <a:rPr lang="en-US" sz="8800" b="1" dirty="0">
                <a:solidFill>
                  <a:srgbClr val="1B7F9E"/>
                </a:solidFill>
                <a:latin typeface="Georgia" pitchFamily="34" charset="0"/>
                <a:ea typeface="Georgia" pitchFamily="34" charset="-122"/>
                <a:cs typeface="Georgia" pitchFamily="34" charset="-120"/>
              </a:rPr>
              <a:t>LOW</a:t>
            </a:r>
            <a:endParaRPr lang="en-US" sz="8800" dirty="0"/>
          </a:p>
        </p:txBody>
      </p:sp>
      <p:sp>
        <p:nvSpPr>
          <p:cNvPr id="22" name="Text 15"/>
          <p:cNvSpPr/>
          <p:nvPr/>
        </p:nvSpPr>
        <p:spPr>
          <a:xfrm>
            <a:off x="6903720" y="4114800"/>
            <a:ext cx="4754880" cy="365760"/>
          </a:xfrm>
          <a:prstGeom prst="rect">
            <a:avLst/>
          </a:prstGeom>
          <a:noFill/>
          <a:ln/>
        </p:spPr>
        <p:txBody>
          <a:bodyPr wrap="square" lIns="0" tIns="0" rIns="0" bIns="0" rtlCol="0" anchor="ctr"/>
          <a:lstStyle/>
          <a:p>
            <a:pPr marL="0" indent="0">
              <a:buNone/>
            </a:pPr>
            <a:r>
              <a:rPr lang="en-US" sz="1300" i="1" dirty="0">
                <a:solidFill>
                  <a:srgbClr val="5A6066"/>
                </a:solidFill>
                <a:latin typeface="Calibri" pitchFamily="34" charset="0"/>
                <a:ea typeface="Calibri" pitchFamily="34" charset="-122"/>
                <a:cs typeface="Calibri" pitchFamily="34" charset="-120"/>
              </a:rPr>
              <a:t>token cost per request</a:t>
            </a:r>
            <a:endParaRPr lang="en-US" sz="1300" dirty="0"/>
          </a:p>
        </p:txBody>
      </p:sp>
      <p:pic>
        <p:nvPicPr>
          <p:cNvPr id="23" name="Image 5" descr="preencoded.png"/>
          <p:cNvPicPr>
            <a:picLocks noChangeAspect="1"/>
          </p:cNvPicPr>
          <p:nvPr/>
        </p:nvPicPr>
        <p:blipFill>
          <a:blip r:embed="rId4"/>
          <a:stretch>
            <a:fillRect/>
          </a:stretch>
        </p:blipFill>
        <p:spPr>
          <a:xfrm>
            <a:off x="6903720" y="4709160"/>
            <a:ext cx="201168" cy="201168"/>
          </a:xfrm>
          <a:prstGeom prst="rect">
            <a:avLst/>
          </a:prstGeom>
        </p:spPr>
      </p:pic>
      <p:sp>
        <p:nvSpPr>
          <p:cNvPr id="24" name="Text 16"/>
          <p:cNvSpPr/>
          <p:nvPr/>
        </p:nvSpPr>
        <p:spPr>
          <a:xfrm>
            <a:off x="7269480" y="4663440"/>
            <a:ext cx="4480560" cy="365760"/>
          </a:xfrm>
          <a:prstGeom prst="rect">
            <a:avLst/>
          </a:prstGeom>
          <a:noFill/>
          <a:ln/>
        </p:spPr>
        <p:txBody>
          <a:bodyPr wrap="square" lIns="0" tIns="0" rIns="0" bIns="0" rtlCol="0" anchor="ctr"/>
          <a:lstStyle/>
          <a:p>
            <a:pPr marL="0" indent="0">
              <a:buNone/>
            </a:pPr>
            <a:r>
              <a:rPr lang="en-US" sz="1300" dirty="0">
                <a:solidFill>
                  <a:srgbClr val="211E1E"/>
                </a:solidFill>
                <a:latin typeface="Calibri" pitchFamily="34" charset="0"/>
                <a:ea typeface="Calibri" pitchFamily="34" charset="-122"/>
                <a:cs typeface="Calibri" pitchFamily="34" charset="-120"/>
              </a:rPr>
              <a:t>Only tool definitions consume prompt tokens</a:t>
            </a:r>
            <a:endParaRPr lang="en-US" sz="1300" dirty="0"/>
          </a:p>
        </p:txBody>
      </p:sp>
      <p:pic>
        <p:nvPicPr>
          <p:cNvPr id="25" name="Image 6" descr="preencoded.png"/>
          <p:cNvPicPr>
            <a:picLocks noChangeAspect="1"/>
          </p:cNvPicPr>
          <p:nvPr/>
        </p:nvPicPr>
        <p:blipFill>
          <a:blip r:embed="rId4"/>
          <a:stretch>
            <a:fillRect/>
          </a:stretch>
        </p:blipFill>
        <p:spPr>
          <a:xfrm>
            <a:off x="6903720" y="5212080"/>
            <a:ext cx="201168" cy="201168"/>
          </a:xfrm>
          <a:prstGeom prst="rect">
            <a:avLst/>
          </a:prstGeom>
        </p:spPr>
      </p:pic>
      <p:sp>
        <p:nvSpPr>
          <p:cNvPr id="26" name="Text 17"/>
          <p:cNvSpPr/>
          <p:nvPr/>
        </p:nvSpPr>
        <p:spPr>
          <a:xfrm>
            <a:off x="7269480" y="5166360"/>
            <a:ext cx="4480560" cy="365760"/>
          </a:xfrm>
          <a:prstGeom prst="rect">
            <a:avLst/>
          </a:prstGeom>
          <a:noFill/>
          <a:ln/>
        </p:spPr>
        <p:txBody>
          <a:bodyPr wrap="square" lIns="0" tIns="0" rIns="0" bIns="0" rtlCol="0" anchor="ctr"/>
          <a:lstStyle/>
          <a:p>
            <a:pPr marL="0" indent="0">
              <a:buNone/>
            </a:pPr>
            <a:r>
              <a:rPr lang="en-US" sz="1300" dirty="0">
                <a:solidFill>
                  <a:srgbClr val="211E1E"/>
                </a:solidFill>
                <a:latin typeface="Calibri" pitchFamily="34" charset="0"/>
                <a:ea typeface="Calibri" pitchFamily="34" charset="-122"/>
                <a:cs typeface="Calibri" pitchFamily="34" charset="-120"/>
              </a:rPr>
              <a:t>Heavy lifting executes outside the LLM</a:t>
            </a:r>
            <a:endParaRPr lang="en-US" sz="1300" dirty="0"/>
          </a:p>
        </p:txBody>
      </p:sp>
      <p:pic>
        <p:nvPicPr>
          <p:cNvPr id="27" name="Image 7" descr="preencoded.png"/>
          <p:cNvPicPr>
            <a:picLocks noChangeAspect="1"/>
          </p:cNvPicPr>
          <p:nvPr/>
        </p:nvPicPr>
        <p:blipFill>
          <a:blip r:embed="rId4"/>
          <a:stretch>
            <a:fillRect/>
          </a:stretch>
        </p:blipFill>
        <p:spPr>
          <a:xfrm>
            <a:off x="6903720" y="5715000"/>
            <a:ext cx="201168" cy="201168"/>
          </a:xfrm>
          <a:prstGeom prst="rect">
            <a:avLst/>
          </a:prstGeom>
        </p:spPr>
      </p:pic>
      <p:sp>
        <p:nvSpPr>
          <p:cNvPr id="28" name="Text 18"/>
          <p:cNvSpPr/>
          <p:nvPr/>
        </p:nvSpPr>
        <p:spPr>
          <a:xfrm>
            <a:off x="7269480" y="5669280"/>
            <a:ext cx="4480560" cy="365760"/>
          </a:xfrm>
          <a:prstGeom prst="rect">
            <a:avLst/>
          </a:prstGeom>
          <a:noFill/>
          <a:ln/>
        </p:spPr>
        <p:txBody>
          <a:bodyPr wrap="square" lIns="0" tIns="0" rIns="0" bIns="0" rtlCol="0" anchor="ctr"/>
          <a:lstStyle/>
          <a:p>
            <a:pPr marL="0" indent="0">
              <a:buNone/>
            </a:pPr>
            <a:r>
              <a:rPr lang="en-US" sz="1300" dirty="0">
                <a:solidFill>
                  <a:srgbClr val="211E1E"/>
                </a:solidFill>
                <a:latin typeface="Calibri" pitchFamily="34" charset="0"/>
                <a:ea typeface="Calibri" pitchFamily="34" charset="-122"/>
                <a:cs typeface="Calibri" pitchFamily="34" charset="-120"/>
              </a:rPr>
              <a:t>Latency dominated by network + server work</a:t>
            </a:r>
            <a:endParaRPr lang="en-US" sz="1300" dirty="0"/>
          </a:p>
        </p:txBody>
      </p:sp>
      <p:sp>
        <p:nvSpPr>
          <p:cNvPr id="29" name="Text 19"/>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08 / 13</a:t>
            </a:r>
            <a:endParaRPr lang="en-US" sz="1000" dirty="0"/>
          </a:p>
        </p:txBody>
      </p:sp>
      <p:sp>
        <p:nvSpPr>
          <p:cNvPr id="30" name="Text 20"/>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TOKENS  ·  A CLOSER LOOK</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It depends on how skills load</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Text 3"/>
          <p:cNvSpPr/>
          <p:nvPr/>
        </p:nvSpPr>
        <p:spPr>
          <a:xfrm>
            <a:off x="640080" y="1508760"/>
            <a:ext cx="10972800" cy="329184"/>
          </a:xfrm>
          <a:prstGeom prst="rect">
            <a:avLst/>
          </a:prstGeom>
          <a:noFill/>
          <a:ln/>
        </p:spPr>
        <p:txBody>
          <a:bodyPr wrap="square" lIns="0" tIns="0" rIns="0" bIns="0" rtlCol="0" anchor="ctr"/>
          <a:lstStyle/>
          <a:p>
            <a:pPr marL="0" indent="0">
              <a:buNone/>
            </a:pPr>
            <a:r>
              <a:rPr lang="en-US" sz="1300" i="1" dirty="0">
                <a:solidFill>
                  <a:srgbClr val="5A6066"/>
                </a:solidFill>
                <a:latin typeface="Calibri" pitchFamily="34" charset="0"/>
                <a:ea typeface="Calibri" pitchFamily="34" charset="-122"/>
                <a:cs typeface="Calibri" pitchFamily="34" charset="-120"/>
              </a:rPr>
              <a:t>Naive injection vs progressive disclosure changes the verdict. Approximate token counts:</a:t>
            </a:r>
            <a:endParaRPr lang="en-US" sz="1300" dirty="0"/>
          </a:p>
        </p:txBody>
      </p:sp>
      <p:sp>
        <p:nvSpPr>
          <p:cNvPr id="6" name="Shape 4"/>
          <p:cNvSpPr/>
          <p:nvPr/>
        </p:nvSpPr>
        <p:spPr>
          <a:xfrm>
            <a:off x="640080" y="1920240"/>
            <a:ext cx="10881360" cy="640080"/>
          </a:xfrm>
          <a:prstGeom prst="rect">
            <a:avLst/>
          </a:prstGeom>
          <a:solidFill>
            <a:srgbClr val="002D59"/>
          </a:solidFill>
          <a:ln/>
        </p:spPr>
      </p:sp>
      <p:sp>
        <p:nvSpPr>
          <p:cNvPr id="7" name="Shape 5"/>
          <p:cNvSpPr/>
          <p:nvPr/>
        </p:nvSpPr>
        <p:spPr>
          <a:xfrm>
            <a:off x="3566160" y="2496312"/>
            <a:ext cx="2651760" cy="64008"/>
          </a:xfrm>
          <a:prstGeom prst="rect">
            <a:avLst/>
          </a:prstGeom>
          <a:solidFill>
            <a:srgbClr val="B23B3B"/>
          </a:solidFill>
          <a:ln/>
        </p:spPr>
      </p:sp>
      <p:sp>
        <p:nvSpPr>
          <p:cNvPr id="8" name="Shape 6"/>
          <p:cNvSpPr/>
          <p:nvPr/>
        </p:nvSpPr>
        <p:spPr>
          <a:xfrm>
            <a:off x="6217920" y="2496312"/>
            <a:ext cx="2651760" cy="64008"/>
          </a:xfrm>
          <a:prstGeom prst="rect">
            <a:avLst/>
          </a:prstGeom>
          <a:solidFill>
            <a:srgbClr val="117ACA"/>
          </a:solidFill>
          <a:ln/>
        </p:spPr>
      </p:sp>
      <p:sp>
        <p:nvSpPr>
          <p:cNvPr id="9" name="Shape 7"/>
          <p:cNvSpPr/>
          <p:nvPr/>
        </p:nvSpPr>
        <p:spPr>
          <a:xfrm>
            <a:off x="8869680" y="2496312"/>
            <a:ext cx="2651760" cy="64008"/>
          </a:xfrm>
          <a:prstGeom prst="rect">
            <a:avLst/>
          </a:prstGeom>
          <a:solidFill>
            <a:srgbClr val="1B7F9E"/>
          </a:solidFill>
          <a:ln/>
        </p:spPr>
      </p:sp>
      <p:sp>
        <p:nvSpPr>
          <p:cNvPr id="10" name="Text 8"/>
          <p:cNvSpPr/>
          <p:nvPr/>
        </p:nvSpPr>
        <p:spPr>
          <a:xfrm>
            <a:off x="822960" y="1920240"/>
            <a:ext cx="2560320" cy="64008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SCENARIO</a:t>
            </a:r>
            <a:endParaRPr lang="en-US" sz="1100" dirty="0"/>
          </a:p>
        </p:txBody>
      </p:sp>
      <p:sp>
        <p:nvSpPr>
          <p:cNvPr id="11" name="Text 9"/>
          <p:cNvSpPr/>
          <p:nvPr/>
        </p:nvSpPr>
        <p:spPr>
          <a:xfrm>
            <a:off x="3703320" y="1965960"/>
            <a:ext cx="23774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skills.md</a:t>
            </a:r>
            <a:endParaRPr lang="en-US" sz="1300" dirty="0"/>
          </a:p>
          <a:p>
            <a:pPr marL="0" indent="0" algn="ctr">
              <a:buNone/>
            </a:pPr>
            <a:r>
              <a:rPr lang="en-US" sz="1000" i="1" dirty="0">
                <a:solidFill>
                  <a:srgbClr val="C8D6E5"/>
                </a:solidFill>
                <a:latin typeface="Calibri" pitchFamily="34" charset="0"/>
                <a:ea typeface="Calibri" pitchFamily="34" charset="-122"/>
                <a:cs typeface="Calibri" pitchFamily="34" charset="-120"/>
              </a:rPr>
              <a:t>naive injection</a:t>
            </a:r>
            <a:endParaRPr lang="en-US" sz="1300" dirty="0"/>
          </a:p>
        </p:txBody>
      </p:sp>
      <p:sp>
        <p:nvSpPr>
          <p:cNvPr id="12" name="Text 10"/>
          <p:cNvSpPr/>
          <p:nvPr/>
        </p:nvSpPr>
        <p:spPr>
          <a:xfrm>
            <a:off x="6355080" y="1965960"/>
            <a:ext cx="23774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skills.md</a:t>
            </a:r>
            <a:endParaRPr lang="en-US" sz="1300" dirty="0"/>
          </a:p>
          <a:p>
            <a:pPr marL="0" indent="0" algn="ctr">
              <a:buNone/>
            </a:pPr>
            <a:r>
              <a:rPr lang="en-US" sz="1000" i="1" dirty="0">
                <a:solidFill>
                  <a:srgbClr val="C8D6E5"/>
                </a:solidFill>
                <a:latin typeface="Calibri" pitchFamily="34" charset="0"/>
                <a:ea typeface="Calibri" pitchFamily="34" charset="-122"/>
                <a:cs typeface="Calibri" pitchFamily="34" charset="-120"/>
              </a:rPr>
              <a:t>progressive</a:t>
            </a:r>
            <a:endParaRPr lang="en-US" sz="1300" dirty="0"/>
          </a:p>
        </p:txBody>
      </p:sp>
      <p:sp>
        <p:nvSpPr>
          <p:cNvPr id="13" name="Text 11"/>
          <p:cNvSpPr/>
          <p:nvPr/>
        </p:nvSpPr>
        <p:spPr>
          <a:xfrm>
            <a:off x="9006840" y="1965960"/>
            <a:ext cx="237744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MCP server</a:t>
            </a:r>
            <a:endParaRPr lang="en-US" sz="1300" dirty="0"/>
          </a:p>
          <a:p>
            <a:pPr marL="0" indent="0" algn="ctr">
              <a:buNone/>
            </a:pPr>
            <a:r>
              <a:rPr lang="en-US" sz="1000" i="1" dirty="0">
                <a:solidFill>
                  <a:srgbClr val="C8D6E5"/>
                </a:solidFill>
                <a:latin typeface="Calibri" pitchFamily="34" charset="0"/>
                <a:ea typeface="Calibri" pitchFamily="34" charset="-122"/>
                <a:cs typeface="Calibri" pitchFamily="34" charset="-120"/>
              </a:rPr>
              <a:t>tool-based</a:t>
            </a:r>
            <a:endParaRPr lang="en-US" sz="1300" dirty="0"/>
          </a:p>
        </p:txBody>
      </p:sp>
      <p:sp>
        <p:nvSpPr>
          <p:cNvPr id="14" name="Shape 12"/>
          <p:cNvSpPr/>
          <p:nvPr/>
        </p:nvSpPr>
        <p:spPr>
          <a:xfrm>
            <a:off x="640080" y="3337560"/>
            <a:ext cx="10881360" cy="0"/>
          </a:xfrm>
          <a:prstGeom prst="line">
            <a:avLst/>
          </a:prstGeom>
          <a:noFill/>
          <a:ln w="9525">
            <a:solidFill>
              <a:srgbClr val="E6E9EB"/>
            </a:solidFill>
            <a:prstDash val="solid"/>
          </a:ln>
        </p:spPr>
      </p:sp>
      <p:sp>
        <p:nvSpPr>
          <p:cNvPr id="15" name="Text 13"/>
          <p:cNvSpPr/>
          <p:nvPr/>
        </p:nvSpPr>
        <p:spPr>
          <a:xfrm>
            <a:off x="868680" y="2651760"/>
            <a:ext cx="246888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Single API call</a:t>
            </a:r>
            <a:endParaRPr lang="en-US" sz="1400" dirty="0"/>
          </a:p>
        </p:txBody>
      </p:sp>
      <p:sp>
        <p:nvSpPr>
          <p:cNvPr id="16" name="Text 14"/>
          <p:cNvSpPr/>
          <p:nvPr/>
        </p:nvSpPr>
        <p:spPr>
          <a:xfrm>
            <a:off x="868680" y="2971800"/>
            <a:ext cx="2468880" cy="292608"/>
          </a:xfrm>
          <a:prstGeom prst="rect">
            <a:avLst/>
          </a:prstGeom>
          <a:noFill/>
          <a:ln/>
        </p:spPr>
        <p:txBody>
          <a:bodyPr wrap="square" lIns="0" tIns="0" rIns="0" bIns="0" rtlCol="0" anchor="ctr"/>
          <a:lstStyle/>
          <a:p>
            <a:pPr marL="0" indent="0">
              <a:buNone/>
            </a:pPr>
            <a:r>
              <a:rPr lang="en-US" sz="1100" i="1" dirty="0">
                <a:solidFill>
                  <a:srgbClr val="5A6066"/>
                </a:solidFill>
                <a:latin typeface="Calibri" pitchFamily="34" charset="0"/>
                <a:ea typeface="Calibri" pitchFamily="34" charset="-122"/>
                <a:cs typeface="Calibri" pitchFamily="34" charset="-120"/>
              </a:rPr>
              <a:t>1 turn</a:t>
            </a:r>
            <a:endParaRPr lang="en-US" sz="1100" dirty="0"/>
          </a:p>
        </p:txBody>
      </p:sp>
      <p:sp>
        <p:nvSpPr>
          <p:cNvPr id="17" name="Text 15"/>
          <p:cNvSpPr/>
          <p:nvPr/>
        </p:nvSpPr>
        <p:spPr>
          <a:xfrm>
            <a:off x="3703320" y="2670048"/>
            <a:ext cx="2377440" cy="557784"/>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~800</a:t>
            </a:r>
            <a:endParaRPr lang="en-US" sz="2200" dirty="0"/>
          </a:p>
        </p:txBody>
      </p:sp>
      <p:sp>
        <p:nvSpPr>
          <p:cNvPr id="18" name="Text 16"/>
          <p:cNvSpPr/>
          <p:nvPr/>
        </p:nvSpPr>
        <p:spPr>
          <a:xfrm>
            <a:off x="6355080" y="2670048"/>
            <a:ext cx="2377440" cy="557784"/>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~850</a:t>
            </a:r>
            <a:endParaRPr lang="en-US" sz="2200" dirty="0"/>
          </a:p>
        </p:txBody>
      </p:sp>
      <p:sp>
        <p:nvSpPr>
          <p:cNvPr id="19" name="Shape 17"/>
          <p:cNvSpPr/>
          <p:nvPr/>
        </p:nvSpPr>
        <p:spPr>
          <a:xfrm>
            <a:off x="9098280" y="2670048"/>
            <a:ext cx="2194560" cy="557784"/>
          </a:xfrm>
          <a:prstGeom prst="rect">
            <a:avLst/>
          </a:prstGeom>
          <a:solidFill>
            <a:srgbClr val="E8F4EC"/>
          </a:solidFill>
          <a:ln/>
        </p:spPr>
      </p:sp>
      <p:sp>
        <p:nvSpPr>
          <p:cNvPr id="20" name="Shape 18"/>
          <p:cNvSpPr/>
          <p:nvPr/>
        </p:nvSpPr>
        <p:spPr>
          <a:xfrm>
            <a:off x="9235440" y="2788920"/>
            <a:ext cx="201168" cy="201168"/>
          </a:xfrm>
          <a:prstGeom prst="ellipse">
            <a:avLst/>
          </a:prstGeom>
          <a:solidFill>
            <a:srgbClr val="4A7C59"/>
          </a:solidFill>
          <a:ln/>
        </p:spPr>
      </p:sp>
      <p:sp>
        <p:nvSpPr>
          <p:cNvPr id="21" name="Text 19"/>
          <p:cNvSpPr/>
          <p:nvPr/>
        </p:nvSpPr>
        <p:spPr>
          <a:xfrm>
            <a:off x="9235440" y="2770632"/>
            <a:ext cx="201168"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9006840" y="2670048"/>
            <a:ext cx="2377440" cy="557784"/>
          </a:xfrm>
          <a:prstGeom prst="rect">
            <a:avLst/>
          </a:prstGeom>
          <a:noFill/>
          <a:ln/>
        </p:spPr>
        <p:txBody>
          <a:bodyPr wrap="square" lIns="0" tIns="0" rIns="0" bIns="0" rtlCol="0" anchor="ctr"/>
          <a:lstStyle/>
          <a:p>
            <a:pPr marL="0" indent="0" algn="ctr">
              <a:buNone/>
            </a:pPr>
            <a:r>
              <a:rPr lang="en-US" sz="2200" b="1" dirty="0">
                <a:solidFill>
                  <a:srgbClr val="4A7C59"/>
                </a:solidFill>
                <a:latin typeface="Georgia" pitchFamily="34" charset="0"/>
                <a:ea typeface="Georgia" pitchFamily="34" charset="-122"/>
                <a:cs typeface="Georgia" pitchFamily="34" charset="-120"/>
              </a:rPr>
              <a:t>~350</a:t>
            </a:r>
            <a:endParaRPr lang="en-US" sz="2200" dirty="0"/>
          </a:p>
        </p:txBody>
      </p:sp>
      <p:sp>
        <p:nvSpPr>
          <p:cNvPr id="23" name="Shape 21"/>
          <p:cNvSpPr/>
          <p:nvPr/>
        </p:nvSpPr>
        <p:spPr>
          <a:xfrm>
            <a:off x="640080" y="3337560"/>
            <a:ext cx="10881360" cy="777240"/>
          </a:xfrm>
          <a:prstGeom prst="rect">
            <a:avLst/>
          </a:prstGeom>
          <a:solidFill>
            <a:srgbClr val="F4F6F8"/>
          </a:solidFill>
          <a:ln/>
        </p:spPr>
      </p:sp>
      <p:sp>
        <p:nvSpPr>
          <p:cNvPr id="24" name="Shape 22"/>
          <p:cNvSpPr/>
          <p:nvPr/>
        </p:nvSpPr>
        <p:spPr>
          <a:xfrm>
            <a:off x="640080" y="4114800"/>
            <a:ext cx="10881360" cy="0"/>
          </a:xfrm>
          <a:prstGeom prst="line">
            <a:avLst/>
          </a:prstGeom>
          <a:noFill/>
          <a:ln w="9525">
            <a:solidFill>
              <a:srgbClr val="E6E9EB"/>
            </a:solidFill>
            <a:prstDash val="solid"/>
          </a:ln>
        </p:spPr>
      </p:sp>
      <p:sp>
        <p:nvSpPr>
          <p:cNvPr id="25" name="Text 23"/>
          <p:cNvSpPr/>
          <p:nvPr/>
        </p:nvSpPr>
        <p:spPr>
          <a:xfrm>
            <a:off x="868680" y="3429000"/>
            <a:ext cx="246888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5-step workflow</a:t>
            </a:r>
            <a:endParaRPr lang="en-US" sz="1400" dirty="0"/>
          </a:p>
        </p:txBody>
      </p:sp>
      <p:sp>
        <p:nvSpPr>
          <p:cNvPr id="26" name="Text 24"/>
          <p:cNvSpPr/>
          <p:nvPr/>
        </p:nvSpPr>
        <p:spPr>
          <a:xfrm>
            <a:off x="868680" y="3749040"/>
            <a:ext cx="2468880" cy="292608"/>
          </a:xfrm>
          <a:prstGeom prst="rect">
            <a:avLst/>
          </a:prstGeom>
          <a:noFill/>
          <a:ln/>
        </p:spPr>
        <p:txBody>
          <a:bodyPr wrap="square" lIns="0" tIns="0" rIns="0" bIns="0" rtlCol="0" anchor="ctr"/>
          <a:lstStyle/>
          <a:p>
            <a:pPr marL="0" indent="0">
              <a:buNone/>
            </a:pPr>
            <a:r>
              <a:rPr lang="en-US" sz="1100" i="1" dirty="0">
                <a:solidFill>
                  <a:srgbClr val="5A6066"/>
                </a:solidFill>
                <a:latin typeface="Calibri" pitchFamily="34" charset="0"/>
                <a:ea typeface="Calibri" pitchFamily="34" charset="-122"/>
                <a:cs typeface="Calibri" pitchFamily="34" charset="-120"/>
              </a:rPr>
              <a:t>5 turns</a:t>
            </a:r>
            <a:endParaRPr lang="en-US" sz="1100" dirty="0"/>
          </a:p>
        </p:txBody>
      </p:sp>
      <p:sp>
        <p:nvSpPr>
          <p:cNvPr id="27" name="Text 25"/>
          <p:cNvSpPr/>
          <p:nvPr/>
        </p:nvSpPr>
        <p:spPr>
          <a:xfrm>
            <a:off x="3703320" y="3447288"/>
            <a:ext cx="2377440" cy="557784"/>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~10,000</a:t>
            </a:r>
            <a:endParaRPr lang="en-US" sz="2200" dirty="0"/>
          </a:p>
        </p:txBody>
      </p:sp>
      <p:sp>
        <p:nvSpPr>
          <p:cNvPr id="28" name="Shape 26"/>
          <p:cNvSpPr/>
          <p:nvPr/>
        </p:nvSpPr>
        <p:spPr>
          <a:xfrm>
            <a:off x="6446520" y="3447288"/>
            <a:ext cx="2194560" cy="557784"/>
          </a:xfrm>
          <a:prstGeom prst="rect">
            <a:avLst/>
          </a:prstGeom>
          <a:solidFill>
            <a:srgbClr val="E8F4EC"/>
          </a:solidFill>
          <a:ln/>
        </p:spPr>
      </p:sp>
      <p:sp>
        <p:nvSpPr>
          <p:cNvPr id="29" name="Shape 27"/>
          <p:cNvSpPr/>
          <p:nvPr/>
        </p:nvSpPr>
        <p:spPr>
          <a:xfrm>
            <a:off x="6583680" y="3566160"/>
            <a:ext cx="201168" cy="201168"/>
          </a:xfrm>
          <a:prstGeom prst="ellipse">
            <a:avLst/>
          </a:prstGeom>
          <a:solidFill>
            <a:srgbClr val="4A7C59"/>
          </a:solidFill>
          <a:ln/>
        </p:spPr>
      </p:sp>
      <p:sp>
        <p:nvSpPr>
          <p:cNvPr id="30" name="Text 28"/>
          <p:cNvSpPr/>
          <p:nvPr/>
        </p:nvSpPr>
        <p:spPr>
          <a:xfrm>
            <a:off x="6583680" y="3547872"/>
            <a:ext cx="201168"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6355080" y="3447288"/>
            <a:ext cx="2377440" cy="557784"/>
          </a:xfrm>
          <a:prstGeom prst="rect">
            <a:avLst/>
          </a:prstGeom>
          <a:noFill/>
          <a:ln/>
        </p:spPr>
        <p:txBody>
          <a:bodyPr wrap="square" lIns="0" tIns="0" rIns="0" bIns="0" rtlCol="0" anchor="ctr"/>
          <a:lstStyle/>
          <a:p>
            <a:pPr marL="0" indent="0" algn="ctr">
              <a:buNone/>
            </a:pPr>
            <a:r>
              <a:rPr lang="en-US" sz="2200" b="1" dirty="0">
                <a:solidFill>
                  <a:srgbClr val="4A7C59"/>
                </a:solidFill>
                <a:latin typeface="Georgia" pitchFamily="34" charset="0"/>
                <a:ea typeface="Georgia" pitchFamily="34" charset="-122"/>
                <a:cs typeface="Georgia" pitchFamily="34" charset="-120"/>
              </a:rPr>
              <a:t>~2,000</a:t>
            </a:r>
            <a:endParaRPr lang="en-US" sz="2200" dirty="0"/>
          </a:p>
        </p:txBody>
      </p:sp>
      <p:sp>
        <p:nvSpPr>
          <p:cNvPr id="32" name="Text 30"/>
          <p:cNvSpPr/>
          <p:nvPr/>
        </p:nvSpPr>
        <p:spPr>
          <a:xfrm>
            <a:off x="9006840" y="3447288"/>
            <a:ext cx="2377440" cy="557784"/>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~2,400</a:t>
            </a:r>
            <a:endParaRPr lang="en-US" sz="2200" dirty="0"/>
          </a:p>
        </p:txBody>
      </p:sp>
      <p:sp>
        <p:nvSpPr>
          <p:cNvPr id="33" name="Shape 31"/>
          <p:cNvSpPr/>
          <p:nvPr/>
        </p:nvSpPr>
        <p:spPr>
          <a:xfrm>
            <a:off x="640080" y="4892040"/>
            <a:ext cx="10881360" cy="0"/>
          </a:xfrm>
          <a:prstGeom prst="line">
            <a:avLst/>
          </a:prstGeom>
          <a:noFill/>
          <a:ln w="9525">
            <a:solidFill>
              <a:srgbClr val="E6E9EB"/>
            </a:solidFill>
            <a:prstDash val="solid"/>
          </a:ln>
        </p:spPr>
      </p:sp>
      <p:sp>
        <p:nvSpPr>
          <p:cNvPr id="34" name="Text 32"/>
          <p:cNvSpPr/>
          <p:nvPr/>
        </p:nvSpPr>
        <p:spPr>
          <a:xfrm>
            <a:off x="868680" y="4206240"/>
            <a:ext cx="2468880" cy="365760"/>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20-turn stateful chat</a:t>
            </a:r>
            <a:endParaRPr lang="en-US" sz="1400" dirty="0"/>
          </a:p>
        </p:txBody>
      </p:sp>
      <p:sp>
        <p:nvSpPr>
          <p:cNvPr id="35" name="Text 33"/>
          <p:cNvSpPr/>
          <p:nvPr/>
        </p:nvSpPr>
        <p:spPr>
          <a:xfrm>
            <a:off x="868680" y="4526280"/>
            <a:ext cx="2468880" cy="292608"/>
          </a:xfrm>
          <a:prstGeom prst="rect">
            <a:avLst/>
          </a:prstGeom>
          <a:noFill/>
          <a:ln/>
        </p:spPr>
        <p:txBody>
          <a:bodyPr wrap="square" lIns="0" tIns="0" rIns="0" bIns="0" rtlCol="0" anchor="ctr"/>
          <a:lstStyle/>
          <a:p>
            <a:pPr marL="0" indent="0">
              <a:buNone/>
            </a:pPr>
            <a:r>
              <a:rPr lang="en-US" sz="1100" i="1" dirty="0">
                <a:solidFill>
                  <a:srgbClr val="5A6066"/>
                </a:solidFill>
                <a:latin typeface="Calibri" pitchFamily="34" charset="0"/>
                <a:ea typeface="Calibri" pitchFamily="34" charset="-122"/>
                <a:cs typeface="Calibri" pitchFamily="34" charset="-120"/>
              </a:rPr>
              <a:t>long session</a:t>
            </a:r>
            <a:endParaRPr lang="en-US" sz="1100" dirty="0"/>
          </a:p>
        </p:txBody>
      </p:sp>
      <p:sp>
        <p:nvSpPr>
          <p:cNvPr id="36" name="Text 34"/>
          <p:cNvSpPr/>
          <p:nvPr/>
        </p:nvSpPr>
        <p:spPr>
          <a:xfrm>
            <a:off x="3703320" y="4224528"/>
            <a:ext cx="2377440" cy="557784"/>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~30,000</a:t>
            </a:r>
            <a:endParaRPr lang="en-US" sz="2200" dirty="0"/>
          </a:p>
        </p:txBody>
      </p:sp>
      <p:sp>
        <p:nvSpPr>
          <p:cNvPr id="37" name="Text 35"/>
          <p:cNvSpPr/>
          <p:nvPr/>
        </p:nvSpPr>
        <p:spPr>
          <a:xfrm>
            <a:off x="6355080" y="4224528"/>
            <a:ext cx="2377440" cy="557784"/>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~15,000*</a:t>
            </a:r>
            <a:endParaRPr lang="en-US" sz="2200" dirty="0"/>
          </a:p>
        </p:txBody>
      </p:sp>
      <p:sp>
        <p:nvSpPr>
          <p:cNvPr id="38" name="Shape 36"/>
          <p:cNvSpPr/>
          <p:nvPr/>
        </p:nvSpPr>
        <p:spPr>
          <a:xfrm>
            <a:off x="9098280" y="4224528"/>
            <a:ext cx="2194560" cy="557784"/>
          </a:xfrm>
          <a:prstGeom prst="rect">
            <a:avLst/>
          </a:prstGeom>
          <a:solidFill>
            <a:srgbClr val="E8F4EC"/>
          </a:solidFill>
          <a:ln/>
        </p:spPr>
      </p:sp>
      <p:sp>
        <p:nvSpPr>
          <p:cNvPr id="39" name="Shape 37"/>
          <p:cNvSpPr/>
          <p:nvPr/>
        </p:nvSpPr>
        <p:spPr>
          <a:xfrm>
            <a:off x="9235440" y="4343400"/>
            <a:ext cx="201168" cy="201168"/>
          </a:xfrm>
          <a:prstGeom prst="ellipse">
            <a:avLst/>
          </a:prstGeom>
          <a:solidFill>
            <a:srgbClr val="4A7C59"/>
          </a:solidFill>
          <a:ln/>
        </p:spPr>
      </p:sp>
      <p:sp>
        <p:nvSpPr>
          <p:cNvPr id="40" name="Text 38"/>
          <p:cNvSpPr/>
          <p:nvPr/>
        </p:nvSpPr>
        <p:spPr>
          <a:xfrm>
            <a:off x="9235440" y="4325112"/>
            <a:ext cx="201168" cy="2377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9006840" y="4224528"/>
            <a:ext cx="2377440" cy="557784"/>
          </a:xfrm>
          <a:prstGeom prst="rect">
            <a:avLst/>
          </a:prstGeom>
          <a:noFill/>
          <a:ln/>
        </p:spPr>
        <p:txBody>
          <a:bodyPr wrap="square" lIns="0" tIns="0" rIns="0" bIns="0" rtlCol="0" anchor="ctr"/>
          <a:lstStyle/>
          <a:p>
            <a:pPr marL="0" indent="0" algn="ctr">
              <a:buNone/>
            </a:pPr>
            <a:r>
              <a:rPr lang="en-US" sz="2200" b="1" dirty="0">
                <a:solidFill>
                  <a:srgbClr val="4A7C59"/>
                </a:solidFill>
                <a:latin typeface="Georgia" pitchFamily="34" charset="0"/>
                <a:ea typeface="Georgia" pitchFamily="34" charset="-122"/>
                <a:cs typeface="Georgia" pitchFamily="34" charset="-120"/>
              </a:rPr>
              <a:t>~8,000*</a:t>
            </a:r>
            <a:endParaRPr lang="en-US" sz="2200" dirty="0"/>
          </a:p>
        </p:txBody>
      </p:sp>
      <p:sp>
        <p:nvSpPr>
          <p:cNvPr id="42" name="Shape 40"/>
          <p:cNvSpPr/>
          <p:nvPr/>
        </p:nvSpPr>
        <p:spPr>
          <a:xfrm>
            <a:off x="640080" y="5166360"/>
            <a:ext cx="10881360" cy="685800"/>
          </a:xfrm>
          <a:prstGeom prst="rect">
            <a:avLst/>
          </a:prstGeom>
          <a:solidFill>
            <a:srgbClr val="002D59"/>
          </a:solidFill>
          <a:ln/>
        </p:spPr>
      </p:sp>
      <p:sp>
        <p:nvSpPr>
          <p:cNvPr id="43" name="Shape 41"/>
          <p:cNvSpPr/>
          <p:nvPr/>
        </p:nvSpPr>
        <p:spPr>
          <a:xfrm>
            <a:off x="640080" y="5166360"/>
            <a:ext cx="109728" cy="685800"/>
          </a:xfrm>
          <a:prstGeom prst="rect">
            <a:avLst/>
          </a:prstGeom>
          <a:solidFill>
            <a:srgbClr val="117ACA"/>
          </a:solidFill>
          <a:ln/>
        </p:spPr>
      </p:sp>
      <p:sp>
        <p:nvSpPr>
          <p:cNvPr id="44" name="Text 42"/>
          <p:cNvSpPr/>
          <p:nvPr/>
        </p:nvSpPr>
        <p:spPr>
          <a:xfrm>
            <a:off x="1005840" y="5239512"/>
            <a:ext cx="2286000" cy="256032"/>
          </a:xfrm>
          <a:prstGeom prst="rect">
            <a:avLst/>
          </a:prstGeom>
          <a:noFill/>
          <a:ln/>
        </p:spPr>
        <p:txBody>
          <a:bodyPr wrap="square" lIns="0" tIns="0" rIns="0" bIns="0" rtlCol="0" anchor="ctr"/>
          <a:lstStyle/>
          <a:p>
            <a:pPr marL="0" indent="0">
              <a:buNone/>
            </a:pPr>
            <a:r>
              <a:rPr lang="en-US" sz="1000" b="1" kern="0" spc="400" dirty="0">
                <a:solidFill>
                  <a:srgbClr val="117ACA"/>
                </a:solidFill>
                <a:latin typeface="Calibri" pitchFamily="34" charset="0"/>
                <a:ea typeface="Calibri" pitchFamily="34" charset="-122"/>
                <a:cs typeface="Calibri" pitchFamily="34" charset="-120"/>
              </a:rPr>
              <a:t>KEY INSIGHT</a:t>
            </a:r>
            <a:endParaRPr lang="en-US" sz="1000" dirty="0"/>
          </a:p>
        </p:txBody>
      </p:sp>
      <p:sp>
        <p:nvSpPr>
          <p:cNvPr id="45" name="Text 43"/>
          <p:cNvSpPr/>
          <p:nvPr/>
        </p:nvSpPr>
        <p:spPr>
          <a:xfrm>
            <a:off x="1005840" y="5458968"/>
            <a:ext cx="10332720" cy="36576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For long stateful sessions, MCP wins because state lives outside the context window — not because tool defs are cheaper than skill bodies.</a:t>
            </a:r>
            <a:endParaRPr lang="en-US" sz="1200" dirty="0"/>
          </a:p>
        </p:txBody>
      </p:sp>
      <p:sp>
        <p:nvSpPr>
          <p:cNvPr id="46" name="Text 44"/>
          <p:cNvSpPr/>
          <p:nvPr/>
        </p:nvSpPr>
        <p:spPr>
          <a:xfrm>
            <a:off x="640080" y="5943600"/>
            <a:ext cx="10881360" cy="228600"/>
          </a:xfrm>
          <a:prstGeom prst="rect">
            <a:avLst/>
          </a:prstGeom>
          <a:noFill/>
          <a:ln/>
        </p:spPr>
        <p:txBody>
          <a:bodyPr wrap="square" lIns="0" tIns="0" rIns="0" bIns="0" rtlCol="0" anchor="ctr"/>
          <a:lstStyle/>
          <a:p>
            <a:pPr marL="0" indent="0" algn="r">
              <a:buNone/>
            </a:pPr>
            <a:r>
              <a:rPr lang="en-US" sz="900" i="1" dirty="0">
                <a:solidFill>
                  <a:srgbClr val="5A6066"/>
                </a:solidFill>
                <a:latin typeface="Calibri" pitchFamily="34" charset="0"/>
                <a:ea typeface="Calibri" pitchFamily="34" charset="-122"/>
                <a:cs typeface="Calibri" pitchFamily="34" charset="-120"/>
              </a:rPr>
              <a:t>* progressive skills still pay context bloat from API responses; MCP holds intermediate state server-side</a:t>
            </a:r>
            <a:endParaRPr lang="en-US" sz="900" dirty="0"/>
          </a:p>
        </p:txBody>
      </p:sp>
      <p:sp>
        <p:nvSpPr>
          <p:cNvPr id="47" name="Text 45"/>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09 / 13</a:t>
            </a:r>
            <a:endParaRPr lang="en-US" sz="1000" dirty="0"/>
          </a:p>
        </p:txBody>
      </p:sp>
      <p:sp>
        <p:nvSpPr>
          <p:cNvPr id="48" name="Text 46"/>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USE CASE COMPARISON</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Which one for which job?</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640080" y="1783080"/>
            <a:ext cx="10881360" cy="457200"/>
          </a:xfrm>
          <a:prstGeom prst="rect">
            <a:avLst/>
          </a:prstGeom>
          <a:solidFill>
            <a:srgbClr val="002D59"/>
          </a:solidFill>
          <a:ln/>
        </p:spPr>
      </p:sp>
      <p:sp>
        <p:nvSpPr>
          <p:cNvPr id="6" name="Text 4"/>
          <p:cNvSpPr/>
          <p:nvPr/>
        </p:nvSpPr>
        <p:spPr>
          <a:xfrm>
            <a:off x="868680" y="1783080"/>
            <a:ext cx="3657600"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USE CASE</a:t>
            </a:r>
            <a:endParaRPr lang="en-US" sz="1200" dirty="0"/>
          </a:p>
        </p:txBody>
      </p:sp>
      <p:sp>
        <p:nvSpPr>
          <p:cNvPr id="7" name="Text 5"/>
          <p:cNvSpPr/>
          <p:nvPr/>
        </p:nvSpPr>
        <p:spPr>
          <a:xfrm>
            <a:off x="4983480" y="1783080"/>
            <a:ext cx="2926080"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BEST FIT</a:t>
            </a:r>
            <a:endParaRPr lang="en-US" sz="1200" dirty="0"/>
          </a:p>
        </p:txBody>
      </p:sp>
      <p:sp>
        <p:nvSpPr>
          <p:cNvPr id="8" name="Text 6"/>
          <p:cNvSpPr/>
          <p:nvPr/>
        </p:nvSpPr>
        <p:spPr>
          <a:xfrm>
            <a:off x="8366760" y="1783080"/>
            <a:ext cx="2926080"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WHY</a:t>
            </a:r>
            <a:endParaRPr lang="en-US" sz="1200" dirty="0"/>
          </a:p>
        </p:txBody>
      </p:sp>
      <p:sp>
        <p:nvSpPr>
          <p:cNvPr id="9" name="Shape 7"/>
          <p:cNvSpPr/>
          <p:nvPr/>
        </p:nvSpPr>
        <p:spPr>
          <a:xfrm>
            <a:off x="640080" y="2807208"/>
            <a:ext cx="10881360" cy="0"/>
          </a:xfrm>
          <a:prstGeom prst="line">
            <a:avLst/>
          </a:prstGeom>
          <a:noFill/>
          <a:ln w="9525">
            <a:solidFill>
              <a:srgbClr val="E6E9EB"/>
            </a:solidFill>
            <a:prstDash val="solid"/>
          </a:ln>
        </p:spPr>
      </p:sp>
      <p:sp>
        <p:nvSpPr>
          <p:cNvPr id="10" name="Text 8"/>
          <p:cNvSpPr/>
          <p:nvPr/>
        </p:nvSpPr>
        <p:spPr>
          <a:xfrm>
            <a:off x="868680" y="2240280"/>
            <a:ext cx="3657600" cy="566928"/>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Single REST API call</a:t>
            </a:r>
            <a:endParaRPr lang="en-US" sz="1400" dirty="0"/>
          </a:p>
        </p:txBody>
      </p:sp>
      <p:sp>
        <p:nvSpPr>
          <p:cNvPr id="11" name="Shape 9"/>
          <p:cNvSpPr/>
          <p:nvPr/>
        </p:nvSpPr>
        <p:spPr>
          <a:xfrm>
            <a:off x="4983480" y="2350008"/>
            <a:ext cx="1691640" cy="347472"/>
          </a:xfrm>
          <a:prstGeom prst="rect">
            <a:avLst/>
          </a:prstGeom>
          <a:solidFill>
            <a:srgbClr val="117ACA"/>
          </a:solidFill>
          <a:ln/>
        </p:spPr>
      </p:sp>
      <p:sp>
        <p:nvSpPr>
          <p:cNvPr id="12" name="Text 10"/>
          <p:cNvSpPr/>
          <p:nvPr/>
        </p:nvSpPr>
        <p:spPr>
          <a:xfrm>
            <a:off x="4983480" y="2350008"/>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skills.md</a:t>
            </a:r>
            <a:endParaRPr lang="en-US" sz="1200" dirty="0"/>
          </a:p>
        </p:txBody>
      </p:sp>
      <p:sp>
        <p:nvSpPr>
          <p:cNvPr id="13" name="Text 11"/>
          <p:cNvSpPr/>
          <p:nvPr/>
        </p:nvSpPr>
        <p:spPr>
          <a:xfrm>
            <a:off x="8366760" y="2240280"/>
            <a:ext cx="2926080" cy="566928"/>
          </a:xfrm>
          <a:prstGeom prst="rect">
            <a:avLst/>
          </a:prstGeom>
          <a:noFill/>
          <a:ln/>
        </p:spPr>
        <p:txBody>
          <a:bodyPr wrap="square" lIns="0" tIns="0" rIns="0" bIns="0" rtlCol="0" anchor="ctr"/>
          <a:lstStyle/>
          <a:p>
            <a:pPr marL="0" indent="0">
              <a:buNone/>
            </a:pPr>
            <a:r>
              <a:rPr lang="en-US" sz="1200" i="1" dirty="0">
                <a:solidFill>
                  <a:srgbClr val="5A6066"/>
                </a:solidFill>
                <a:latin typeface="Calibri" pitchFamily="34" charset="0"/>
                <a:ea typeface="Calibri" pitchFamily="34" charset="-122"/>
                <a:cs typeface="Calibri" pitchFamily="34" charset="-120"/>
              </a:rPr>
              <a:t>Schema in the file. No infra needed.</a:t>
            </a:r>
            <a:endParaRPr lang="en-US" sz="1200" dirty="0"/>
          </a:p>
        </p:txBody>
      </p:sp>
      <p:sp>
        <p:nvSpPr>
          <p:cNvPr id="14" name="Shape 12"/>
          <p:cNvSpPr/>
          <p:nvPr/>
        </p:nvSpPr>
        <p:spPr>
          <a:xfrm>
            <a:off x="640080" y="2807208"/>
            <a:ext cx="10881360" cy="566928"/>
          </a:xfrm>
          <a:prstGeom prst="rect">
            <a:avLst/>
          </a:prstGeom>
          <a:solidFill>
            <a:srgbClr val="F4F6F8"/>
          </a:solidFill>
          <a:ln/>
        </p:spPr>
      </p:sp>
      <p:sp>
        <p:nvSpPr>
          <p:cNvPr id="15" name="Shape 13"/>
          <p:cNvSpPr/>
          <p:nvPr/>
        </p:nvSpPr>
        <p:spPr>
          <a:xfrm>
            <a:off x="640080" y="3374136"/>
            <a:ext cx="10881360" cy="0"/>
          </a:xfrm>
          <a:prstGeom prst="line">
            <a:avLst/>
          </a:prstGeom>
          <a:noFill/>
          <a:ln w="9525">
            <a:solidFill>
              <a:srgbClr val="E6E9EB"/>
            </a:solidFill>
            <a:prstDash val="solid"/>
          </a:ln>
        </p:spPr>
      </p:sp>
      <p:sp>
        <p:nvSpPr>
          <p:cNvPr id="16" name="Text 14"/>
          <p:cNvSpPr/>
          <p:nvPr/>
        </p:nvSpPr>
        <p:spPr>
          <a:xfrm>
            <a:off x="868680" y="2807208"/>
            <a:ext cx="3657600" cy="566928"/>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Multi-step workflows</a:t>
            </a:r>
            <a:endParaRPr lang="en-US" sz="1400" dirty="0"/>
          </a:p>
        </p:txBody>
      </p:sp>
      <p:sp>
        <p:nvSpPr>
          <p:cNvPr id="17" name="Shape 15"/>
          <p:cNvSpPr/>
          <p:nvPr/>
        </p:nvSpPr>
        <p:spPr>
          <a:xfrm>
            <a:off x="4983480" y="2916936"/>
            <a:ext cx="1691640" cy="347472"/>
          </a:xfrm>
          <a:prstGeom prst="rect">
            <a:avLst/>
          </a:prstGeom>
          <a:solidFill>
            <a:srgbClr val="1B7F9E"/>
          </a:solidFill>
          <a:ln/>
        </p:spPr>
      </p:sp>
      <p:sp>
        <p:nvSpPr>
          <p:cNvPr id="18" name="Text 16"/>
          <p:cNvSpPr/>
          <p:nvPr/>
        </p:nvSpPr>
        <p:spPr>
          <a:xfrm>
            <a:off x="4983480" y="2916936"/>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MCP server</a:t>
            </a:r>
            <a:endParaRPr lang="en-US" sz="1200" dirty="0"/>
          </a:p>
        </p:txBody>
      </p:sp>
      <p:sp>
        <p:nvSpPr>
          <p:cNvPr id="19" name="Text 17"/>
          <p:cNvSpPr/>
          <p:nvPr/>
        </p:nvSpPr>
        <p:spPr>
          <a:xfrm>
            <a:off x="8366760" y="2807208"/>
            <a:ext cx="2926080" cy="566928"/>
          </a:xfrm>
          <a:prstGeom prst="rect">
            <a:avLst/>
          </a:prstGeom>
          <a:noFill/>
          <a:ln/>
        </p:spPr>
        <p:txBody>
          <a:bodyPr wrap="square" lIns="0" tIns="0" rIns="0" bIns="0" rtlCol="0" anchor="ctr"/>
          <a:lstStyle/>
          <a:p>
            <a:pPr marL="0" indent="0">
              <a:buNone/>
            </a:pPr>
            <a:r>
              <a:rPr lang="en-US" sz="1200" i="1" dirty="0">
                <a:solidFill>
                  <a:srgbClr val="5A6066"/>
                </a:solidFill>
                <a:latin typeface="Calibri" pitchFamily="34" charset="0"/>
                <a:ea typeface="Calibri" pitchFamily="34" charset="-122"/>
                <a:cs typeface="Calibri" pitchFamily="34" charset="-120"/>
              </a:rPr>
              <a:t>Orchestration belongs server-side.</a:t>
            </a:r>
            <a:endParaRPr lang="en-US" sz="1200" dirty="0"/>
          </a:p>
        </p:txBody>
      </p:sp>
      <p:sp>
        <p:nvSpPr>
          <p:cNvPr id="20" name="Shape 18"/>
          <p:cNvSpPr/>
          <p:nvPr/>
        </p:nvSpPr>
        <p:spPr>
          <a:xfrm>
            <a:off x="640080" y="3941064"/>
            <a:ext cx="10881360" cy="0"/>
          </a:xfrm>
          <a:prstGeom prst="line">
            <a:avLst/>
          </a:prstGeom>
          <a:noFill/>
          <a:ln w="9525">
            <a:solidFill>
              <a:srgbClr val="E6E9EB"/>
            </a:solidFill>
            <a:prstDash val="solid"/>
          </a:ln>
        </p:spPr>
      </p:sp>
      <p:sp>
        <p:nvSpPr>
          <p:cNvPr id="21" name="Text 19"/>
          <p:cNvSpPr/>
          <p:nvPr/>
        </p:nvSpPr>
        <p:spPr>
          <a:xfrm>
            <a:off x="868680" y="3374136"/>
            <a:ext cx="3657600" cy="566928"/>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Stateful applications</a:t>
            </a:r>
            <a:endParaRPr lang="en-US" sz="1400" dirty="0"/>
          </a:p>
        </p:txBody>
      </p:sp>
      <p:sp>
        <p:nvSpPr>
          <p:cNvPr id="22" name="Shape 20"/>
          <p:cNvSpPr/>
          <p:nvPr/>
        </p:nvSpPr>
        <p:spPr>
          <a:xfrm>
            <a:off x="4983480" y="3483864"/>
            <a:ext cx="1691640" cy="347472"/>
          </a:xfrm>
          <a:prstGeom prst="rect">
            <a:avLst/>
          </a:prstGeom>
          <a:solidFill>
            <a:srgbClr val="1B7F9E"/>
          </a:solidFill>
          <a:ln/>
        </p:spPr>
      </p:sp>
      <p:sp>
        <p:nvSpPr>
          <p:cNvPr id="23" name="Text 21"/>
          <p:cNvSpPr/>
          <p:nvPr/>
        </p:nvSpPr>
        <p:spPr>
          <a:xfrm>
            <a:off x="4983480" y="3483864"/>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MCP server</a:t>
            </a:r>
            <a:endParaRPr lang="en-US" sz="1200" dirty="0"/>
          </a:p>
        </p:txBody>
      </p:sp>
      <p:sp>
        <p:nvSpPr>
          <p:cNvPr id="24" name="Text 22"/>
          <p:cNvSpPr/>
          <p:nvPr/>
        </p:nvSpPr>
        <p:spPr>
          <a:xfrm>
            <a:off x="8366760" y="3374136"/>
            <a:ext cx="2926080" cy="566928"/>
          </a:xfrm>
          <a:prstGeom prst="rect">
            <a:avLst/>
          </a:prstGeom>
          <a:noFill/>
          <a:ln/>
        </p:spPr>
        <p:txBody>
          <a:bodyPr wrap="square" lIns="0" tIns="0" rIns="0" bIns="0" rtlCol="0" anchor="ctr"/>
          <a:lstStyle/>
          <a:p>
            <a:pPr marL="0" indent="0">
              <a:buNone/>
            </a:pPr>
            <a:r>
              <a:rPr lang="en-US" sz="1200" i="1" dirty="0">
                <a:solidFill>
                  <a:srgbClr val="5A6066"/>
                </a:solidFill>
                <a:latin typeface="Calibri" pitchFamily="34" charset="0"/>
                <a:ea typeface="Calibri" pitchFamily="34" charset="-122"/>
                <a:cs typeface="Calibri" pitchFamily="34" charset="-120"/>
              </a:rPr>
              <a:t>Sessions, memory, persistent context.</a:t>
            </a:r>
            <a:endParaRPr lang="en-US" sz="1200" dirty="0"/>
          </a:p>
        </p:txBody>
      </p:sp>
      <p:sp>
        <p:nvSpPr>
          <p:cNvPr id="25" name="Shape 23"/>
          <p:cNvSpPr/>
          <p:nvPr/>
        </p:nvSpPr>
        <p:spPr>
          <a:xfrm>
            <a:off x="640080" y="3941064"/>
            <a:ext cx="10881360" cy="566928"/>
          </a:xfrm>
          <a:prstGeom prst="rect">
            <a:avLst/>
          </a:prstGeom>
          <a:solidFill>
            <a:srgbClr val="F4F6F8"/>
          </a:solidFill>
          <a:ln/>
        </p:spPr>
      </p:sp>
      <p:sp>
        <p:nvSpPr>
          <p:cNvPr id="26" name="Shape 24"/>
          <p:cNvSpPr/>
          <p:nvPr/>
        </p:nvSpPr>
        <p:spPr>
          <a:xfrm>
            <a:off x="640080" y="4507992"/>
            <a:ext cx="10881360" cy="0"/>
          </a:xfrm>
          <a:prstGeom prst="line">
            <a:avLst/>
          </a:prstGeom>
          <a:noFill/>
          <a:ln w="9525">
            <a:solidFill>
              <a:srgbClr val="E6E9EB"/>
            </a:solidFill>
            <a:prstDash val="solid"/>
          </a:ln>
        </p:spPr>
      </p:sp>
      <p:sp>
        <p:nvSpPr>
          <p:cNvPr id="27" name="Text 25"/>
          <p:cNvSpPr/>
          <p:nvPr/>
        </p:nvSpPr>
        <p:spPr>
          <a:xfrm>
            <a:off x="868680" y="3941064"/>
            <a:ext cx="3657600" cy="566928"/>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Quick prototypes &amp; demos</a:t>
            </a:r>
            <a:endParaRPr lang="en-US" sz="1400" dirty="0"/>
          </a:p>
        </p:txBody>
      </p:sp>
      <p:sp>
        <p:nvSpPr>
          <p:cNvPr id="28" name="Shape 26"/>
          <p:cNvSpPr/>
          <p:nvPr/>
        </p:nvSpPr>
        <p:spPr>
          <a:xfrm>
            <a:off x="4983480" y="4050792"/>
            <a:ext cx="1691640" cy="347472"/>
          </a:xfrm>
          <a:prstGeom prst="rect">
            <a:avLst/>
          </a:prstGeom>
          <a:solidFill>
            <a:srgbClr val="117ACA"/>
          </a:solidFill>
          <a:ln/>
        </p:spPr>
      </p:sp>
      <p:sp>
        <p:nvSpPr>
          <p:cNvPr id="29" name="Text 27"/>
          <p:cNvSpPr/>
          <p:nvPr/>
        </p:nvSpPr>
        <p:spPr>
          <a:xfrm>
            <a:off x="4983480" y="4050792"/>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skills.md</a:t>
            </a:r>
            <a:endParaRPr lang="en-US" sz="1200" dirty="0"/>
          </a:p>
        </p:txBody>
      </p:sp>
      <p:sp>
        <p:nvSpPr>
          <p:cNvPr id="30" name="Text 28"/>
          <p:cNvSpPr/>
          <p:nvPr/>
        </p:nvSpPr>
        <p:spPr>
          <a:xfrm>
            <a:off x="8366760" y="3941064"/>
            <a:ext cx="2926080" cy="566928"/>
          </a:xfrm>
          <a:prstGeom prst="rect">
            <a:avLst/>
          </a:prstGeom>
          <a:noFill/>
          <a:ln/>
        </p:spPr>
        <p:txBody>
          <a:bodyPr wrap="square" lIns="0" tIns="0" rIns="0" bIns="0" rtlCol="0" anchor="ctr"/>
          <a:lstStyle/>
          <a:p>
            <a:pPr marL="0" indent="0">
              <a:buNone/>
            </a:pPr>
            <a:r>
              <a:rPr lang="en-US" sz="1200" i="1" dirty="0">
                <a:solidFill>
                  <a:srgbClr val="5A6066"/>
                </a:solidFill>
                <a:latin typeface="Calibri" pitchFamily="34" charset="0"/>
                <a:ea typeface="Calibri" pitchFamily="34" charset="-122"/>
                <a:cs typeface="Calibri" pitchFamily="34" charset="-120"/>
              </a:rPr>
              <a:t>Edit a file, ship — zero deployment.</a:t>
            </a:r>
            <a:endParaRPr lang="en-US" sz="1200" dirty="0"/>
          </a:p>
        </p:txBody>
      </p:sp>
      <p:sp>
        <p:nvSpPr>
          <p:cNvPr id="31" name="Shape 29"/>
          <p:cNvSpPr/>
          <p:nvPr/>
        </p:nvSpPr>
        <p:spPr>
          <a:xfrm>
            <a:off x="640080" y="5074920"/>
            <a:ext cx="10881360" cy="0"/>
          </a:xfrm>
          <a:prstGeom prst="line">
            <a:avLst/>
          </a:prstGeom>
          <a:noFill/>
          <a:ln w="9525">
            <a:solidFill>
              <a:srgbClr val="E6E9EB"/>
            </a:solidFill>
            <a:prstDash val="solid"/>
          </a:ln>
        </p:spPr>
      </p:sp>
      <p:sp>
        <p:nvSpPr>
          <p:cNvPr id="32" name="Text 30"/>
          <p:cNvSpPr/>
          <p:nvPr/>
        </p:nvSpPr>
        <p:spPr>
          <a:xfrm>
            <a:off x="868680" y="4507992"/>
            <a:ext cx="3657600" cy="566928"/>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Multiple LLMs / clients</a:t>
            </a:r>
            <a:endParaRPr lang="en-US" sz="1400" dirty="0"/>
          </a:p>
        </p:txBody>
      </p:sp>
      <p:sp>
        <p:nvSpPr>
          <p:cNvPr id="33" name="Shape 31"/>
          <p:cNvSpPr/>
          <p:nvPr/>
        </p:nvSpPr>
        <p:spPr>
          <a:xfrm>
            <a:off x="4983480" y="4617720"/>
            <a:ext cx="1691640" cy="347472"/>
          </a:xfrm>
          <a:prstGeom prst="rect">
            <a:avLst/>
          </a:prstGeom>
          <a:solidFill>
            <a:srgbClr val="1B7F9E"/>
          </a:solidFill>
          <a:ln/>
        </p:spPr>
      </p:sp>
      <p:sp>
        <p:nvSpPr>
          <p:cNvPr id="34" name="Text 32"/>
          <p:cNvSpPr/>
          <p:nvPr/>
        </p:nvSpPr>
        <p:spPr>
          <a:xfrm>
            <a:off x="4983480" y="4617720"/>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MCP server</a:t>
            </a:r>
            <a:endParaRPr lang="en-US" sz="1200" dirty="0"/>
          </a:p>
        </p:txBody>
      </p:sp>
      <p:sp>
        <p:nvSpPr>
          <p:cNvPr id="35" name="Text 33"/>
          <p:cNvSpPr/>
          <p:nvPr/>
        </p:nvSpPr>
        <p:spPr>
          <a:xfrm>
            <a:off x="8366760" y="4507992"/>
            <a:ext cx="2926080" cy="566928"/>
          </a:xfrm>
          <a:prstGeom prst="rect">
            <a:avLst/>
          </a:prstGeom>
          <a:noFill/>
          <a:ln/>
        </p:spPr>
        <p:txBody>
          <a:bodyPr wrap="square" lIns="0" tIns="0" rIns="0" bIns="0" rtlCol="0" anchor="ctr"/>
          <a:lstStyle/>
          <a:p>
            <a:pPr marL="0" indent="0">
              <a:buNone/>
            </a:pPr>
            <a:r>
              <a:rPr lang="en-US" sz="1200" i="1" dirty="0">
                <a:solidFill>
                  <a:srgbClr val="5A6066"/>
                </a:solidFill>
                <a:latin typeface="Calibri" pitchFamily="34" charset="0"/>
                <a:ea typeface="Calibri" pitchFamily="34" charset="-122"/>
                <a:cs typeface="Calibri" pitchFamily="34" charset="-120"/>
              </a:rPr>
              <a:t>One server reused across products.</a:t>
            </a:r>
            <a:endParaRPr lang="en-US" sz="1200" dirty="0"/>
          </a:p>
        </p:txBody>
      </p:sp>
      <p:sp>
        <p:nvSpPr>
          <p:cNvPr id="36" name="Shape 34"/>
          <p:cNvSpPr/>
          <p:nvPr/>
        </p:nvSpPr>
        <p:spPr>
          <a:xfrm>
            <a:off x="640080" y="5074920"/>
            <a:ext cx="10881360" cy="566928"/>
          </a:xfrm>
          <a:prstGeom prst="rect">
            <a:avLst/>
          </a:prstGeom>
          <a:solidFill>
            <a:srgbClr val="F4F6F8"/>
          </a:solidFill>
          <a:ln/>
        </p:spPr>
      </p:sp>
      <p:sp>
        <p:nvSpPr>
          <p:cNvPr id="37" name="Shape 35"/>
          <p:cNvSpPr/>
          <p:nvPr/>
        </p:nvSpPr>
        <p:spPr>
          <a:xfrm>
            <a:off x="640080" y="5641848"/>
            <a:ext cx="10881360" cy="0"/>
          </a:xfrm>
          <a:prstGeom prst="line">
            <a:avLst/>
          </a:prstGeom>
          <a:noFill/>
          <a:ln w="9525">
            <a:solidFill>
              <a:srgbClr val="E6E9EB"/>
            </a:solidFill>
            <a:prstDash val="solid"/>
          </a:ln>
        </p:spPr>
      </p:sp>
      <p:sp>
        <p:nvSpPr>
          <p:cNvPr id="38" name="Text 36"/>
          <p:cNvSpPr/>
          <p:nvPr/>
        </p:nvSpPr>
        <p:spPr>
          <a:xfrm>
            <a:off x="868680" y="5074920"/>
            <a:ext cx="3657600" cy="566928"/>
          </a:xfrm>
          <a:prstGeom prst="rect">
            <a:avLst/>
          </a:prstGeom>
          <a:noFill/>
          <a:ln/>
        </p:spPr>
        <p:txBody>
          <a:bodyPr wrap="square" lIns="0" tIns="0" rIns="0" bIns="0" rtlCol="0" anchor="ctr"/>
          <a:lstStyle/>
          <a:p>
            <a:pPr marL="0" indent="0">
              <a:buNone/>
            </a:pPr>
            <a:r>
              <a:rPr lang="en-US" sz="1400" b="1" dirty="0">
                <a:solidFill>
                  <a:srgbClr val="211E1E"/>
                </a:solidFill>
                <a:latin typeface="Calibri" pitchFamily="34" charset="0"/>
                <a:ea typeface="Calibri" pitchFamily="34" charset="-122"/>
                <a:cs typeface="Calibri" pitchFamily="34" charset="-120"/>
              </a:rPr>
              <a:t>One-off automations</a:t>
            </a:r>
            <a:endParaRPr lang="en-US" sz="1400" dirty="0"/>
          </a:p>
        </p:txBody>
      </p:sp>
      <p:sp>
        <p:nvSpPr>
          <p:cNvPr id="39" name="Shape 37"/>
          <p:cNvSpPr/>
          <p:nvPr/>
        </p:nvSpPr>
        <p:spPr>
          <a:xfrm>
            <a:off x="4983480" y="5184648"/>
            <a:ext cx="1691640" cy="347472"/>
          </a:xfrm>
          <a:prstGeom prst="rect">
            <a:avLst/>
          </a:prstGeom>
          <a:solidFill>
            <a:srgbClr val="117ACA"/>
          </a:solidFill>
          <a:ln/>
        </p:spPr>
      </p:sp>
      <p:sp>
        <p:nvSpPr>
          <p:cNvPr id="40" name="Text 38"/>
          <p:cNvSpPr/>
          <p:nvPr/>
        </p:nvSpPr>
        <p:spPr>
          <a:xfrm>
            <a:off x="4983480" y="5184648"/>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skills.md</a:t>
            </a:r>
            <a:endParaRPr lang="en-US" sz="1200" dirty="0"/>
          </a:p>
        </p:txBody>
      </p:sp>
      <p:sp>
        <p:nvSpPr>
          <p:cNvPr id="41" name="Text 39"/>
          <p:cNvSpPr/>
          <p:nvPr/>
        </p:nvSpPr>
        <p:spPr>
          <a:xfrm>
            <a:off x="8366760" y="5074920"/>
            <a:ext cx="2926080" cy="566928"/>
          </a:xfrm>
          <a:prstGeom prst="rect">
            <a:avLst/>
          </a:prstGeom>
          <a:noFill/>
          <a:ln/>
        </p:spPr>
        <p:txBody>
          <a:bodyPr wrap="square" lIns="0" tIns="0" rIns="0" bIns="0" rtlCol="0" anchor="ctr"/>
          <a:lstStyle/>
          <a:p>
            <a:pPr marL="0" indent="0">
              <a:buNone/>
            </a:pPr>
            <a:r>
              <a:rPr lang="en-US" sz="1200" i="1" dirty="0">
                <a:solidFill>
                  <a:srgbClr val="5A6066"/>
                </a:solidFill>
                <a:latin typeface="Calibri" pitchFamily="34" charset="0"/>
                <a:ea typeface="Calibri" pitchFamily="34" charset="-122"/>
                <a:cs typeface="Calibri" pitchFamily="34" charset="-120"/>
              </a:rPr>
              <a:t>Lightweight, embedded in the prompt.</a:t>
            </a:r>
            <a:endParaRPr lang="en-US" sz="1200" dirty="0"/>
          </a:p>
        </p:txBody>
      </p:sp>
      <p:sp>
        <p:nvSpPr>
          <p:cNvPr id="42" name="Shape 40"/>
          <p:cNvSpPr/>
          <p:nvPr/>
        </p:nvSpPr>
        <p:spPr>
          <a:xfrm>
            <a:off x="640080" y="6007608"/>
            <a:ext cx="201168" cy="201168"/>
          </a:xfrm>
          <a:prstGeom prst="ellipse">
            <a:avLst/>
          </a:prstGeom>
          <a:solidFill>
            <a:srgbClr val="117ACA"/>
          </a:solidFill>
          <a:ln/>
        </p:spPr>
      </p:sp>
      <p:sp>
        <p:nvSpPr>
          <p:cNvPr id="43" name="Text 41"/>
          <p:cNvSpPr/>
          <p:nvPr/>
        </p:nvSpPr>
        <p:spPr>
          <a:xfrm>
            <a:off x="932688" y="5961888"/>
            <a:ext cx="1371600" cy="292608"/>
          </a:xfrm>
          <a:prstGeom prst="rect">
            <a:avLst/>
          </a:prstGeom>
          <a:noFill/>
          <a:ln/>
        </p:spPr>
        <p:txBody>
          <a:bodyPr wrap="square" lIns="0" tIns="0" rIns="0" bIns="0" rtlCol="0" anchor="ctr"/>
          <a:lstStyle/>
          <a:p>
            <a:pPr marL="0" indent="0">
              <a:buNone/>
            </a:pPr>
            <a:r>
              <a:rPr lang="en-US" sz="1100" b="1" dirty="0">
                <a:solidFill>
                  <a:srgbClr val="211E1E"/>
                </a:solidFill>
                <a:latin typeface="Calibri" pitchFamily="34" charset="0"/>
                <a:ea typeface="Calibri" pitchFamily="34" charset="-122"/>
                <a:cs typeface="Calibri" pitchFamily="34" charset="-120"/>
              </a:rPr>
              <a:t>skills.md</a:t>
            </a:r>
            <a:endParaRPr lang="en-US" sz="1100" dirty="0"/>
          </a:p>
        </p:txBody>
      </p:sp>
      <p:sp>
        <p:nvSpPr>
          <p:cNvPr id="44" name="Shape 42"/>
          <p:cNvSpPr/>
          <p:nvPr/>
        </p:nvSpPr>
        <p:spPr>
          <a:xfrm>
            <a:off x="2194560" y="6007608"/>
            <a:ext cx="201168" cy="201168"/>
          </a:xfrm>
          <a:prstGeom prst="ellipse">
            <a:avLst/>
          </a:prstGeom>
          <a:solidFill>
            <a:srgbClr val="1B7F9E"/>
          </a:solidFill>
          <a:ln/>
        </p:spPr>
      </p:sp>
      <p:sp>
        <p:nvSpPr>
          <p:cNvPr id="45" name="Text 43"/>
          <p:cNvSpPr/>
          <p:nvPr/>
        </p:nvSpPr>
        <p:spPr>
          <a:xfrm>
            <a:off x="2487168" y="5961888"/>
            <a:ext cx="1645920" cy="292608"/>
          </a:xfrm>
          <a:prstGeom prst="rect">
            <a:avLst/>
          </a:prstGeom>
          <a:noFill/>
          <a:ln/>
        </p:spPr>
        <p:txBody>
          <a:bodyPr wrap="square" lIns="0" tIns="0" rIns="0" bIns="0" rtlCol="0" anchor="ctr"/>
          <a:lstStyle/>
          <a:p>
            <a:pPr marL="0" indent="0">
              <a:buNone/>
            </a:pPr>
            <a:r>
              <a:rPr lang="en-US" sz="1100" b="1" dirty="0">
                <a:solidFill>
                  <a:srgbClr val="211E1E"/>
                </a:solidFill>
                <a:latin typeface="Calibri" pitchFamily="34" charset="0"/>
                <a:ea typeface="Calibri" pitchFamily="34" charset="-122"/>
                <a:cs typeface="Calibri" pitchFamily="34" charset="-120"/>
              </a:rPr>
              <a:t>MCP server</a:t>
            </a:r>
            <a:endParaRPr lang="en-US" sz="1100" dirty="0"/>
          </a:p>
        </p:txBody>
      </p:sp>
      <p:sp>
        <p:nvSpPr>
          <p:cNvPr id="46" name="Text 44"/>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10 / 13</a:t>
            </a:r>
            <a:endParaRPr lang="en-US" sz="1000" dirty="0"/>
          </a:p>
        </p:txBody>
      </p:sp>
      <p:sp>
        <p:nvSpPr>
          <p:cNvPr id="47" name="Text 45"/>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TRADEOFFS</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Advantages &amp; limitations</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Shape 3"/>
          <p:cNvSpPr/>
          <p:nvPr/>
        </p:nvSpPr>
        <p:spPr>
          <a:xfrm>
            <a:off x="457200" y="1691640"/>
            <a:ext cx="5440680" cy="224028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6" name="Shape 4"/>
          <p:cNvSpPr/>
          <p:nvPr/>
        </p:nvSpPr>
        <p:spPr>
          <a:xfrm>
            <a:off x="457200" y="1691640"/>
            <a:ext cx="109728" cy="2240280"/>
          </a:xfrm>
          <a:prstGeom prst="rect">
            <a:avLst/>
          </a:prstGeom>
          <a:solidFill>
            <a:srgbClr val="4A7C59"/>
          </a:solidFill>
          <a:ln/>
        </p:spPr>
      </p:sp>
      <p:sp>
        <p:nvSpPr>
          <p:cNvPr id="7" name="Shape 5"/>
          <p:cNvSpPr/>
          <p:nvPr/>
        </p:nvSpPr>
        <p:spPr>
          <a:xfrm>
            <a:off x="822960" y="2011680"/>
            <a:ext cx="502920" cy="502920"/>
          </a:xfrm>
          <a:prstGeom prst="ellipse">
            <a:avLst/>
          </a:prstGeom>
          <a:solidFill>
            <a:srgbClr val="117ACA"/>
          </a:solidFill>
          <a:ln/>
        </p:spPr>
      </p:sp>
      <p:pic>
        <p:nvPicPr>
          <p:cNvPr id="8" name="Image 0" descr="preencoded.png"/>
          <p:cNvPicPr>
            <a:picLocks noChangeAspect="1"/>
          </p:cNvPicPr>
          <p:nvPr/>
        </p:nvPicPr>
        <p:blipFill>
          <a:blip r:embed="rId3"/>
          <a:stretch>
            <a:fillRect/>
          </a:stretch>
        </p:blipFill>
        <p:spPr>
          <a:xfrm>
            <a:off x="923544" y="2112264"/>
            <a:ext cx="301752" cy="301752"/>
          </a:xfrm>
          <a:prstGeom prst="rect">
            <a:avLst/>
          </a:prstGeom>
        </p:spPr>
      </p:pic>
      <p:sp>
        <p:nvSpPr>
          <p:cNvPr id="9" name="Text 6"/>
          <p:cNvSpPr/>
          <p:nvPr/>
        </p:nvSpPr>
        <p:spPr>
          <a:xfrm>
            <a:off x="1463040" y="1965960"/>
            <a:ext cx="3154680" cy="41148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skills.md</a:t>
            </a:r>
            <a:endParaRPr lang="en-US" sz="1600" dirty="0"/>
          </a:p>
        </p:txBody>
      </p:sp>
      <p:sp>
        <p:nvSpPr>
          <p:cNvPr id="10" name="Text 7"/>
          <p:cNvSpPr/>
          <p:nvPr/>
        </p:nvSpPr>
        <p:spPr>
          <a:xfrm>
            <a:off x="4343400" y="2011680"/>
            <a:ext cx="1371600" cy="365760"/>
          </a:xfrm>
          <a:prstGeom prst="rect">
            <a:avLst/>
          </a:prstGeom>
          <a:noFill/>
          <a:ln/>
        </p:spPr>
        <p:txBody>
          <a:bodyPr wrap="square" lIns="0" tIns="0" rIns="0" bIns="0" rtlCol="0" anchor="ctr"/>
          <a:lstStyle/>
          <a:p>
            <a:pPr marL="0" indent="0" algn="r">
              <a:buNone/>
            </a:pPr>
            <a:r>
              <a:rPr lang="en-US" sz="1000" b="1" kern="0" spc="300" dirty="0">
                <a:solidFill>
                  <a:srgbClr val="4A7C59"/>
                </a:solidFill>
                <a:latin typeface="Calibri" pitchFamily="34" charset="0"/>
                <a:ea typeface="Calibri" pitchFamily="34" charset="-122"/>
                <a:cs typeface="Calibri" pitchFamily="34" charset="-120"/>
              </a:rPr>
              <a:t>ADVANTAGES</a:t>
            </a:r>
            <a:endParaRPr lang="en-US" sz="1000" dirty="0"/>
          </a:p>
        </p:txBody>
      </p:sp>
      <p:pic>
        <p:nvPicPr>
          <p:cNvPr id="11" name="Image 1" descr="preencoded.png"/>
          <p:cNvPicPr>
            <a:picLocks noChangeAspect="1"/>
          </p:cNvPicPr>
          <p:nvPr/>
        </p:nvPicPr>
        <p:blipFill>
          <a:blip r:embed="rId4"/>
          <a:stretch>
            <a:fillRect/>
          </a:stretch>
        </p:blipFill>
        <p:spPr>
          <a:xfrm>
            <a:off x="822960" y="2651760"/>
            <a:ext cx="256032" cy="256032"/>
          </a:xfrm>
          <a:prstGeom prst="rect">
            <a:avLst/>
          </a:prstGeom>
        </p:spPr>
      </p:pic>
      <p:sp>
        <p:nvSpPr>
          <p:cNvPr id="12" name="Text 8"/>
          <p:cNvSpPr/>
          <p:nvPr/>
        </p:nvSpPr>
        <p:spPr>
          <a:xfrm>
            <a:off x="1188720" y="2615184"/>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Simple — markdown is the entire surface area</a:t>
            </a:r>
            <a:endParaRPr lang="en-US" sz="1200" dirty="0"/>
          </a:p>
        </p:txBody>
      </p:sp>
      <p:pic>
        <p:nvPicPr>
          <p:cNvPr id="13" name="Image 2" descr="preencoded.png"/>
          <p:cNvPicPr>
            <a:picLocks noChangeAspect="1"/>
          </p:cNvPicPr>
          <p:nvPr/>
        </p:nvPicPr>
        <p:blipFill>
          <a:blip r:embed="rId4"/>
          <a:stretch>
            <a:fillRect/>
          </a:stretch>
        </p:blipFill>
        <p:spPr>
          <a:xfrm>
            <a:off x="822960" y="3035808"/>
            <a:ext cx="256032" cy="256032"/>
          </a:xfrm>
          <a:prstGeom prst="rect">
            <a:avLst/>
          </a:prstGeom>
        </p:spPr>
      </p:pic>
      <p:sp>
        <p:nvSpPr>
          <p:cNvPr id="14" name="Text 9"/>
          <p:cNvSpPr/>
          <p:nvPr/>
        </p:nvSpPr>
        <p:spPr>
          <a:xfrm>
            <a:off x="1188720" y="2999232"/>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Fast to ship — no infra, no deploy</a:t>
            </a:r>
            <a:endParaRPr lang="en-US" sz="1200" dirty="0"/>
          </a:p>
        </p:txBody>
      </p:sp>
      <p:pic>
        <p:nvPicPr>
          <p:cNvPr id="15" name="Image 3" descr="preencoded.png"/>
          <p:cNvPicPr>
            <a:picLocks noChangeAspect="1"/>
          </p:cNvPicPr>
          <p:nvPr/>
        </p:nvPicPr>
        <p:blipFill>
          <a:blip r:embed="rId4"/>
          <a:stretch>
            <a:fillRect/>
          </a:stretch>
        </p:blipFill>
        <p:spPr>
          <a:xfrm>
            <a:off x="822960" y="3419856"/>
            <a:ext cx="256032" cy="256032"/>
          </a:xfrm>
          <a:prstGeom prst="rect">
            <a:avLst/>
          </a:prstGeom>
        </p:spPr>
      </p:pic>
      <p:sp>
        <p:nvSpPr>
          <p:cNvPr id="16" name="Text 10"/>
          <p:cNvSpPr/>
          <p:nvPr/>
        </p:nvSpPr>
        <p:spPr>
          <a:xfrm>
            <a:off x="1188720" y="3383280"/>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Easy to version-control alongside prompts</a:t>
            </a:r>
            <a:endParaRPr lang="en-US" sz="1200" dirty="0"/>
          </a:p>
        </p:txBody>
      </p:sp>
      <p:sp>
        <p:nvSpPr>
          <p:cNvPr id="17" name="Shape 11"/>
          <p:cNvSpPr/>
          <p:nvPr/>
        </p:nvSpPr>
        <p:spPr>
          <a:xfrm>
            <a:off x="6263640" y="1691640"/>
            <a:ext cx="5440680" cy="224028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18" name="Shape 12"/>
          <p:cNvSpPr/>
          <p:nvPr/>
        </p:nvSpPr>
        <p:spPr>
          <a:xfrm>
            <a:off x="6263640" y="1691640"/>
            <a:ext cx="109728" cy="2240280"/>
          </a:xfrm>
          <a:prstGeom prst="rect">
            <a:avLst/>
          </a:prstGeom>
          <a:solidFill>
            <a:srgbClr val="4A7C59"/>
          </a:solidFill>
          <a:ln/>
        </p:spPr>
      </p:sp>
      <p:sp>
        <p:nvSpPr>
          <p:cNvPr id="19" name="Shape 13"/>
          <p:cNvSpPr/>
          <p:nvPr/>
        </p:nvSpPr>
        <p:spPr>
          <a:xfrm>
            <a:off x="6629400" y="2011680"/>
            <a:ext cx="502920" cy="502920"/>
          </a:xfrm>
          <a:prstGeom prst="ellipse">
            <a:avLst/>
          </a:prstGeom>
          <a:solidFill>
            <a:srgbClr val="1B7F9E"/>
          </a:solidFill>
          <a:ln/>
        </p:spPr>
      </p:sp>
      <p:pic>
        <p:nvPicPr>
          <p:cNvPr id="20" name="Image 4" descr="preencoded.png"/>
          <p:cNvPicPr>
            <a:picLocks noChangeAspect="1"/>
          </p:cNvPicPr>
          <p:nvPr/>
        </p:nvPicPr>
        <p:blipFill>
          <a:blip r:embed="rId5"/>
          <a:stretch>
            <a:fillRect/>
          </a:stretch>
        </p:blipFill>
        <p:spPr>
          <a:xfrm>
            <a:off x="6729984" y="2112264"/>
            <a:ext cx="301752" cy="301752"/>
          </a:xfrm>
          <a:prstGeom prst="rect">
            <a:avLst/>
          </a:prstGeom>
        </p:spPr>
      </p:pic>
      <p:sp>
        <p:nvSpPr>
          <p:cNvPr id="21" name="Text 14"/>
          <p:cNvSpPr/>
          <p:nvPr/>
        </p:nvSpPr>
        <p:spPr>
          <a:xfrm>
            <a:off x="7269480" y="1965960"/>
            <a:ext cx="3154680" cy="41148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MCP servers</a:t>
            </a:r>
            <a:endParaRPr lang="en-US" sz="1600" dirty="0"/>
          </a:p>
        </p:txBody>
      </p:sp>
      <p:sp>
        <p:nvSpPr>
          <p:cNvPr id="22" name="Text 15"/>
          <p:cNvSpPr/>
          <p:nvPr/>
        </p:nvSpPr>
        <p:spPr>
          <a:xfrm>
            <a:off x="10149840" y="2011680"/>
            <a:ext cx="1371600" cy="365760"/>
          </a:xfrm>
          <a:prstGeom prst="rect">
            <a:avLst/>
          </a:prstGeom>
          <a:noFill/>
          <a:ln/>
        </p:spPr>
        <p:txBody>
          <a:bodyPr wrap="square" lIns="0" tIns="0" rIns="0" bIns="0" rtlCol="0" anchor="ctr"/>
          <a:lstStyle/>
          <a:p>
            <a:pPr marL="0" indent="0" algn="r">
              <a:buNone/>
            </a:pPr>
            <a:r>
              <a:rPr lang="en-US" sz="1000" b="1" kern="0" spc="300" dirty="0">
                <a:solidFill>
                  <a:srgbClr val="4A7C59"/>
                </a:solidFill>
                <a:latin typeface="Calibri" pitchFamily="34" charset="0"/>
                <a:ea typeface="Calibri" pitchFamily="34" charset="-122"/>
                <a:cs typeface="Calibri" pitchFamily="34" charset="-120"/>
              </a:rPr>
              <a:t>ADVANTAGES</a:t>
            </a:r>
            <a:endParaRPr lang="en-US" sz="1000" dirty="0"/>
          </a:p>
        </p:txBody>
      </p:sp>
      <p:pic>
        <p:nvPicPr>
          <p:cNvPr id="23" name="Image 5" descr="preencoded.png"/>
          <p:cNvPicPr>
            <a:picLocks noChangeAspect="1"/>
          </p:cNvPicPr>
          <p:nvPr/>
        </p:nvPicPr>
        <p:blipFill>
          <a:blip r:embed="rId4"/>
          <a:stretch>
            <a:fillRect/>
          </a:stretch>
        </p:blipFill>
        <p:spPr>
          <a:xfrm>
            <a:off x="6629400" y="2651760"/>
            <a:ext cx="256032" cy="256032"/>
          </a:xfrm>
          <a:prstGeom prst="rect">
            <a:avLst/>
          </a:prstGeom>
        </p:spPr>
      </p:pic>
      <p:sp>
        <p:nvSpPr>
          <p:cNvPr id="24" name="Text 16"/>
          <p:cNvSpPr/>
          <p:nvPr/>
        </p:nvSpPr>
        <p:spPr>
          <a:xfrm>
            <a:off x="6995160" y="2615184"/>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Scalable — one server, many clients</a:t>
            </a:r>
            <a:endParaRPr lang="en-US" sz="1200" dirty="0"/>
          </a:p>
        </p:txBody>
      </p:sp>
      <p:pic>
        <p:nvPicPr>
          <p:cNvPr id="25" name="Image 6" descr="preencoded.png"/>
          <p:cNvPicPr>
            <a:picLocks noChangeAspect="1"/>
          </p:cNvPicPr>
          <p:nvPr/>
        </p:nvPicPr>
        <p:blipFill>
          <a:blip r:embed="rId4"/>
          <a:stretch>
            <a:fillRect/>
          </a:stretch>
        </p:blipFill>
        <p:spPr>
          <a:xfrm>
            <a:off x="6629400" y="3035808"/>
            <a:ext cx="256032" cy="256032"/>
          </a:xfrm>
          <a:prstGeom prst="rect">
            <a:avLst/>
          </a:prstGeom>
        </p:spPr>
      </p:pic>
      <p:sp>
        <p:nvSpPr>
          <p:cNvPr id="26" name="Text 17"/>
          <p:cNvSpPr/>
          <p:nvPr/>
        </p:nvSpPr>
        <p:spPr>
          <a:xfrm>
            <a:off x="6995160" y="2999232"/>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Reusable across products and teams</a:t>
            </a:r>
            <a:endParaRPr lang="en-US" sz="1200" dirty="0"/>
          </a:p>
        </p:txBody>
      </p:sp>
      <p:pic>
        <p:nvPicPr>
          <p:cNvPr id="27" name="Image 7" descr="preencoded.png"/>
          <p:cNvPicPr>
            <a:picLocks noChangeAspect="1"/>
          </p:cNvPicPr>
          <p:nvPr/>
        </p:nvPicPr>
        <p:blipFill>
          <a:blip r:embed="rId4"/>
          <a:stretch>
            <a:fillRect/>
          </a:stretch>
        </p:blipFill>
        <p:spPr>
          <a:xfrm>
            <a:off x="6629400" y="3419856"/>
            <a:ext cx="256032" cy="256032"/>
          </a:xfrm>
          <a:prstGeom prst="rect">
            <a:avLst/>
          </a:prstGeom>
        </p:spPr>
      </p:pic>
      <p:sp>
        <p:nvSpPr>
          <p:cNvPr id="28" name="Text 18"/>
          <p:cNvSpPr/>
          <p:nvPr/>
        </p:nvSpPr>
        <p:spPr>
          <a:xfrm>
            <a:off x="6995160" y="3383280"/>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Powerful — full backend at your disposal</a:t>
            </a:r>
            <a:endParaRPr lang="en-US" sz="1200" dirty="0"/>
          </a:p>
        </p:txBody>
      </p:sp>
      <p:sp>
        <p:nvSpPr>
          <p:cNvPr id="29" name="Shape 19"/>
          <p:cNvSpPr/>
          <p:nvPr/>
        </p:nvSpPr>
        <p:spPr>
          <a:xfrm>
            <a:off x="457200" y="4206240"/>
            <a:ext cx="5440680" cy="224028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30" name="Shape 20"/>
          <p:cNvSpPr/>
          <p:nvPr/>
        </p:nvSpPr>
        <p:spPr>
          <a:xfrm>
            <a:off x="457200" y="4206240"/>
            <a:ext cx="109728" cy="2240280"/>
          </a:xfrm>
          <a:prstGeom prst="rect">
            <a:avLst/>
          </a:prstGeom>
          <a:solidFill>
            <a:srgbClr val="B23B3B"/>
          </a:solidFill>
          <a:ln/>
        </p:spPr>
      </p:sp>
      <p:sp>
        <p:nvSpPr>
          <p:cNvPr id="31" name="Shape 21"/>
          <p:cNvSpPr/>
          <p:nvPr/>
        </p:nvSpPr>
        <p:spPr>
          <a:xfrm>
            <a:off x="822960" y="4526280"/>
            <a:ext cx="502920" cy="502920"/>
          </a:xfrm>
          <a:prstGeom prst="ellipse">
            <a:avLst/>
          </a:prstGeom>
          <a:solidFill>
            <a:srgbClr val="117ACA"/>
          </a:solidFill>
          <a:ln/>
        </p:spPr>
      </p:sp>
      <p:pic>
        <p:nvPicPr>
          <p:cNvPr id="32" name="Image 8" descr="preencoded.png"/>
          <p:cNvPicPr>
            <a:picLocks noChangeAspect="1"/>
          </p:cNvPicPr>
          <p:nvPr/>
        </p:nvPicPr>
        <p:blipFill>
          <a:blip r:embed="rId3"/>
          <a:stretch>
            <a:fillRect/>
          </a:stretch>
        </p:blipFill>
        <p:spPr>
          <a:xfrm>
            <a:off x="923544" y="4626864"/>
            <a:ext cx="301752" cy="301752"/>
          </a:xfrm>
          <a:prstGeom prst="rect">
            <a:avLst/>
          </a:prstGeom>
        </p:spPr>
      </p:pic>
      <p:sp>
        <p:nvSpPr>
          <p:cNvPr id="33" name="Text 22"/>
          <p:cNvSpPr/>
          <p:nvPr/>
        </p:nvSpPr>
        <p:spPr>
          <a:xfrm>
            <a:off x="1463040" y="4480560"/>
            <a:ext cx="3154680" cy="41148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skills.md</a:t>
            </a:r>
            <a:endParaRPr lang="en-US" sz="1600" dirty="0"/>
          </a:p>
        </p:txBody>
      </p:sp>
      <p:sp>
        <p:nvSpPr>
          <p:cNvPr id="34" name="Text 23"/>
          <p:cNvSpPr/>
          <p:nvPr/>
        </p:nvSpPr>
        <p:spPr>
          <a:xfrm>
            <a:off x="4343400" y="4526280"/>
            <a:ext cx="1371600" cy="365760"/>
          </a:xfrm>
          <a:prstGeom prst="rect">
            <a:avLst/>
          </a:prstGeom>
          <a:noFill/>
          <a:ln/>
        </p:spPr>
        <p:txBody>
          <a:bodyPr wrap="square" lIns="0" tIns="0" rIns="0" bIns="0" rtlCol="0" anchor="ctr"/>
          <a:lstStyle/>
          <a:p>
            <a:pPr marL="0" indent="0" algn="r">
              <a:buNone/>
            </a:pPr>
            <a:r>
              <a:rPr lang="en-US" sz="1000" b="1" kern="0" spc="300" dirty="0">
                <a:solidFill>
                  <a:srgbClr val="B23B3B"/>
                </a:solidFill>
                <a:latin typeface="Calibri" pitchFamily="34" charset="0"/>
                <a:ea typeface="Calibri" pitchFamily="34" charset="-122"/>
                <a:cs typeface="Calibri" pitchFamily="34" charset="-120"/>
              </a:rPr>
              <a:t>LIMITATIONS</a:t>
            </a:r>
            <a:endParaRPr lang="en-US" sz="1000" dirty="0"/>
          </a:p>
        </p:txBody>
      </p:sp>
      <p:pic>
        <p:nvPicPr>
          <p:cNvPr id="35" name="Image 9" descr="preencoded.png"/>
          <p:cNvPicPr>
            <a:picLocks noChangeAspect="1"/>
          </p:cNvPicPr>
          <p:nvPr/>
        </p:nvPicPr>
        <p:blipFill>
          <a:blip r:embed="rId6"/>
          <a:stretch>
            <a:fillRect/>
          </a:stretch>
        </p:blipFill>
        <p:spPr>
          <a:xfrm>
            <a:off x="822960" y="5166360"/>
            <a:ext cx="256032" cy="256032"/>
          </a:xfrm>
          <a:prstGeom prst="rect">
            <a:avLst/>
          </a:prstGeom>
        </p:spPr>
      </p:pic>
      <p:sp>
        <p:nvSpPr>
          <p:cNvPr id="36" name="Text 24"/>
          <p:cNvSpPr/>
          <p:nvPr/>
        </p:nvSpPr>
        <p:spPr>
          <a:xfrm>
            <a:off x="1188720" y="5129784"/>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Stateless — no memory between requests</a:t>
            </a:r>
            <a:endParaRPr lang="en-US" sz="1200" dirty="0"/>
          </a:p>
        </p:txBody>
      </p:sp>
      <p:pic>
        <p:nvPicPr>
          <p:cNvPr id="37" name="Image 10" descr="preencoded.png"/>
          <p:cNvPicPr>
            <a:picLocks noChangeAspect="1"/>
          </p:cNvPicPr>
          <p:nvPr/>
        </p:nvPicPr>
        <p:blipFill>
          <a:blip r:embed="rId6"/>
          <a:stretch>
            <a:fillRect/>
          </a:stretch>
        </p:blipFill>
        <p:spPr>
          <a:xfrm>
            <a:off x="822960" y="5550408"/>
            <a:ext cx="256032" cy="256032"/>
          </a:xfrm>
          <a:prstGeom prst="rect">
            <a:avLst/>
          </a:prstGeom>
        </p:spPr>
      </p:pic>
      <p:sp>
        <p:nvSpPr>
          <p:cNvPr id="38" name="Text 25"/>
          <p:cNvSpPr/>
          <p:nvPr/>
        </p:nvSpPr>
        <p:spPr>
          <a:xfrm>
            <a:off x="1188720" y="5513832"/>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Limited scalability for complex flows</a:t>
            </a:r>
            <a:endParaRPr lang="en-US" sz="1200" dirty="0"/>
          </a:p>
        </p:txBody>
      </p:sp>
      <p:pic>
        <p:nvPicPr>
          <p:cNvPr id="39" name="Image 11" descr="preencoded.png"/>
          <p:cNvPicPr>
            <a:picLocks noChangeAspect="1"/>
          </p:cNvPicPr>
          <p:nvPr/>
        </p:nvPicPr>
        <p:blipFill>
          <a:blip r:embed="rId6"/>
          <a:stretch>
            <a:fillRect/>
          </a:stretch>
        </p:blipFill>
        <p:spPr>
          <a:xfrm>
            <a:off x="822960" y="5934456"/>
            <a:ext cx="256032" cy="256032"/>
          </a:xfrm>
          <a:prstGeom prst="rect">
            <a:avLst/>
          </a:prstGeom>
        </p:spPr>
      </p:pic>
      <p:sp>
        <p:nvSpPr>
          <p:cNvPr id="40" name="Text 26"/>
          <p:cNvSpPr/>
          <p:nvPr/>
        </p:nvSpPr>
        <p:spPr>
          <a:xfrm>
            <a:off x="1188720" y="5897880"/>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Token-heavy — burns context every turn</a:t>
            </a:r>
            <a:endParaRPr lang="en-US" sz="1200" dirty="0"/>
          </a:p>
        </p:txBody>
      </p:sp>
      <p:sp>
        <p:nvSpPr>
          <p:cNvPr id="41" name="Shape 27"/>
          <p:cNvSpPr/>
          <p:nvPr/>
        </p:nvSpPr>
        <p:spPr>
          <a:xfrm>
            <a:off x="6263640" y="4206240"/>
            <a:ext cx="5440680" cy="224028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42" name="Shape 28"/>
          <p:cNvSpPr/>
          <p:nvPr/>
        </p:nvSpPr>
        <p:spPr>
          <a:xfrm>
            <a:off x="6263640" y="4206240"/>
            <a:ext cx="109728" cy="2240280"/>
          </a:xfrm>
          <a:prstGeom prst="rect">
            <a:avLst/>
          </a:prstGeom>
          <a:solidFill>
            <a:srgbClr val="B23B3B"/>
          </a:solidFill>
          <a:ln/>
        </p:spPr>
      </p:sp>
      <p:sp>
        <p:nvSpPr>
          <p:cNvPr id="43" name="Shape 29"/>
          <p:cNvSpPr/>
          <p:nvPr/>
        </p:nvSpPr>
        <p:spPr>
          <a:xfrm>
            <a:off x="6629400" y="4526280"/>
            <a:ext cx="502920" cy="502920"/>
          </a:xfrm>
          <a:prstGeom prst="ellipse">
            <a:avLst/>
          </a:prstGeom>
          <a:solidFill>
            <a:srgbClr val="1B7F9E"/>
          </a:solidFill>
          <a:ln/>
        </p:spPr>
      </p:sp>
      <p:pic>
        <p:nvPicPr>
          <p:cNvPr id="44" name="Image 12" descr="preencoded.png"/>
          <p:cNvPicPr>
            <a:picLocks noChangeAspect="1"/>
          </p:cNvPicPr>
          <p:nvPr/>
        </p:nvPicPr>
        <p:blipFill>
          <a:blip r:embed="rId5"/>
          <a:stretch>
            <a:fillRect/>
          </a:stretch>
        </p:blipFill>
        <p:spPr>
          <a:xfrm>
            <a:off x="6729984" y="4626864"/>
            <a:ext cx="301752" cy="301752"/>
          </a:xfrm>
          <a:prstGeom prst="rect">
            <a:avLst/>
          </a:prstGeom>
        </p:spPr>
      </p:pic>
      <p:sp>
        <p:nvSpPr>
          <p:cNvPr id="45" name="Text 30"/>
          <p:cNvSpPr/>
          <p:nvPr/>
        </p:nvSpPr>
        <p:spPr>
          <a:xfrm>
            <a:off x="7269480" y="4480560"/>
            <a:ext cx="3154680" cy="411480"/>
          </a:xfrm>
          <a:prstGeom prst="rect">
            <a:avLst/>
          </a:prstGeom>
          <a:noFill/>
          <a:ln/>
        </p:spPr>
        <p:txBody>
          <a:bodyPr wrap="square" lIns="0" tIns="0" rIns="0" bIns="0" rtlCol="0" anchor="ctr"/>
          <a:lstStyle/>
          <a:p>
            <a:pPr marL="0" indent="0">
              <a:buNone/>
            </a:pPr>
            <a:r>
              <a:rPr lang="en-US" sz="1600" b="1" dirty="0">
                <a:solidFill>
                  <a:srgbClr val="211E1E"/>
                </a:solidFill>
                <a:latin typeface="Calibri" pitchFamily="34" charset="0"/>
                <a:ea typeface="Calibri" pitchFamily="34" charset="-122"/>
                <a:cs typeface="Calibri" pitchFamily="34" charset="-120"/>
              </a:rPr>
              <a:t>MCP servers</a:t>
            </a:r>
            <a:endParaRPr lang="en-US" sz="1600" dirty="0"/>
          </a:p>
        </p:txBody>
      </p:sp>
      <p:sp>
        <p:nvSpPr>
          <p:cNvPr id="46" name="Text 31"/>
          <p:cNvSpPr/>
          <p:nvPr/>
        </p:nvSpPr>
        <p:spPr>
          <a:xfrm>
            <a:off x="10149840" y="4526280"/>
            <a:ext cx="1371600" cy="365760"/>
          </a:xfrm>
          <a:prstGeom prst="rect">
            <a:avLst/>
          </a:prstGeom>
          <a:noFill/>
          <a:ln/>
        </p:spPr>
        <p:txBody>
          <a:bodyPr wrap="square" lIns="0" tIns="0" rIns="0" bIns="0" rtlCol="0" anchor="ctr"/>
          <a:lstStyle/>
          <a:p>
            <a:pPr marL="0" indent="0" algn="r">
              <a:buNone/>
            </a:pPr>
            <a:r>
              <a:rPr lang="en-US" sz="1000" b="1" kern="0" spc="300" dirty="0">
                <a:solidFill>
                  <a:srgbClr val="B23B3B"/>
                </a:solidFill>
                <a:latin typeface="Calibri" pitchFamily="34" charset="0"/>
                <a:ea typeface="Calibri" pitchFamily="34" charset="-122"/>
                <a:cs typeface="Calibri" pitchFamily="34" charset="-120"/>
              </a:rPr>
              <a:t>LIMITATIONS</a:t>
            </a:r>
            <a:endParaRPr lang="en-US" sz="1000" dirty="0"/>
          </a:p>
        </p:txBody>
      </p:sp>
      <p:pic>
        <p:nvPicPr>
          <p:cNvPr id="47" name="Image 13" descr="preencoded.png"/>
          <p:cNvPicPr>
            <a:picLocks noChangeAspect="1"/>
          </p:cNvPicPr>
          <p:nvPr/>
        </p:nvPicPr>
        <p:blipFill>
          <a:blip r:embed="rId6"/>
          <a:stretch>
            <a:fillRect/>
          </a:stretch>
        </p:blipFill>
        <p:spPr>
          <a:xfrm>
            <a:off x="6629400" y="5166360"/>
            <a:ext cx="256032" cy="256032"/>
          </a:xfrm>
          <a:prstGeom prst="rect">
            <a:avLst/>
          </a:prstGeom>
        </p:spPr>
      </p:pic>
      <p:sp>
        <p:nvSpPr>
          <p:cNvPr id="48" name="Text 32"/>
          <p:cNvSpPr/>
          <p:nvPr/>
        </p:nvSpPr>
        <p:spPr>
          <a:xfrm>
            <a:off x="6995160" y="5129784"/>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Requires infrastructure &amp; deployment</a:t>
            </a:r>
            <a:endParaRPr lang="en-US" sz="1200" dirty="0"/>
          </a:p>
        </p:txBody>
      </p:sp>
      <p:pic>
        <p:nvPicPr>
          <p:cNvPr id="49" name="Image 14" descr="preencoded.png"/>
          <p:cNvPicPr>
            <a:picLocks noChangeAspect="1"/>
          </p:cNvPicPr>
          <p:nvPr/>
        </p:nvPicPr>
        <p:blipFill>
          <a:blip r:embed="rId6"/>
          <a:stretch>
            <a:fillRect/>
          </a:stretch>
        </p:blipFill>
        <p:spPr>
          <a:xfrm>
            <a:off x="6629400" y="5550408"/>
            <a:ext cx="256032" cy="256032"/>
          </a:xfrm>
          <a:prstGeom prst="rect">
            <a:avLst/>
          </a:prstGeom>
        </p:spPr>
      </p:pic>
      <p:sp>
        <p:nvSpPr>
          <p:cNvPr id="50" name="Text 33"/>
          <p:cNvSpPr/>
          <p:nvPr/>
        </p:nvSpPr>
        <p:spPr>
          <a:xfrm>
            <a:off x="6995160" y="5513832"/>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Operational overhead — monitoring, auth, uptime</a:t>
            </a:r>
            <a:endParaRPr lang="en-US" sz="1200" dirty="0"/>
          </a:p>
        </p:txBody>
      </p:sp>
      <p:pic>
        <p:nvPicPr>
          <p:cNvPr id="51" name="Image 15" descr="preencoded.png"/>
          <p:cNvPicPr>
            <a:picLocks noChangeAspect="1"/>
          </p:cNvPicPr>
          <p:nvPr/>
        </p:nvPicPr>
        <p:blipFill>
          <a:blip r:embed="rId6"/>
          <a:stretch>
            <a:fillRect/>
          </a:stretch>
        </p:blipFill>
        <p:spPr>
          <a:xfrm>
            <a:off x="6629400" y="5934456"/>
            <a:ext cx="256032" cy="256032"/>
          </a:xfrm>
          <a:prstGeom prst="rect">
            <a:avLst/>
          </a:prstGeom>
        </p:spPr>
      </p:pic>
      <p:sp>
        <p:nvSpPr>
          <p:cNvPr id="52" name="Text 34"/>
          <p:cNvSpPr/>
          <p:nvPr/>
        </p:nvSpPr>
        <p:spPr>
          <a:xfrm>
            <a:off x="6995160" y="5897880"/>
            <a:ext cx="4526280" cy="365760"/>
          </a:xfrm>
          <a:prstGeom prst="rect">
            <a:avLst/>
          </a:prstGeom>
          <a:noFill/>
          <a:ln/>
        </p:spPr>
        <p:txBody>
          <a:bodyPr wrap="square" lIns="0" tIns="0" rIns="0" bIns="0" rtlCol="0" anchor="ctr"/>
          <a:lstStyle/>
          <a:p>
            <a:pPr marL="0" indent="0">
              <a:buNone/>
            </a:pPr>
            <a:r>
              <a:rPr lang="en-US" sz="1200" dirty="0">
                <a:solidFill>
                  <a:srgbClr val="211E1E"/>
                </a:solidFill>
                <a:latin typeface="Calibri" pitchFamily="34" charset="0"/>
                <a:ea typeface="Calibri" pitchFamily="34" charset="-122"/>
                <a:cs typeface="Calibri" pitchFamily="34" charset="-120"/>
              </a:rPr>
              <a:t>Heavier setup cost for tiny use cases</a:t>
            </a:r>
            <a:endParaRPr lang="en-US" sz="1200" dirty="0"/>
          </a:p>
        </p:txBody>
      </p:sp>
      <p:sp>
        <p:nvSpPr>
          <p:cNvPr id="53" name="Text 35"/>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11 / 13</a:t>
            </a:r>
            <a:endParaRPr lang="en-US" sz="1000" dirty="0"/>
          </a:p>
        </p:txBody>
      </p:sp>
      <p:sp>
        <p:nvSpPr>
          <p:cNvPr id="54" name="Text 36"/>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292608"/>
          </a:xfrm>
          <a:prstGeom prst="rect">
            <a:avLst/>
          </a:prstGeom>
          <a:noFill/>
          <a:ln/>
        </p:spPr>
        <p:txBody>
          <a:bodyPr wrap="square" lIns="0" tIns="0" rIns="0" bIns="0" rtlCol="0" anchor="ctr"/>
          <a:lstStyle/>
          <a:p>
            <a:pPr marL="0" indent="0">
              <a:buNone/>
            </a:pPr>
            <a:r>
              <a:rPr lang="en-US" sz="1100" b="1" kern="0" spc="400" dirty="0">
                <a:solidFill>
                  <a:srgbClr val="117ACA"/>
                </a:solidFill>
                <a:latin typeface="Calibri" pitchFamily="34" charset="0"/>
                <a:ea typeface="Calibri" pitchFamily="34" charset="-122"/>
                <a:cs typeface="Calibri" pitchFamily="34" charset="-120"/>
              </a:rPr>
              <a:t>PICK IN 30 SECONDS</a:t>
            </a:r>
            <a:endParaRPr lang="en-US" sz="1100" dirty="0"/>
          </a:p>
        </p:txBody>
      </p:sp>
      <p:sp>
        <p:nvSpPr>
          <p:cNvPr id="3" name="Text 1"/>
          <p:cNvSpPr/>
          <p:nvPr/>
        </p:nvSpPr>
        <p:spPr>
          <a:xfrm>
            <a:off x="548640" y="713232"/>
            <a:ext cx="10972800" cy="640080"/>
          </a:xfrm>
          <a:prstGeom prst="rect">
            <a:avLst/>
          </a:prstGeom>
          <a:noFill/>
          <a:ln/>
        </p:spPr>
        <p:txBody>
          <a:bodyPr wrap="square" lIns="0" tIns="0" rIns="0" bIns="0" rtlCol="0" anchor="ctr"/>
          <a:lstStyle/>
          <a:p>
            <a:pPr marL="0" indent="0">
              <a:buNone/>
            </a:pPr>
            <a:r>
              <a:rPr lang="en-US" sz="3000" b="1" dirty="0">
                <a:solidFill>
                  <a:srgbClr val="211E1E"/>
                </a:solidFill>
                <a:latin typeface="Georgia" pitchFamily="34" charset="0"/>
                <a:ea typeface="Georgia" pitchFamily="34" charset="-122"/>
                <a:cs typeface="Georgia" pitchFamily="34" charset="-120"/>
              </a:rPr>
              <a:t>Decision checklist</a:t>
            </a:r>
            <a:endParaRPr lang="en-US" sz="3000" dirty="0"/>
          </a:p>
        </p:txBody>
      </p:sp>
      <p:sp>
        <p:nvSpPr>
          <p:cNvPr id="4" name="Shape 2"/>
          <p:cNvSpPr/>
          <p:nvPr/>
        </p:nvSpPr>
        <p:spPr>
          <a:xfrm>
            <a:off x="11338560" y="457200"/>
            <a:ext cx="274320" cy="45720"/>
          </a:xfrm>
          <a:prstGeom prst="rect">
            <a:avLst/>
          </a:prstGeom>
          <a:solidFill>
            <a:srgbClr val="117ACA"/>
          </a:solidFill>
          <a:ln/>
        </p:spPr>
      </p:sp>
      <p:sp>
        <p:nvSpPr>
          <p:cNvPr id="5" name="Text 3"/>
          <p:cNvSpPr/>
          <p:nvPr/>
        </p:nvSpPr>
        <p:spPr>
          <a:xfrm>
            <a:off x="640080" y="1508760"/>
            <a:ext cx="10972800" cy="365760"/>
          </a:xfrm>
          <a:prstGeom prst="rect">
            <a:avLst/>
          </a:prstGeom>
          <a:noFill/>
          <a:ln/>
        </p:spPr>
        <p:txBody>
          <a:bodyPr wrap="square" lIns="0" tIns="0" rIns="0" bIns="0" rtlCol="0" anchor="ctr"/>
          <a:lstStyle/>
          <a:p>
            <a:pPr marL="0" indent="0">
              <a:buNone/>
            </a:pPr>
            <a:r>
              <a:rPr lang="en-US" sz="1300" i="1" dirty="0">
                <a:solidFill>
                  <a:srgbClr val="5A6066"/>
                </a:solidFill>
                <a:latin typeface="Calibri" pitchFamily="34" charset="0"/>
                <a:ea typeface="Calibri" pitchFamily="34" charset="-122"/>
                <a:cs typeface="Calibri" pitchFamily="34" charset="-120"/>
              </a:rPr>
              <a:t>Answer four questions. Two yeses to either side is your signal.</a:t>
            </a:r>
            <a:endParaRPr lang="en-US" sz="1300" dirty="0"/>
          </a:p>
        </p:txBody>
      </p:sp>
      <p:sp>
        <p:nvSpPr>
          <p:cNvPr id="6" name="Shape 4"/>
          <p:cNvSpPr/>
          <p:nvPr/>
        </p:nvSpPr>
        <p:spPr>
          <a:xfrm>
            <a:off x="640080" y="2011680"/>
            <a:ext cx="10972800" cy="82296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7" name="Shape 5"/>
          <p:cNvSpPr/>
          <p:nvPr/>
        </p:nvSpPr>
        <p:spPr>
          <a:xfrm>
            <a:off x="640080" y="2011680"/>
            <a:ext cx="777240" cy="822960"/>
          </a:xfrm>
          <a:prstGeom prst="rect">
            <a:avLst/>
          </a:prstGeom>
          <a:solidFill>
            <a:srgbClr val="002D59"/>
          </a:solidFill>
          <a:ln/>
        </p:spPr>
      </p:sp>
      <p:sp>
        <p:nvSpPr>
          <p:cNvPr id="8" name="Text 6"/>
          <p:cNvSpPr/>
          <p:nvPr/>
        </p:nvSpPr>
        <p:spPr>
          <a:xfrm>
            <a:off x="640080" y="2011680"/>
            <a:ext cx="77724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1600200" y="2011680"/>
            <a:ext cx="6766560" cy="822960"/>
          </a:xfrm>
          <a:prstGeom prst="rect">
            <a:avLst/>
          </a:prstGeom>
          <a:noFill/>
          <a:ln/>
        </p:spPr>
        <p:txBody>
          <a:bodyPr wrap="square" lIns="0" tIns="0" rIns="0" bIns="0" rtlCol="0" anchor="ctr"/>
          <a:lstStyle/>
          <a:p>
            <a:pPr marL="0" indent="0">
              <a:buNone/>
            </a:pPr>
            <a:r>
              <a:rPr lang="en-US" sz="1500" b="1" dirty="0">
                <a:solidFill>
                  <a:srgbClr val="211E1E"/>
                </a:solidFill>
                <a:latin typeface="Calibri" pitchFamily="34" charset="0"/>
                <a:ea typeface="Calibri" pitchFamily="34" charset="-122"/>
                <a:cs typeface="Calibri" pitchFamily="34" charset="-120"/>
              </a:rPr>
              <a:t>Do you need persistent state between calls?</a:t>
            </a:r>
            <a:endParaRPr lang="en-US" sz="1500" dirty="0"/>
          </a:p>
        </p:txBody>
      </p:sp>
      <p:sp>
        <p:nvSpPr>
          <p:cNvPr id="10" name="Text 8"/>
          <p:cNvSpPr/>
          <p:nvPr/>
        </p:nvSpPr>
        <p:spPr>
          <a:xfrm>
            <a:off x="8412480" y="2011680"/>
            <a:ext cx="1005840" cy="822960"/>
          </a:xfrm>
          <a:prstGeom prst="rect">
            <a:avLst/>
          </a:prstGeom>
          <a:noFill/>
          <a:ln/>
        </p:spPr>
        <p:txBody>
          <a:bodyPr wrap="square" lIns="0" tIns="0" rIns="0" bIns="0" rtlCol="0" anchor="ctr"/>
          <a:lstStyle/>
          <a:p>
            <a:pPr marL="0" indent="0" algn="r">
              <a:buNone/>
            </a:pPr>
            <a:r>
              <a:rPr lang="en-US" sz="1000" b="1" kern="0" spc="300" dirty="0">
                <a:solidFill>
                  <a:srgbClr val="5A6066"/>
                </a:solidFill>
                <a:latin typeface="Calibri" pitchFamily="34" charset="0"/>
                <a:ea typeface="Calibri" pitchFamily="34" charset="-122"/>
                <a:cs typeface="Calibri" pitchFamily="34" charset="-120"/>
              </a:rPr>
              <a:t>IF YES →</a:t>
            </a:r>
            <a:endParaRPr lang="en-US" sz="1000" dirty="0"/>
          </a:p>
        </p:txBody>
      </p:sp>
      <p:sp>
        <p:nvSpPr>
          <p:cNvPr id="11" name="Shape 9"/>
          <p:cNvSpPr/>
          <p:nvPr/>
        </p:nvSpPr>
        <p:spPr>
          <a:xfrm>
            <a:off x="9555480" y="2176272"/>
            <a:ext cx="1920240" cy="493776"/>
          </a:xfrm>
          <a:prstGeom prst="rect">
            <a:avLst/>
          </a:prstGeom>
          <a:solidFill>
            <a:srgbClr val="1B7F9E"/>
          </a:solidFill>
          <a:ln/>
        </p:spPr>
      </p:sp>
      <p:sp>
        <p:nvSpPr>
          <p:cNvPr id="12" name="Text 10"/>
          <p:cNvSpPr/>
          <p:nvPr/>
        </p:nvSpPr>
        <p:spPr>
          <a:xfrm>
            <a:off x="9555480" y="2176272"/>
            <a:ext cx="192024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MCP</a:t>
            </a:r>
            <a:endParaRPr lang="en-US" sz="1400" dirty="0"/>
          </a:p>
        </p:txBody>
      </p:sp>
      <p:sp>
        <p:nvSpPr>
          <p:cNvPr id="13" name="Shape 11"/>
          <p:cNvSpPr/>
          <p:nvPr/>
        </p:nvSpPr>
        <p:spPr>
          <a:xfrm>
            <a:off x="640080" y="2971800"/>
            <a:ext cx="10972800" cy="82296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14" name="Shape 12"/>
          <p:cNvSpPr/>
          <p:nvPr/>
        </p:nvSpPr>
        <p:spPr>
          <a:xfrm>
            <a:off x="640080" y="2971800"/>
            <a:ext cx="777240" cy="822960"/>
          </a:xfrm>
          <a:prstGeom prst="rect">
            <a:avLst/>
          </a:prstGeom>
          <a:solidFill>
            <a:srgbClr val="002D59"/>
          </a:solidFill>
          <a:ln/>
        </p:spPr>
      </p:sp>
      <p:sp>
        <p:nvSpPr>
          <p:cNvPr id="15" name="Text 13"/>
          <p:cNvSpPr/>
          <p:nvPr/>
        </p:nvSpPr>
        <p:spPr>
          <a:xfrm>
            <a:off x="640080" y="2971800"/>
            <a:ext cx="77724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02</a:t>
            </a:r>
            <a:endParaRPr lang="en-US" sz="2200" dirty="0"/>
          </a:p>
        </p:txBody>
      </p:sp>
      <p:sp>
        <p:nvSpPr>
          <p:cNvPr id="16" name="Text 14"/>
          <p:cNvSpPr/>
          <p:nvPr/>
        </p:nvSpPr>
        <p:spPr>
          <a:xfrm>
            <a:off x="1600200" y="2971800"/>
            <a:ext cx="6766560" cy="822960"/>
          </a:xfrm>
          <a:prstGeom prst="rect">
            <a:avLst/>
          </a:prstGeom>
          <a:noFill/>
          <a:ln/>
        </p:spPr>
        <p:txBody>
          <a:bodyPr wrap="square" lIns="0" tIns="0" rIns="0" bIns="0" rtlCol="0" anchor="ctr"/>
          <a:lstStyle/>
          <a:p>
            <a:pPr marL="0" indent="0">
              <a:buNone/>
            </a:pPr>
            <a:r>
              <a:rPr lang="en-US" sz="1500" b="1" dirty="0">
                <a:solidFill>
                  <a:srgbClr val="211E1E"/>
                </a:solidFill>
                <a:latin typeface="Calibri" pitchFamily="34" charset="0"/>
                <a:ea typeface="Calibri" pitchFamily="34" charset="-122"/>
                <a:cs typeface="Calibri" pitchFamily="34" charset="-120"/>
              </a:rPr>
              <a:t>Do you orchestrate multiple APIs or workflows?</a:t>
            </a:r>
            <a:endParaRPr lang="en-US" sz="1500" dirty="0"/>
          </a:p>
        </p:txBody>
      </p:sp>
      <p:sp>
        <p:nvSpPr>
          <p:cNvPr id="17" name="Text 15"/>
          <p:cNvSpPr/>
          <p:nvPr/>
        </p:nvSpPr>
        <p:spPr>
          <a:xfrm>
            <a:off x="8412480" y="2971800"/>
            <a:ext cx="1005840" cy="822960"/>
          </a:xfrm>
          <a:prstGeom prst="rect">
            <a:avLst/>
          </a:prstGeom>
          <a:noFill/>
          <a:ln/>
        </p:spPr>
        <p:txBody>
          <a:bodyPr wrap="square" lIns="0" tIns="0" rIns="0" bIns="0" rtlCol="0" anchor="ctr"/>
          <a:lstStyle/>
          <a:p>
            <a:pPr marL="0" indent="0" algn="r">
              <a:buNone/>
            </a:pPr>
            <a:r>
              <a:rPr lang="en-US" sz="1000" b="1" kern="0" spc="300" dirty="0">
                <a:solidFill>
                  <a:srgbClr val="5A6066"/>
                </a:solidFill>
                <a:latin typeface="Calibri" pitchFamily="34" charset="0"/>
                <a:ea typeface="Calibri" pitchFamily="34" charset="-122"/>
                <a:cs typeface="Calibri" pitchFamily="34" charset="-120"/>
              </a:rPr>
              <a:t>IF YES →</a:t>
            </a:r>
            <a:endParaRPr lang="en-US" sz="1000" dirty="0"/>
          </a:p>
        </p:txBody>
      </p:sp>
      <p:sp>
        <p:nvSpPr>
          <p:cNvPr id="18" name="Shape 16"/>
          <p:cNvSpPr/>
          <p:nvPr/>
        </p:nvSpPr>
        <p:spPr>
          <a:xfrm>
            <a:off x="9555480" y="3136392"/>
            <a:ext cx="1920240" cy="493776"/>
          </a:xfrm>
          <a:prstGeom prst="rect">
            <a:avLst/>
          </a:prstGeom>
          <a:solidFill>
            <a:srgbClr val="1B7F9E"/>
          </a:solidFill>
          <a:ln/>
        </p:spPr>
      </p:sp>
      <p:sp>
        <p:nvSpPr>
          <p:cNvPr id="19" name="Text 17"/>
          <p:cNvSpPr/>
          <p:nvPr/>
        </p:nvSpPr>
        <p:spPr>
          <a:xfrm>
            <a:off x="9555480" y="3136392"/>
            <a:ext cx="192024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MCP</a:t>
            </a:r>
            <a:endParaRPr lang="en-US" sz="1400" dirty="0"/>
          </a:p>
        </p:txBody>
      </p:sp>
      <p:sp>
        <p:nvSpPr>
          <p:cNvPr id="20" name="Shape 18"/>
          <p:cNvSpPr/>
          <p:nvPr/>
        </p:nvSpPr>
        <p:spPr>
          <a:xfrm>
            <a:off x="640080" y="3931920"/>
            <a:ext cx="10972800" cy="82296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21" name="Shape 19"/>
          <p:cNvSpPr/>
          <p:nvPr/>
        </p:nvSpPr>
        <p:spPr>
          <a:xfrm>
            <a:off x="640080" y="3931920"/>
            <a:ext cx="777240" cy="822960"/>
          </a:xfrm>
          <a:prstGeom prst="rect">
            <a:avLst/>
          </a:prstGeom>
          <a:solidFill>
            <a:srgbClr val="002D59"/>
          </a:solidFill>
          <a:ln/>
        </p:spPr>
      </p:sp>
      <p:sp>
        <p:nvSpPr>
          <p:cNvPr id="22" name="Text 20"/>
          <p:cNvSpPr/>
          <p:nvPr/>
        </p:nvSpPr>
        <p:spPr>
          <a:xfrm>
            <a:off x="640080" y="3931920"/>
            <a:ext cx="77724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03</a:t>
            </a:r>
            <a:endParaRPr lang="en-US" sz="2200" dirty="0"/>
          </a:p>
        </p:txBody>
      </p:sp>
      <p:sp>
        <p:nvSpPr>
          <p:cNvPr id="23" name="Text 21"/>
          <p:cNvSpPr/>
          <p:nvPr/>
        </p:nvSpPr>
        <p:spPr>
          <a:xfrm>
            <a:off x="1600200" y="3931920"/>
            <a:ext cx="6766560" cy="822960"/>
          </a:xfrm>
          <a:prstGeom prst="rect">
            <a:avLst/>
          </a:prstGeom>
          <a:noFill/>
          <a:ln/>
        </p:spPr>
        <p:txBody>
          <a:bodyPr wrap="square" lIns="0" tIns="0" rIns="0" bIns="0" rtlCol="0" anchor="ctr"/>
          <a:lstStyle/>
          <a:p>
            <a:pPr marL="0" indent="0">
              <a:buNone/>
            </a:pPr>
            <a:r>
              <a:rPr lang="en-US" sz="1500" b="1" dirty="0">
                <a:solidFill>
                  <a:srgbClr val="211E1E"/>
                </a:solidFill>
                <a:latin typeface="Calibri" pitchFamily="34" charset="0"/>
                <a:ea typeface="Calibri" pitchFamily="34" charset="-122"/>
                <a:cs typeface="Calibri" pitchFamily="34" charset="-120"/>
              </a:rPr>
              <a:t>Is it a single, simple HTTPS API call?</a:t>
            </a:r>
            <a:endParaRPr lang="en-US" sz="1500" dirty="0"/>
          </a:p>
        </p:txBody>
      </p:sp>
      <p:sp>
        <p:nvSpPr>
          <p:cNvPr id="24" name="Text 22"/>
          <p:cNvSpPr/>
          <p:nvPr/>
        </p:nvSpPr>
        <p:spPr>
          <a:xfrm>
            <a:off x="8412480" y="3931920"/>
            <a:ext cx="1005840" cy="822960"/>
          </a:xfrm>
          <a:prstGeom prst="rect">
            <a:avLst/>
          </a:prstGeom>
          <a:noFill/>
          <a:ln/>
        </p:spPr>
        <p:txBody>
          <a:bodyPr wrap="square" lIns="0" tIns="0" rIns="0" bIns="0" rtlCol="0" anchor="ctr"/>
          <a:lstStyle/>
          <a:p>
            <a:pPr marL="0" indent="0" algn="r">
              <a:buNone/>
            </a:pPr>
            <a:r>
              <a:rPr lang="en-US" sz="1000" b="1" kern="0" spc="300" dirty="0">
                <a:solidFill>
                  <a:srgbClr val="5A6066"/>
                </a:solidFill>
                <a:latin typeface="Calibri" pitchFamily="34" charset="0"/>
                <a:ea typeface="Calibri" pitchFamily="34" charset="-122"/>
                <a:cs typeface="Calibri" pitchFamily="34" charset="-120"/>
              </a:rPr>
              <a:t>IF YES →</a:t>
            </a:r>
            <a:endParaRPr lang="en-US" sz="1000" dirty="0"/>
          </a:p>
        </p:txBody>
      </p:sp>
      <p:sp>
        <p:nvSpPr>
          <p:cNvPr id="25" name="Shape 23"/>
          <p:cNvSpPr/>
          <p:nvPr/>
        </p:nvSpPr>
        <p:spPr>
          <a:xfrm>
            <a:off x="9555480" y="4096512"/>
            <a:ext cx="1920240" cy="493776"/>
          </a:xfrm>
          <a:prstGeom prst="rect">
            <a:avLst/>
          </a:prstGeom>
          <a:solidFill>
            <a:srgbClr val="117ACA"/>
          </a:solidFill>
          <a:ln/>
        </p:spPr>
      </p:sp>
      <p:sp>
        <p:nvSpPr>
          <p:cNvPr id="26" name="Text 24"/>
          <p:cNvSpPr/>
          <p:nvPr/>
        </p:nvSpPr>
        <p:spPr>
          <a:xfrm>
            <a:off x="9555480" y="4096512"/>
            <a:ext cx="192024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skills.md</a:t>
            </a:r>
            <a:endParaRPr lang="en-US" sz="1400" dirty="0"/>
          </a:p>
        </p:txBody>
      </p:sp>
      <p:sp>
        <p:nvSpPr>
          <p:cNvPr id="27" name="Shape 25"/>
          <p:cNvSpPr/>
          <p:nvPr/>
        </p:nvSpPr>
        <p:spPr>
          <a:xfrm>
            <a:off x="640080" y="4892040"/>
            <a:ext cx="10972800" cy="822960"/>
          </a:xfrm>
          <a:prstGeom prst="rect">
            <a:avLst/>
          </a:prstGeom>
          <a:solidFill>
            <a:srgbClr val="FFFFFF"/>
          </a:solidFill>
          <a:ln w="12700">
            <a:solidFill>
              <a:srgbClr val="E6E9EB"/>
            </a:solidFill>
            <a:prstDash val="solid"/>
          </a:ln>
          <a:effectLst>
            <a:outerShdw blurRad="177800" dist="38100" dir="5400000" algn="bl" rotWithShape="0">
              <a:srgbClr val="000000">
                <a:alpha val="10000"/>
              </a:srgbClr>
            </a:outerShdw>
          </a:effectLst>
        </p:spPr>
      </p:sp>
      <p:sp>
        <p:nvSpPr>
          <p:cNvPr id="28" name="Shape 26"/>
          <p:cNvSpPr/>
          <p:nvPr/>
        </p:nvSpPr>
        <p:spPr>
          <a:xfrm>
            <a:off x="640080" y="4892040"/>
            <a:ext cx="777240" cy="822960"/>
          </a:xfrm>
          <a:prstGeom prst="rect">
            <a:avLst/>
          </a:prstGeom>
          <a:solidFill>
            <a:srgbClr val="002D59"/>
          </a:solidFill>
          <a:ln/>
        </p:spPr>
      </p:sp>
      <p:sp>
        <p:nvSpPr>
          <p:cNvPr id="29" name="Text 27"/>
          <p:cNvSpPr/>
          <p:nvPr/>
        </p:nvSpPr>
        <p:spPr>
          <a:xfrm>
            <a:off x="640080" y="4892040"/>
            <a:ext cx="77724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04</a:t>
            </a:r>
            <a:endParaRPr lang="en-US" sz="2200" dirty="0"/>
          </a:p>
        </p:txBody>
      </p:sp>
      <p:sp>
        <p:nvSpPr>
          <p:cNvPr id="30" name="Text 28"/>
          <p:cNvSpPr/>
          <p:nvPr/>
        </p:nvSpPr>
        <p:spPr>
          <a:xfrm>
            <a:off x="1600200" y="4892040"/>
            <a:ext cx="6766560" cy="822960"/>
          </a:xfrm>
          <a:prstGeom prst="rect">
            <a:avLst/>
          </a:prstGeom>
          <a:noFill/>
          <a:ln/>
        </p:spPr>
        <p:txBody>
          <a:bodyPr wrap="square" lIns="0" tIns="0" rIns="0" bIns="0" rtlCol="0" anchor="ctr"/>
          <a:lstStyle/>
          <a:p>
            <a:pPr marL="0" indent="0">
              <a:buNone/>
            </a:pPr>
            <a:r>
              <a:rPr lang="en-US" sz="1500" b="1" dirty="0">
                <a:solidFill>
                  <a:srgbClr val="211E1E"/>
                </a:solidFill>
                <a:latin typeface="Calibri" pitchFamily="34" charset="0"/>
                <a:ea typeface="Calibri" pitchFamily="34" charset="-122"/>
                <a:cs typeface="Calibri" pitchFamily="34" charset="-120"/>
              </a:rPr>
              <a:t>Do you need low latency with no infrastructure?</a:t>
            </a:r>
            <a:endParaRPr lang="en-US" sz="1500" dirty="0"/>
          </a:p>
        </p:txBody>
      </p:sp>
      <p:sp>
        <p:nvSpPr>
          <p:cNvPr id="31" name="Text 29"/>
          <p:cNvSpPr/>
          <p:nvPr/>
        </p:nvSpPr>
        <p:spPr>
          <a:xfrm>
            <a:off x="8412480" y="4892040"/>
            <a:ext cx="1005840" cy="822960"/>
          </a:xfrm>
          <a:prstGeom prst="rect">
            <a:avLst/>
          </a:prstGeom>
          <a:noFill/>
          <a:ln/>
        </p:spPr>
        <p:txBody>
          <a:bodyPr wrap="square" lIns="0" tIns="0" rIns="0" bIns="0" rtlCol="0" anchor="ctr"/>
          <a:lstStyle/>
          <a:p>
            <a:pPr marL="0" indent="0" algn="r">
              <a:buNone/>
            </a:pPr>
            <a:r>
              <a:rPr lang="en-US" sz="1000" b="1" kern="0" spc="300" dirty="0">
                <a:solidFill>
                  <a:srgbClr val="5A6066"/>
                </a:solidFill>
                <a:latin typeface="Calibri" pitchFamily="34" charset="0"/>
                <a:ea typeface="Calibri" pitchFamily="34" charset="-122"/>
                <a:cs typeface="Calibri" pitchFamily="34" charset="-120"/>
              </a:rPr>
              <a:t>IF YES →</a:t>
            </a:r>
            <a:endParaRPr lang="en-US" sz="1000" dirty="0"/>
          </a:p>
        </p:txBody>
      </p:sp>
      <p:sp>
        <p:nvSpPr>
          <p:cNvPr id="32" name="Shape 30"/>
          <p:cNvSpPr/>
          <p:nvPr/>
        </p:nvSpPr>
        <p:spPr>
          <a:xfrm>
            <a:off x="9555480" y="5056632"/>
            <a:ext cx="1920240" cy="493776"/>
          </a:xfrm>
          <a:prstGeom prst="rect">
            <a:avLst/>
          </a:prstGeom>
          <a:solidFill>
            <a:srgbClr val="117ACA"/>
          </a:solidFill>
          <a:ln/>
        </p:spPr>
      </p:sp>
      <p:sp>
        <p:nvSpPr>
          <p:cNvPr id="33" name="Text 31"/>
          <p:cNvSpPr/>
          <p:nvPr/>
        </p:nvSpPr>
        <p:spPr>
          <a:xfrm>
            <a:off x="9555480" y="5056632"/>
            <a:ext cx="192024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skills.md</a:t>
            </a:r>
            <a:endParaRPr lang="en-US" sz="1400" dirty="0"/>
          </a:p>
        </p:txBody>
      </p:sp>
      <p:sp>
        <p:nvSpPr>
          <p:cNvPr id="34" name="Text 32"/>
          <p:cNvSpPr/>
          <p:nvPr/>
        </p:nvSpPr>
        <p:spPr>
          <a:xfrm>
            <a:off x="10789920" y="6446520"/>
            <a:ext cx="914400" cy="274320"/>
          </a:xfrm>
          <a:prstGeom prst="rect">
            <a:avLst/>
          </a:prstGeom>
          <a:noFill/>
          <a:ln/>
        </p:spPr>
        <p:txBody>
          <a:bodyPr wrap="square" lIns="0" tIns="0" rIns="0" bIns="0" rtlCol="0" anchor="ctr"/>
          <a:lstStyle/>
          <a:p>
            <a:pPr marL="0" indent="0" algn="r">
              <a:buNone/>
            </a:pPr>
            <a:r>
              <a:rPr lang="en-US" sz="1000" dirty="0">
                <a:solidFill>
                  <a:srgbClr val="5A6066"/>
                </a:solidFill>
                <a:latin typeface="Calibri" pitchFamily="34" charset="0"/>
                <a:ea typeface="Calibri" pitchFamily="34" charset="-122"/>
                <a:cs typeface="Calibri" pitchFamily="34" charset="-120"/>
              </a:rPr>
              <a:t>12 / 13</a:t>
            </a:r>
            <a:endParaRPr lang="en-US" sz="1000" dirty="0"/>
          </a:p>
        </p:txBody>
      </p:sp>
      <p:sp>
        <p:nvSpPr>
          <p:cNvPr id="35" name="Text 3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A6066"/>
                </a:solidFill>
                <a:latin typeface="Calibri" pitchFamily="34" charset="0"/>
                <a:ea typeface="Calibri" pitchFamily="34" charset="-122"/>
                <a:cs typeface="Calibri" pitchFamily="34" charset="-120"/>
              </a:rPr>
              <a:t>Skills.md vs MCP Servers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D59"/>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17ACA"/>
          </a:solidFill>
          <a:ln/>
        </p:spPr>
      </p:sp>
      <p:sp>
        <p:nvSpPr>
          <p:cNvPr id="3" name="Shape 1"/>
          <p:cNvSpPr/>
          <p:nvPr/>
        </p:nvSpPr>
        <p:spPr>
          <a:xfrm>
            <a:off x="320040" y="0"/>
            <a:ext cx="73152" cy="6858000"/>
          </a:xfrm>
          <a:prstGeom prst="rect">
            <a:avLst/>
          </a:prstGeom>
          <a:solidFill>
            <a:srgbClr val="1B7F9E"/>
          </a:solidFill>
          <a:ln/>
        </p:spPr>
      </p:sp>
      <p:sp>
        <p:nvSpPr>
          <p:cNvPr id="4" name="Shape 2"/>
          <p:cNvSpPr/>
          <p:nvPr/>
        </p:nvSpPr>
        <p:spPr>
          <a:xfrm>
            <a:off x="-1371600" y="4114800"/>
            <a:ext cx="4114800" cy="4114800"/>
          </a:xfrm>
          <a:prstGeom prst="ellipse">
            <a:avLst/>
          </a:prstGeom>
          <a:solidFill>
            <a:srgbClr val="117ACA">
              <a:alpha val="20000"/>
            </a:srgbClr>
          </a:solidFill>
          <a:ln/>
        </p:spPr>
      </p:sp>
      <p:sp>
        <p:nvSpPr>
          <p:cNvPr id="5" name="Shape 3"/>
          <p:cNvSpPr/>
          <p:nvPr/>
        </p:nvSpPr>
        <p:spPr>
          <a:xfrm>
            <a:off x="9418320" y="-1097280"/>
            <a:ext cx="4114800" cy="4114800"/>
          </a:xfrm>
          <a:prstGeom prst="ellipse">
            <a:avLst/>
          </a:prstGeom>
          <a:solidFill>
            <a:srgbClr val="1B7F9E">
              <a:alpha val="25000"/>
            </a:srgbClr>
          </a:solidFill>
          <a:ln/>
        </p:spPr>
      </p:sp>
      <p:sp>
        <p:nvSpPr>
          <p:cNvPr id="6" name="Text 4"/>
          <p:cNvSpPr/>
          <p:nvPr/>
        </p:nvSpPr>
        <p:spPr>
          <a:xfrm>
            <a:off x="822960" y="640080"/>
            <a:ext cx="10058400" cy="365760"/>
          </a:xfrm>
          <a:prstGeom prst="rect">
            <a:avLst/>
          </a:prstGeom>
          <a:noFill/>
          <a:ln/>
        </p:spPr>
        <p:txBody>
          <a:bodyPr wrap="square" lIns="0" tIns="0" rIns="0" bIns="0" rtlCol="0" anchor="ctr"/>
          <a:lstStyle/>
          <a:p>
            <a:pPr marL="0" indent="0">
              <a:buNone/>
            </a:pPr>
            <a:r>
              <a:rPr lang="en-US" sz="1200" b="1" kern="0" spc="600" dirty="0">
                <a:solidFill>
                  <a:srgbClr val="117ACA"/>
                </a:solidFill>
                <a:latin typeface="Calibri" pitchFamily="34" charset="0"/>
                <a:ea typeface="Calibri" pitchFamily="34" charset="-122"/>
                <a:cs typeface="Calibri" pitchFamily="34" charset="-120"/>
              </a:rPr>
              <a:t>CONCLUSION</a:t>
            </a:r>
            <a:endParaRPr lang="en-US" sz="1200" dirty="0"/>
          </a:p>
        </p:txBody>
      </p:sp>
      <p:sp>
        <p:nvSpPr>
          <p:cNvPr id="7" name="Text 5"/>
          <p:cNvSpPr/>
          <p:nvPr/>
        </p:nvSpPr>
        <p:spPr>
          <a:xfrm>
            <a:off x="822960" y="105156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Recipe or kitchen?</a:t>
            </a:r>
            <a:endParaRPr lang="en-US" sz="4800" dirty="0"/>
          </a:p>
        </p:txBody>
      </p:sp>
      <p:sp>
        <p:nvSpPr>
          <p:cNvPr id="8" name="Text 6"/>
          <p:cNvSpPr/>
          <p:nvPr/>
        </p:nvSpPr>
        <p:spPr>
          <a:xfrm>
            <a:off x="822960" y="1920240"/>
            <a:ext cx="10058400" cy="548640"/>
          </a:xfrm>
          <a:prstGeom prst="rect">
            <a:avLst/>
          </a:prstGeom>
          <a:noFill/>
          <a:ln/>
        </p:spPr>
        <p:txBody>
          <a:bodyPr wrap="square" lIns="0" tIns="0" rIns="0" bIns="0" rtlCol="0" anchor="ctr"/>
          <a:lstStyle/>
          <a:p>
            <a:pPr marL="0" indent="0">
              <a:buNone/>
            </a:pPr>
            <a:r>
              <a:rPr lang="en-US" sz="2200" i="1" dirty="0">
                <a:solidFill>
                  <a:srgbClr val="C8D6E5"/>
                </a:solidFill>
                <a:latin typeface="Georgia" pitchFamily="34" charset="0"/>
                <a:ea typeface="Georgia" pitchFamily="34" charset="-122"/>
                <a:cs typeface="Georgia" pitchFamily="34" charset="-120"/>
              </a:rPr>
              <a:t>Choose by complexity and scale.</a:t>
            </a:r>
            <a:endParaRPr lang="en-US" sz="2200" dirty="0"/>
          </a:p>
        </p:txBody>
      </p:sp>
      <p:sp>
        <p:nvSpPr>
          <p:cNvPr id="9" name="Shape 7"/>
          <p:cNvSpPr/>
          <p:nvPr/>
        </p:nvSpPr>
        <p:spPr>
          <a:xfrm>
            <a:off x="868680" y="3108960"/>
            <a:ext cx="5029200" cy="2743200"/>
          </a:xfrm>
          <a:prstGeom prst="rect">
            <a:avLst/>
          </a:prstGeom>
          <a:solidFill>
            <a:srgbClr val="FFFFFF"/>
          </a:solidFill>
          <a:ln/>
          <a:effectLst>
            <a:outerShdw blurRad="177800" dist="38100" dir="5400000" algn="bl" rotWithShape="0">
              <a:srgbClr val="000000">
                <a:alpha val="10000"/>
              </a:srgbClr>
            </a:outerShdw>
          </a:effectLst>
        </p:spPr>
      </p:sp>
      <p:sp>
        <p:nvSpPr>
          <p:cNvPr id="10" name="Shape 8"/>
          <p:cNvSpPr/>
          <p:nvPr/>
        </p:nvSpPr>
        <p:spPr>
          <a:xfrm>
            <a:off x="868680" y="3108960"/>
            <a:ext cx="5029200" cy="109728"/>
          </a:xfrm>
          <a:prstGeom prst="rect">
            <a:avLst/>
          </a:prstGeom>
          <a:solidFill>
            <a:srgbClr val="117ACA"/>
          </a:solidFill>
          <a:ln/>
        </p:spPr>
      </p:sp>
      <p:sp>
        <p:nvSpPr>
          <p:cNvPr id="11" name="Shape 9"/>
          <p:cNvSpPr/>
          <p:nvPr/>
        </p:nvSpPr>
        <p:spPr>
          <a:xfrm>
            <a:off x="2743200" y="3474720"/>
            <a:ext cx="1280160" cy="1280160"/>
          </a:xfrm>
          <a:prstGeom prst="ellipse">
            <a:avLst/>
          </a:prstGeom>
          <a:solidFill>
            <a:srgbClr val="117ACA"/>
          </a:solidFill>
          <a:ln/>
        </p:spPr>
      </p:sp>
      <p:pic>
        <p:nvPicPr>
          <p:cNvPr id="12" name="Image 0" descr="preencoded.png"/>
          <p:cNvPicPr>
            <a:picLocks noChangeAspect="1"/>
          </p:cNvPicPr>
          <p:nvPr/>
        </p:nvPicPr>
        <p:blipFill>
          <a:blip r:embed="rId3"/>
          <a:stretch>
            <a:fillRect/>
          </a:stretch>
        </p:blipFill>
        <p:spPr>
          <a:xfrm>
            <a:off x="3063240" y="3794760"/>
            <a:ext cx="640080" cy="640080"/>
          </a:xfrm>
          <a:prstGeom prst="rect">
            <a:avLst/>
          </a:prstGeom>
        </p:spPr>
      </p:pic>
      <p:sp>
        <p:nvSpPr>
          <p:cNvPr id="13" name="Text 10"/>
          <p:cNvSpPr/>
          <p:nvPr/>
        </p:nvSpPr>
        <p:spPr>
          <a:xfrm>
            <a:off x="868680" y="4892040"/>
            <a:ext cx="5029200" cy="411480"/>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skills.md = Recipe</a:t>
            </a:r>
            <a:endParaRPr lang="en-US" sz="2200" dirty="0"/>
          </a:p>
        </p:txBody>
      </p:sp>
      <p:sp>
        <p:nvSpPr>
          <p:cNvPr id="14" name="Text 11"/>
          <p:cNvSpPr/>
          <p:nvPr/>
        </p:nvSpPr>
        <p:spPr>
          <a:xfrm>
            <a:off x="1188720" y="5303520"/>
            <a:ext cx="4389120" cy="320040"/>
          </a:xfrm>
          <a:prstGeom prst="rect">
            <a:avLst/>
          </a:prstGeom>
          <a:noFill/>
          <a:ln/>
        </p:spPr>
        <p:txBody>
          <a:bodyPr wrap="square" lIns="0" tIns="0" rIns="0" bIns="0" rtlCol="0" anchor="ctr"/>
          <a:lstStyle/>
          <a:p>
            <a:pPr marL="0" indent="0" algn="ctr">
              <a:buNone/>
            </a:pPr>
            <a:r>
              <a:rPr lang="en-US" sz="1300" i="1" dirty="0">
                <a:solidFill>
                  <a:srgbClr val="117ACA"/>
                </a:solidFill>
                <a:latin typeface="Calibri" pitchFamily="34" charset="0"/>
                <a:ea typeface="Calibri" pitchFamily="34" charset="-122"/>
                <a:cs typeface="Calibri" pitchFamily="34" charset="-120"/>
              </a:rPr>
              <a:t>"Tell the model what to do."</a:t>
            </a:r>
            <a:endParaRPr lang="en-US" sz="1300" dirty="0"/>
          </a:p>
        </p:txBody>
      </p:sp>
      <p:sp>
        <p:nvSpPr>
          <p:cNvPr id="15" name="Text 12"/>
          <p:cNvSpPr/>
          <p:nvPr/>
        </p:nvSpPr>
        <p:spPr>
          <a:xfrm>
            <a:off x="1188720" y="5577840"/>
            <a:ext cx="4389120" cy="274320"/>
          </a:xfrm>
          <a:prstGeom prst="rect">
            <a:avLst/>
          </a:prstGeom>
          <a:noFill/>
          <a:ln/>
        </p:spPr>
        <p:txBody>
          <a:bodyPr wrap="square" lIns="0" tIns="0" rIns="0" bIns="0" rtlCol="0" anchor="ctr"/>
          <a:lstStyle/>
          <a:p>
            <a:pPr marL="0" indent="0" algn="ctr">
              <a:buNone/>
            </a:pPr>
            <a:r>
              <a:rPr lang="en-US" sz="1100" dirty="0">
                <a:solidFill>
                  <a:srgbClr val="5A6066"/>
                </a:solidFill>
                <a:latin typeface="Calibri" pitchFamily="34" charset="0"/>
                <a:ea typeface="Calibri" pitchFamily="34" charset="-122"/>
                <a:cs typeface="Calibri" pitchFamily="34" charset="-120"/>
              </a:rPr>
              <a:t>Light, fast, fits in your prompt.</a:t>
            </a:r>
            <a:endParaRPr lang="en-US" sz="1100" dirty="0"/>
          </a:p>
        </p:txBody>
      </p:sp>
      <p:sp>
        <p:nvSpPr>
          <p:cNvPr id="16" name="Shape 13"/>
          <p:cNvSpPr/>
          <p:nvPr/>
        </p:nvSpPr>
        <p:spPr>
          <a:xfrm>
            <a:off x="6263640" y="3108960"/>
            <a:ext cx="5029200" cy="2743200"/>
          </a:xfrm>
          <a:prstGeom prst="rect">
            <a:avLst/>
          </a:prstGeom>
          <a:solidFill>
            <a:srgbClr val="FFFFFF"/>
          </a:solidFill>
          <a:ln/>
          <a:effectLst>
            <a:outerShdw blurRad="177800" dist="38100" dir="5400000" algn="bl" rotWithShape="0">
              <a:srgbClr val="000000">
                <a:alpha val="10000"/>
              </a:srgbClr>
            </a:outerShdw>
          </a:effectLst>
        </p:spPr>
      </p:sp>
      <p:sp>
        <p:nvSpPr>
          <p:cNvPr id="17" name="Shape 14"/>
          <p:cNvSpPr/>
          <p:nvPr/>
        </p:nvSpPr>
        <p:spPr>
          <a:xfrm>
            <a:off x="6263640" y="3108960"/>
            <a:ext cx="5029200" cy="109728"/>
          </a:xfrm>
          <a:prstGeom prst="rect">
            <a:avLst/>
          </a:prstGeom>
          <a:solidFill>
            <a:srgbClr val="1B7F9E"/>
          </a:solidFill>
          <a:ln/>
        </p:spPr>
      </p:sp>
      <p:sp>
        <p:nvSpPr>
          <p:cNvPr id="18" name="Shape 15"/>
          <p:cNvSpPr/>
          <p:nvPr/>
        </p:nvSpPr>
        <p:spPr>
          <a:xfrm>
            <a:off x="8138160" y="3474720"/>
            <a:ext cx="1280160" cy="1280160"/>
          </a:xfrm>
          <a:prstGeom prst="ellipse">
            <a:avLst/>
          </a:prstGeom>
          <a:solidFill>
            <a:srgbClr val="1B7F9E"/>
          </a:solidFill>
          <a:ln/>
        </p:spPr>
      </p:sp>
      <p:pic>
        <p:nvPicPr>
          <p:cNvPr id="19" name="Image 1" descr="preencoded.png"/>
          <p:cNvPicPr>
            <a:picLocks noChangeAspect="1"/>
          </p:cNvPicPr>
          <p:nvPr/>
        </p:nvPicPr>
        <p:blipFill>
          <a:blip r:embed="rId4"/>
          <a:stretch>
            <a:fillRect/>
          </a:stretch>
        </p:blipFill>
        <p:spPr>
          <a:xfrm>
            <a:off x="8458200" y="3794760"/>
            <a:ext cx="640080" cy="640080"/>
          </a:xfrm>
          <a:prstGeom prst="rect">
            <a:avLst/>
          </a:prstGeom>
        </p:spPr>
      </p:pic>
      <p:sp>
        <p:nvSpPr>
          <p:cNvPr id="20" name="Text 16"/>
          <p:cNvSpPr/>
          <p:nvPr/>
        </p:nvSpPr>
        <p:spPr>
          <a:xfrm>
            <a:off x="6263640" y="4892040"/>
            <a:ext cx="5029200" cy="411480"/>
          </a:xfrm>
          <a:prstGeom prst="rect">
            <a:avLst/>
          </a:prstGeom>
          <a:noFill/>
          <a:ln/>
        </p:spPr>
        <p:txBody>
          <a:bodyPr wrap="square" lIns="0" tIns="0" rIns="0" bIns="0" rtlCol="0" anchor="ctr"/>
          <a:lstStyle/>
          <a:p>
            <a:pPr marL="0" indent="0" algn="ctr">
              <a:buNone/>
            </a:pPr>
            <a:r>
              <a:rPr lang="en-US" sz="2200" b="1" dirty="0">
                <a:solidFill>
                  <a:srgbClr val="211E1E"/>
                </a:solidFill>
                <a:latin typeface="Georgia" pitchFamily="34" charset="0"/>
                <a:ea typeface="Georgia" pitchFamily="34" charset="-122"/>
                <a:cs typeface="Georgia" pitchFamily="34" charset="-120"/>
              </a:rPr>
              <a:t>MCP = Kitchen</a:t>
            </a:r>
            <a:endParaRPr lang="en-US" sz="2200" dirty="0"/>
          </a:p>
        </p:txBody>
      </p:sp>
      <p:sp>
        <p:nvSpPr>
          <p:cNvPr id="21" name="Text 17"/>
          <p:cNvSpPr/>
          <p:nvPr/>
        </p:nvSpPr>
        <p:spPr>
          <a:xfrm>
            <a:off x="6583680" y="5303520"/>
            <a:ext cx="4389120" cy="320040"/>
          </a:xfrm>
          <a:prstGeom prst="rect">
            <a:avLst/>
          </a:prstGeom>
          <a:noFill/>
          <a:ln/>
        </p:spPr>
        <p:txBody>
          <a:bodyPr wrap="square" lIns="0" tIns="0" rIns="0" bIns="0" rtlCol="0" anchor="ctr"/>
          <a:lstStyle/>
          <a:p>
            <a:pPr marL="0" indent="0" algn="ctr">
              <a:buNone/>
            </a:pPr>
            <a:r>
              <a:rPr lang="en-US" sz="1300" i="1" dirty="0">
                <a:solidFill>
                  <a:srgbClr val="1B7F9E"/>
                </a:solidFill>
                <a:latin typeface="Calibri" pitchFamily="34" charset="0"/>
                <a:ea typeface="Calibri" pitchFamily="34" charset="-122"/>
                <a:cs typeface="Calibri" pitchFamily="34" charset="-120"/>
              </a:rPr>
              <a:t>"Give the model a place to work."</a:t>
            </a:r>
            <a:endParaRPr lang="en-US" sz="1300" dirty="0"/>
          </a:p>
        </p:txBody>
      </p:sp>
      <p:sp>
        <p:nvSpPr>
          <p:cNvPr id="22" name="Text 18"/>
          <p:cNvSpPr/>
          <p:nvPr/>
        </p:nvSpPr>
        <p:spPr>
          <a:xfrm>
            <a:off x="6583680" y="5577840"/>
            <a:ext cx="4389120" cy="274320"/>
          </a:xfrm>
          <a:prstGeom prst="rect">
            <a:avLst/>
          </a:prstGeom>
          <a:noFill/>
          <a:ln/>
        </p:spPr>
        <p:txBody>
          <a:bodyPr wrap="square" lIns="0" tIns="0" rIns="0" bIns="0" rtlCol="0" anchor="ctr"/>
          <a:lstStyle/>
          <a:p>
            <a:pPr marL="0" indent="0" algn="ctr">
              <a:buNone/>
            </a:pPr>
            <a:r>
              <a:rPr lang="en-US" sz="1100" dirty="0">
                <a:solidFill>
                  <a:srgbClr val="5A6066"/>
                </a:solidFill>
                <a:latin typeface="Calibri" pitchFamily="34" charset="0"/>
                <a:ea typeface="Calibri" pitchFamily="34" charset="-122"/>
                <a:cs typeface="Calibri" pitchFamily="34" charset="-120"/>
              </a:rPr>
              <a:t>Powerful, persistent, built to scale.</a:t>
            </a:r>
            <a:endParaRPr lang="en-US" sz="1100" dirty="0"/>
          </a:p>
        </p:txBody>
      </p:sp>
      <p:sp>
        <p:nvSpPr>
          <p:cNvPr id="23" name="Shape 19"/>
          <p:cNvSpPr/>
          <p:nvPr/>
        </p:nvSpPr>
        <p:spPr>
          <a:xfrm>
            <a:off x="822960" y="6126480"/>
            <a:ext cx="2743200" cy="0"/>
          </a:xfrm>
          <a:prstGeom prst="line">
            <a:avLst/>
          </a:prstGeom>
          <a:noFill/>
          <a:ln w="25400">
            <a:solidFill>
              <a:srgbClr val="117ACA"/>
            </a:solidFill>
            <a:prstDash val="solid"/>
          </a:ln>
        </p:spPr>
      </p:sp>
      <p:sp>
        <p:nvSpPr>
          <p:cNvPr id="24" name="Text 20"/>
          <p:cNvSpPr/>
          <p:nvPr/>
        </p:nvSpPr>
        <p:spPr>
          <a:xfrm>
            <a:off x="822960" y="6263640"/>
            <a:ext cx="10058400" cy="365760"/>
          </a:xfrm>
          <a:prstGeom prst="rect">
            <a:avLst/>
          </a:prstGeom>
          <a:noFill/>
          <a:ln/>
        </p:spPr>
        <p:txBody>
          <a:bodyPr wrap="square" lIns="0" tIns="0" rIns="0" bIns="0" rtlCol="0" anchor="ctr"/>
          <a:lstStyle/>
          <a:p>
            <a:pPr marL="0" indent="0">
              <a:buNone/>
            </a:pPr>
            <a:r>
              <a:rPr lang="en-US" sz="1200" i="1" dirty="0">
                <a:solidFill>
                  <a:srgbClr val="C8D6E5"/>
                </a:solidFill>
                <a:latin typeface="Calibri" pitchFamily="34" charset="0"/>
                <a:ea typeface="Calibri" pitchFamily="34" charset="-122"/>
                <a:cs typeface="Calibri" pitchFamily="34" charset="-120"/>
              </a:rPr>
              <a:t>Use both — skills for the edges, MCP for the spine.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2237</Words>
  <Application>Microsoft Macintosh PowerPoint</Application>
  <PresentationFormat>Widescreen</PresentationFormat>
  <Paragraphs>296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Skills.md vs MCP Servers</dc:title>
  <dc:subject>PptxGenJS Presentation</dc:subject>
  <dc:creator>Engineering Architecture</dc:creator>
  <cp:lastModifiedBy>Microsoft Office User</cp:lastModifiedBy>
  <cp:revision>2</cp:revision>
  <dcterms:created xsi:type="dcterms:W3CDTF">2026-04-27T10:57:58Z</dcterms:created>
  <dcterms:modified xsi:type="dcterms:W3CDTF">2026-04-27T11:19:48Z</dcterms:modified>
</cp:coreProperties>
</file>