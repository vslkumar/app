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3044952" cy="2971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4846320"/>
            <a:ext cx="3054096" cy="2971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48" y="4846320"/>
            <a:ext cx="3044952" cy="2971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91440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73152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09728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4008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0040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256032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4389120"/>
            <a:ext cx="64008" cy="64008"/>
          </a:xfrm>
          <a:prstGeom prst="ellipse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 ·  Agents  ·  MCPs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Comparison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463040" y="2606040"/>
            <a:ext cx="2286000" cy="475488"/>
          </a:xfrm>
          <a:prstGeom prst="rect">
            <a:avLst/>
          </a:prstGeom>
          <a:solidFill>
            <a:srgbClr val="38BDF8">
              <a:alpha val="18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6060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Skills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0" y="2606040"/>
            <a:ext cx="2286000" cy="475488"/>
          </a:xfrm>
          <a:prstGeom prst="rect">
            <a:avLst/>
          </a:prstGeom>
          <a:solidFill>
            <a:srgbClr val="818CF8">
              <a:alpha val="18000"/>
            </a:srgbClr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6060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2606040"/>
            <a:ext cx="2286000" cy="475488"/>
          </a:xfrm>
          <a:prstGeom prst="rect">
            <a:avLst/>
          </a:prstGeom>
          <a:solidFill>
            <a:srgbClr val="34D399">
              <a:alpha val="18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6060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MCPs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they work · When to use · Token economy · Internal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Three Paradigms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93192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54864" cy="3931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8686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🛠️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93192" y="1600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instruction block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450592"/>
            <a:ext cx="16916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420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Static, pre-written prompt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No autonomy — runs as-is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Like a recipe in a cookbook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822960"/>
            <a:ext cx="2697480" cy="393192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22960"/>
            <a:ext cx="54864" cy="3931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8686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73552" y="1600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37560" y="2057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reasoning loop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450592"/>
            <a:ext cx="16916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5420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Thinks → Acts → Observes loop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Chooses its own tools &amp; steps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Like a human consultant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822960"/>
            <a:ext cx="2697480" cy="393192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822960"/>
            <a:ext cx="54864" cy="3931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153912" y="8686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153912" y="1600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2057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Standardised capability plug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2450592"/>
            <a:ext cx="16916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5420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Protocol for exposing tools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Connects AI to any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Like a USB-C standard 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Skills — The Cookbook Recipe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777240"/>
            <a:ext cx="3931920" cy="192024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cookbook recipe 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recipe tells the cook exactly what to do — step by step, every time. The cook follows it precisely. No improvisation. No decisions.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777240"/>
            <a:ext cx="4389120" cy="192024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777240"/>
            <a:ext cx="54864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INTERNALLY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1115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1️⃣  Skill SKILL.md is read at task start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4996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2️⃣  Contents injected into system prompt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883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3️⃣  Model follows instructions verbatim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2677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4️⃣  Output generated — no loop, no tool 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8503920" cy="187452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54864" cy="1874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880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CHARACTERISTICS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Definition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file with reusable best-practice instructions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Autonomy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— deterministic, same output for same 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813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single-pass inference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Scope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813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Task-scoped: injected per conversation, not persistent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Agents — The Human Consultant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777240"/>
            <a:ext cx="3931920" cy="192024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human consultant 🧑‍💼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give a consultant a goal, not a script. They research, make decisions, use tools, and iterate — independently — until the job is done.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777240"/>
            <a:ext cx="4389120" cy="192024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777240"/>
            <a:ext cx="54864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REASONING LOOP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1115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1️⃣  Receive goal (user prompt)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14538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2️⃣  Think: what's the next action? (LLM call)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179222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3️⃣  Act: call a tool / write code / 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21305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4️⃣  Observe tool result → loop back to step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24688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5️⃣  Terminate when goal is met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8503920" cy="187452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54864" cy="18745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880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CHARACTERISTICS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Definition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in a loop that can call tools &amp; observe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Autonomy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— plans its own steps toward the goal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813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multi-step, dynamic, non-deterministic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Scope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813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across turns; state lives in context window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MCPs — The USB-C Standard 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777240"/>
            <a:ext cx="3931920" cy="192024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1920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USB-C port 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USB-C is a standard that lets ANY device connect to ANY peripherals. MCP is the same — a standard so any AI model can talk to any tool or service.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777240"/>
            <a:ext cx="4389120" cy="192024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777240"/>
            <a:ext cx="54864" cy="1920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INTERNALLY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1115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1️⃣  MCP server exposes tools via standard protocol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14538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2️⃣  Client (Claude) discovers available tools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179222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3️⃣  Tool schemas injected into system prompt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21305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4️⃣  Model calls tools → server executes → returns result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24688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5️⃣  Works the same regardless of the host 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8503920" cy="187452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54864" cy="1874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880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CHARACTERISTICS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Definition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protocol: JSON-RPC over stdio or SSE/HTTP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Autonomy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— it's infrastructure, not intelligence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813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stateless protocol; state lives in the client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Scope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813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Cross-application; same server works with any AI client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They Compose — They're Not Mutually Exclusive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14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They Compose — They're Not Mutually Exclusive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841248"/>
            <a:ext cx="2743200" cy="841248"/>
          </a:xfrm>
          <a:prstGeom prst="rect">
            <a:avLst/>
          </a:prstGeom>
          <a:solidFill>
            <a:srgbClr val="818CF8">
              <a:alpha val="22000"/>
            </a:srgbClr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4124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26280" y="1682496"/>
            <a:ext cx="91440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1920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3108960" cy="777240"/>
          </a:xfrm>
          <a:prstGeom prst="rect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148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Skills  (best-practice prompts)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2514600"/>
            <a:ext cx="10058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148840"/>
            <a:ext cx="3108960" cy="777240"/>
          </a:xfrm>
          <a:prstGeom prst="rect">
            <a:avLst/>
          </a:prstGeom>
          <a:solidFill>
            <a:srgbClr val="34D399">
              <a:alpha val="20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148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MCP Tools  (external services)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514600"/>
            <a:ext cx="5486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127248"/>
            <a:ext cx="2743200" cy="164592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27248"/>
            <a:ext cx="54864" cy="1645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172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guide the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354787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an Agent runs code or creates files, it reads the SKILL.md — best-practice rules injected into its context.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127248"/>
            <a:ext cx="2743200" cy="164592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127248"/>
            <a:ext cx="54864" cy="1645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172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orchestrates both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54787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is the brain: it decides when to use a Skill's guidance and when to call an MCP tool.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127248"/>
            <a:ext cx="2743200" cy="164592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127248"/>
            <a:ext cx="54864" cy="1645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6281928" y="3172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MCPs extend the Agent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354787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MCPs give the Agent hands — access to databases, APIs, file systems, without custom integration code.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Token Economy — What Does Each Cost?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841248"/>
            <a:ext cx="7315200" cy="2560320"/>
          </a:xfrm>
          <a:prstGeom prst="rect">
            <a:avLst/>
          </a:prstGeom>
          <a:solidFill>
            <a:srgbClr val="141B2D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548128"/>
            <a:ext cx="7315200" cy="9144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" y="24109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694688"/>
            <a:ext cx="7315200" cy="9144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" y="1557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841248"/>
            <a:ext cx="7315200" cy="9144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" y="704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0" y="19842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99032" y="3333293"/>
            <a:ext cx="36576" cy="4267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354629"/>
            <a:ext cx="1280160" cy="46939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62021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(single pass)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3299155"/>
            <a:ext cx="36576" cy="59741"/>
          </a:xfrm>
          <a:prstGeom prst="rect">
            <a:avLst/>
          </a:prstGeom>
          <a:solidFill>
            <a:srgbClr val="34D399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06040" y="3329026"/>
            <a:ext cx="1280160" cy="72542"/>
          </a:xfrm>
          <a:prstGeom prst="rect">
            <a:avLst/>
          </a:prstGeom>
          <a:solidFill>
            <a:srgbClr val="34D399">
              <a:alpha val="7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03641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(schema+result)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56632" y="2718816"/>
            <a:ext cx="36576" cy="426720"/>
          </a:xfrm>
          <a:prstGeom prst="rect">
            <a:avLst/>
          </a:prstGeom>
          <a:solidFill>
            <a:srgbClr val="818CF8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34840" y="2932176"/>
            <a:ext cx="1280160" cy="469392"/>
          </a:xfrm>
          <a:prstGeom prst="rect">
            <a:avLst/>
          </a:prstGeom>
          <a:solidFill>
            <a:srgbClr val="818CF8">
              <a:alpha val="7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639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(3-step loop)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85432" y="841248"/>
            <a:ext cx="36576" cy="1706880"/>
          </a:xfrm>
          <a:prstGeom prst="rect">
            <a:avLst/>
          </a:prstGeom>
          <a:solidFill>
            <a:srgbClr val="FB7185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1694688"/>
            <a:ext cx="1280160" cy="1706880"/>
          </a:xfrm>
          <a:prstGeom prst="rect">
            <a:avLst/>
          </a:prstGeom>
          <a:solidFill>
            <a:srgbClr val="FB7185">
              <a:alpha val="7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402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(10-step loop)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657600"/>
            <a:ext cx="2743200" cy="1353312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657600"/>
            <a:ext cx="54864" cy="13533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Skills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9768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Skill file: ~200–500 tokens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" y="4270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User prompt: ~100–300 tokens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" y="4498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Response: ~200–500 tokens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" y="4727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No loops = low, predictable cost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3657600"/>
            <a:ext cx="2743200" cy="1353312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3657600"/>
            <a:ext cx="54864" cy="13533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3355848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MCPs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55848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Tool schemas in prompt: ~100–400 tokens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55848" y="4270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Each tool result: ~200–600 tokens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55848" y="4498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Adds overhead per tool call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55848" y="4727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Cost scales with # of tools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657600"/>
            <a:ext cx="2743200" cy="1353312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3657600"/>
            <a:ext cx="54864" cy="135331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1928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Full history in EVERY call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81928" y="4270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Tokens compound per loop step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81928" y="4498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3 steps ≈ 3–8k tokens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81928" y="4727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10 steps ≈ 10–30k+ tokens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Head-to-Head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804672"/>
            <a:ext cx="2103120" cy="384048"/>
          </a:xfrm>
          <a:prstGeom prst="rect">
            <a:avLst/>
          </a:prstGeom>
          <a:solidFill>
            <a:srgbClr val="475569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804672"/>
            <a:ext cx="2148840" cy="384048"/>
          </a:xfrm>
          <a:prstGeom prst="rect">
            <a:avLst/>
          </a:prstGeom>
          <a:solidFill>
            <a:srgbClr val="38BDF8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Skill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804672"/>
            <a:ext cx="2148840" cy="384048"/>
          </a:xfrm>
          <a:prstGeom prst="rect">
            <a:avLst/>
          </a:prstGeom>
          <a:solidFill>
            <a:srgbClr val="818CF8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804672"/>
            <a:ext cx="2148840" cy="384048"/>
          </a:xfrm>
          <a:prstGeom prst="rect">
            <a:avLst/>
          </a:prstGeom>
          <a:solidFill>
            <a:srgbClr val="34D399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MCP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188720"/>
            <a:ext cx="210312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188720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1188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Prompt/instruction file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188720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188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in a reasoning loop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1188720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188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Tool-exposure protocol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1572768"/>
            <a:ext cx="210312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1572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1572768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15727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None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1572768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15727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High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1572768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15727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None (infra only)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1956816"/>
            <a:ext cx="210312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19568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loop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0" y="1956816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195681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Single 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1956816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195681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Multi-step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1956816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195681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Stateless calls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2340864"/>
            <a:ext cx="210312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23408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access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0" y="2340864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234086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No tools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34840" y="2340864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07992" y="234086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Any tools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2340864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234086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Provides tools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" y="2724912"/>
            <a:ext cx="210312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27249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cost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0" y="2724912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59152" y="27249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Low (300-800)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34840" y="2724912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27249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High (3k–30k+)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2724912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27249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Medium (500-1.2k)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" y="3108960"/>
            <a:ext cx="210312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" y="3108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Deterministic?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0" y="3108960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59152" y="31089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Yes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34840" y="3108960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07992" y="31089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No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83680" y="3108960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56832" y="31089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Yes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82880" y="3493008"/>
            <a:ext cx="210312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34930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complexity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286000" y="3493008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59152" y="349300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Low — write .md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434840" y="3493008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07992" y="349300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Medium — orchestrate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583680" y="3493008"/>
            <a:ext cx="2148840" cy="384048"/>
          </a:xfrm>
          <a:prstGeom prst="rect">
            <a:avLst/>
          </a:prstGeom>
          <a:solidFill>
            <a:srgbClr val="1A2340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56832" y="349300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High — run server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82880" y="3877056"/>
            <a:ext cx="210312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" y="38770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286000" y="3877056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59152" y="387705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task guides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434840" y="3877056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07992" y="387705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Open-ended goals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583680" y="3877056"/>
            <a:ext cx="2148840" cy="384048"/>
          </a:xfrm>
          <a:prstGeom prst="rect">
            <a:avLst/>
          </a:prstGeom>
          <a:solidFill>
            <a:srgbClr val="141B2D"/>
          </a:solidFill>
          <a:ln w="10160">
            <a:solidFill>
              <a:srgbClr val="0A0F1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56832" y="387705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Connecting to services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When to Use What — Decision Guide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54864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804672"/>
            <a:ext cx="1627632" cy="960120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850392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 You have a best practice that should ALWAYS be applied to a task type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261872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e.g. 'always write PPTX with pptxgenjs library', 'always use these coding standards'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50608" y="804672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USE A SKILL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96012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47088"/>
            <a:ext cx="54864" cy="9601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1847088"/>
            <a:ext cx="1627632" cy="960120"/>
          </a:xfrm>
          <a:prstGeom prst="rect">
            <a:avLst/>
          </a:prstGeom>
          <a:solidFill>
            <a:srgbClr val="818CF8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892808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 You have a complex, open-ended goal with uncertain steps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23042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e.g. 'research this topic and write a report', 'debug and fix this codebase'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50608" y="184708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USE AN 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89504"/>
            <a:ext cx="8503920" cy="96012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9504"/>
            <a:ext cx="54864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2889504"/>
            <a:ext cx="1627632" cy="96012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935224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 You want Claude to interact with an external system or API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3346704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e.g. 'read my Google Drive', 'create a Jira ticket', 'query the database'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2889504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USE MCP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960120"/>
          </a:xfrm>
          <a:prstGeom prst="rect">
            <a:avLst/>
          </a:prstGeom>
          <a:solidFill>
            <a:srgbClr val="141B2D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31920"/>
            <a:ext cx="54864" cy="960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3931920"/>
            <a:ext cx="1627632" cy="960120"/>
          </a:xfrm>
          <a:prstGeom prst="rect">
            <a:avLst/>
          </a:prstGeom>
          <a:solidFill>
            <a:srgbClr val="FBBF24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977640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IF:  You need an Agent that follows expert standards AND uses external tools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" y="438912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reads Skills → Agent uses MCP tools to accomplish the goal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39319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COMBINE ALL THREE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9728"/>
            <a:ext cx="91440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103120" cy="2697480"/>
          </a:xfrm>
          <a:prstGeom prst="rect">
            <a:avLst/>
          </a:prstGeom>
          <a:solidFill>
            <a:srgbClr val="141B2D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54864" cy="2697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= Best-practice recipes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1920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Cheap, deterministic, single-pass. Inject expert knowledge without extra tokens from loops.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960120"/>
            <a:ext cx="2103120" cy="2697480"/>
          </a:xfrm>
          <a:prstGeom prst="rect">
            <a:avLst/>
          </a:prstGeom>
          <a:solidFill>
            <a:srgbClr val="141B2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960120"/>
            <a:ext cx="54864" cy="26974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78608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= Autonomous reasoners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231136"/>
            <a:ext cx="1920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 for open-ended goals, but token cost compounds. Set step limits &amp; test carefully.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960120"/>
            <a:ext cx="2103120" cy="2697480"/>
          </a:xfrm>
          <a:prstGeom prst="rect">
            <a:avLst/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960120"/>
            <a:ext cx="54864" cy="2697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91456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MCPs = Capability bus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2231136"/>
            <a:ext cx="1920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intelligence — infrastructure. Standardise how tools connect so any AI client can use them.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12864" y="960120"/>
            <a:ext cx="2103120" cy="2697480"/>
          </a:xfrm>
          <a:prstGeom prst="rect">
            <a:avLst/>
          </a:prstGeom>
          <a:solidFill>
            <a:srgbClr val="141B2D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960120"/>
            <a:ext cx="54864" cy="2697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6912864" y="1005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04304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compose, not compete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4304" y="2231136"/>
            <a:ext cx="1920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well-architected system = Agent (brain) + Skills (expertise) + MCPs (hands). Use each at the right layer.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in layers: What to do (Skill) · How to do it (Agent) · What tools to use (MCP)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297680"/>
            <a:ext cx="3044952" cy="84582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4952" y="4297680"/>
            <a:ext cx="3054096" cy="845820"/>
          </a:xfrm>
          <a:prstGeom prst="rect">
            <a:avLst/>
          </a:prstGeom>
          <a:solidFill>
            <a:srgbClr val="818CF8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99048" y="4297680"/>
            <a:ext cx="3044952" cy="845820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297680"/>
            <a:ext cx="3044952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Skills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tokens · Deterministic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44952" y="4297680"/>
            <a:ext cx="3054096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tokens · Autonomous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99048" y="4297680"/>
            <a:ext cx="3044952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MCPs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tokens · Infra layer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vs Agents vs MCPs</dc:title>
  <dc:subject>PptxGenJS Presentation</dc:subject>
  <dc:creator>PptxGenJS</dc:creator>
  <cp:lastModifiedBy>PptxGenJS</cp:lastModifiedBy>
  <cp:revision>1</cp:revision>
  <dcterms:created xsi:type="dcterms:W3CDTF">2026-05-14T07:00:31Z</dcterms:created>
  <dcterms:modified xsi:type="dcterms:W3CDTF">2026-05-14T07:00:31Z</dcterms:modified>
</cp:coreProperties>
</file>