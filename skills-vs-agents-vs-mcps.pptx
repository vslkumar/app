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46320"/>
            <a:ext cx="3044952" cy="2971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3044952" y="4846320"/>
            <a:ext cx="3054096" cy="29718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5" name="Shape 3"/>
          <p:cNvSpPr/>
          <p:nvPr/>
        </p:nvSpPr>
        <p:spPr>
          <a:xfrm>
            <a:off x="6099048" y="4846320"/>
            <a:ext cx="3044952" cy="2971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91440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743200" y="73152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109728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4008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320040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412480" y="256032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4389120"/>
            <a:ext cx="64008" cy="64008"/>
          </a:xfrm>
          <a:prstGeom prst="ellipse">
            <a:avLst/>
          </a:prstGeom>
          <a:solidFill>
            <a:srgbClr val="475569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 ·  Agents  ·  MCPs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Complete Comparison</a:t>
            </a:r>
            <a:endParaRPr lang="en-US" sz="4800" dirty="0"/>
          </a:p>
        </p:txBody>
      </p:sp>
      <p:sp>
        <p:nvSpPr>
          <p:cNvPr id="15" name="Shape 13"/>
          <p:cNvSpPr/>
          <p:nvPr/>
        </p:nvSpPr>
        <p:spPr>
          <a:xfrm>
            <a:off x="1463040" y="2606040"/>
            <a:ext cx="2286000" cy="475488"/>
          </a:xfrm>
          <a:prstGeom prst="rect">
            <a:avLst/>
          </a:prstGeom>
          <a:solidFill>
            <a:srgbClr val="38BDF8">
              <a:alpha val="18000"/>
            </a:srgbClr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63040" y="26060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Skills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0" y="2606040"/>
            <a:ext cx="2286000" cy="475488"/>
          </a:xfrm>
          <a:prstGeom prst="rect">
            <a:avLst/>
          </a:prstGeom>
          <a:solidFill>
            <a:srgbClr val="818CF8">
              <a:alpha val="18000"/>
            </a:srgbClr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26060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52160" y="2606040"/>
            <a:ext cx="2286000" cy="475488"/>
          </a:xfrm>
          <a:prstGeom prst="rect">
            <a:avLst/>
          </a:prstGeom>
          <a:solidFill>
            <a:srgbClr val="34D399">
              <a:alpha val="18000"/>
            </a:srgbClr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60604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MCPs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they work · When to use · Token economy · Internal architecture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 the Three Paradigms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822960"/>
            <a:ext cx="26974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22960"/>
            <a:ext cx="54864" cy="3931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393192" y="86868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🛠️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93192" y="16002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 instruction block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450592"/>
            <a:ext cx="16916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4203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Static, pre-written prompt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92608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No autonomy — runs as-is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31012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Like a recipe in a cookbook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822960"/>
            <a:ext cx="26974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822960"/>
            <a:ext cx="54864" cy="39319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86868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273552" y="16002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337560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Autonomous reasoning loop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49040" y="2450592"/>
            <a:ext cx="16916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54203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Thinks → Acts → Observes loop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292608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Chooses its own tools &amp; steps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83280" y="331012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Like a human consultant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822960"/>
            <a:ext cx="26974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822960"/>
            <a:ext cx="54864" cy="39319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6" name="Text 24"/>
          <p:cNvSpPr/>
          <p:nvPr/>
        </p:nvSpPr>
        <p:spPr>
          <a:xfrm>
            <a:off x="6153912" y="86868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🔌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6153912" y="16002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217920" y="205740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Standardised capability plug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29400" y="2450592"/>
            <a:ext cx="16916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0" name="Text 28"/>
          <p:cNvSpPr/>
          <p:nvPr/>
        </p:nvSpPr>
        <p:spPr>
          <a:xfrm>
            <a:off x="6263640" y="254203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Protocol for exposing tools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63640" y="292608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Connects AI to any service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63640" y="331012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▸  Like a USB-C standard port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Skills — The Cookbook Recipe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77240"/>
            <a:ext cx="39319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777240"/>
            <a:ext cx="54864" cy="1920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822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ANALOGY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cookbook recipe 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recipe tells the cook exactly what to do — step by step, every time. The cook follows it precisely. No improvisation. No decisions.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777240"/>
            <a:ext cx="43891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777240"/>
            <a:ext cx="54864" cy="19202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8229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 INTERNALLY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26280" y="111556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1️⃣  Skill SKILL.md is read at task start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26280" y="149961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2️⃣  Contents injected into system prompt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1883664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3️⃣  Model applies the best-practice guidance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226771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4️⃣  Output generated — no autonomous loop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8503920" cy="187452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54864" cy="18745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28803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CHARACTERISTICS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148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Definition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file with reusable best-practice instructions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Autonomy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None — no self-directed reasoning or planning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🔁  Loop?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3172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— single-pass inference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Scope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Task-scoped: injected per conversation, not persistent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Agents — The Human Consultant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77240"/>
            <a:ext cx="39319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777240"/>
            <a:ext cx="54864" cy="192024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822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ANALOGY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human consultant 🧑‍💼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give a consultant a goal, not a script. They research, make decisions, use tools, and iterate — independently — until the job is done.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777240"/>
            <a:ext cx="43891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777240"/>
            <a:ext cx="54864" cy="192024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8229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REASONING LOOP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26280" y="111556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1️⃣  Receive goal (user prompt)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26280" y="14538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2️⃣  Think: what's the next action? (LLM call)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1792224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3️⃣  Act: call a tool / write code / search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26280" y="213055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4️⃣  Observe tool result → loop back to step 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4688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5️⃣  Terminate when goal is met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834640"/>
            <a:ext cx="8503920" cy="187452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34640"/>
            <a:ext cx="54864" cy="18745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8803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CHARACTERISTICS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🧠  Definition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3172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in a loop that can call tools &amp; observe results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Autonomy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— plans its own steps toward the goal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🔁  Loop?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33172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 — multi-step, dynamic, non-deterministic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Scope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Persistent across turns; state lives in context window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MCPs — The USB-C Standard Port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777240"/>
            <a:ext cx="39319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777240"/>
            <a:ext cx="54864" cy="1920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8229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ANALOGY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USB-C port 🔌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USB-C is a standard that lets ANY device connect to ANY peripherals. MCP is the same — a standard so any AI model can talk to any tool or service.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34840" y="777240"/>
            <a:ext cx="4389120" cy="192024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34840" y="777240"/>
            <a:ext cx="54864" cy="1920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8229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 INTERNALLY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26280" y="111556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1️⃣  MCP server exposes tools via standard protocol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26280" y="14538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2️⃣  Client (Claude) discovers available tools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1792224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3️⃣  Tool schemas injected into system prompt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26280" y="213055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4️⃣  Model calls tools → server executes → returns result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468880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5️⃣  Works the same regardless of the host service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834640"/>
            <a:ext cx="8503920" cy="187452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34640"/>
            <a:ext cx="54864" cy="18745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8803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CHARACTERISTICS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Definition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3172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protocol: JSON-RPC over stdio or SSE/HTTP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0" y="321868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Autonomy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32186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None — it's infrastructure, not intelligence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🔁  Loop?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33172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— stateless protocol; state lives in the client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0" y="381304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 Scope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381304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Cross-application; same server works with any AI client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They Compose — They're Not Mutually Exclusive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91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They Compose — They're Not Mutually Exclusive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0" y="841248"/>
            <a:ext cx="2743200" cy="841248"/>
          </a:xfrm>
          <a:prstGeom prst="rect">
            <a:avLst/>
          </a:prstGeom>
          <a:solidFill>
            <a:srgbClr val="818CF8">
              <a:alpha val="22000"/>
            </a:srgbClr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841248"/>
            <a:ext cx="2743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682496"/>
            <a:ext cx="91440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3" name="Text 11"/>
          <p:cNvSpPr/>
          <p:nvPr/>
        </p:nvSpPr>
        <p:spPr>
          <a:xfrm>
            <a:off x="4069080" y="19202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148840"/>
            <a:ext cx="3108960" cy="777240"/>
          </a:xfrm>
          <a:prstGeom prst="rect">
            <a:avLst/>
          </a:prstGeom>
          <a:solidFill>
            <a:srgbClr val="38BDF8">
              <a:alpha val="20000"/>
            </a:srgbClr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2148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Skills  (best-practice prompts)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108960" y="2514600"/>
            <a:ext cx="1005840" cy="7315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Shape 15"/>
          <p:cNvSpPr/>
          <p:nvPr/>
        </p:nvSpPr>
        <p:spPr>
          <a:xfrm>
            <a:off x="5577840" y="2148840"/>
            <a:ext cx="3108960" cy="777240"/>
          </a:xfrm>
          <a:prstGeom prst="rect">
            <a:avLst/>
          </a:prstGeom>
          <a:solidFill>
            <a:srgbClr val="34D399">
              <a:alpha val="20000"/>
            </a:srgbClr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77840" y="21488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MCP Tools  (external services)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0" y="2514600"/>
            <a:ext cx="548640" cy="7315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3127248"/>
            <a:ext cx="2743200" cy="164592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127248"/>
            <a:ext cx="54864" cy="1645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" y="31729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guide the Agent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" y="3547872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an Agent runs code or creates files, it reads the SKILL.md — best-practice rules injected into its context.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3127248"/>
            <a:ext cx="2743200" cy="164592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46120" y="3127248"/>
            <a:ext cx="54864" cy="16459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26" name="Text 24"/>
          <p:cNvSpPr/>
          <p:nvPr/>
        </p:nvSpPr>
        <p:spPr>
          <a:xfrm>
            <a:off x="3355848" y="31729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orchestrates both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55848" y="3547872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 is the brain: it decides when to use a Skill's guidance and when to call an MCP tool.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72200" y="3127248"/>
            <a:ext cx="2743200" cy="164592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72200" y="3127248"/>
            <a:ext cx="54864" cy="16459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0" name="Text 28"/>
          <p:cNvSpPr/>
          <p:nvPr/>
        </p:nvSpPr>
        <p:spPr>
          <a:xfrm>
            <a:off x="6281928" y="31729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MCPs extend the Agent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81928" y="3547872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MCPs give the Agent hands — access to databases, APIs, file systems, without custom integration code.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💰  Token Economy — What Does Each Cost?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841248"/>
            <a:ext cx="7315200" cy="2560320"/>
          </a:xfrm>
          <a:prstGeom prst="rect">
            <a:avLst/>
          </a:prstGeom>
          <a:solidFill>
            <a:srgbClr val="141B2D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548128"/>
            <a:ext cx="7315200" cy="9144"/>
          </a:xfrm>
          <a:prstGeom prst="rect">
            <a:avLst/>
          </a:prstGeom>
          <a:solidFill>
            <a:srgbClr val="475569">
              <a:alpha val="7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" y="241096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10k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694688"/>
            <a:ext cx="7315200" cy="9144"/>
          </a:xfrm>
          <a:prstGeom prst="rect">
            <a:avLst/>
          </a:prstGeom>
          <a:solidFill>
            <a:srgbClr val="475569">
              <a:alpha val="7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5720" y="155752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841248"/>
            <a:ext cx="7315200" cy="9144"/>
          </a:xfrm>
          <a:prstGeom prst="rect">
            <a:avLst/>
          </a:prstGeom>
          <a:solidFill>
            <a:srgbClr val="475569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" y="704088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0" y="19842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399032" y="3333293"/>
            <a:ext cx="36576" cy="42672"/>
          </a:xfrm>
          <a:prstGeom prst="rect">
            <a:avLst/>
          </a:prstGeom>
          <a:solidFill>
            <a:srgbClr val="38BDF8">
              <a:alpha val="5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354629"/>
            <a:ext cx="1280160" cy="46939"/>
          </a:xfrm>
          <a:prstGeom prst="rect">
            <a:avLst/>
          </a:prstGeom>
          <a:solidFill>
            <a:srgbClr val="38BDF8">
              <a:alpha val="7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062021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(single pass)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27832" y="3299155"/>
            <a:ext cx="36576" cy="59741"/>
          </a:xfrm>
          <a:prstGeom prst="rect">
            <a:avLst/>
          </a:prstGeom>
          <a:solidFill>
            <a:srgbClr val="34D399">
              <a:alpha val="5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606040" y="3329026"/>
            <a:ext cx="1280160" cy="72542"/>
          </a:xfrm>
          <a:prstGeom prst="rect">
            <a:avLst/>
          </a:prstGeom>
          <a:solidFill>
            <a:srgbClr val="34D399">
              <a:alpha val="7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06040" y="303641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06040" y="34564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(schema+result)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56632" y="2718816"/>
            <a:ext cx="36576" cy="426720"/>
          </a:xfrm>
          <a:prstGeom prst="rect">
            <a:avLst/>
          </a:prstGeom>
          <a:solidFill>
            <a:srgbClr val="818CF8">
              <a:alpha val="5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434840" y="2932176"/>
            <a:ext cx="1280160" cy="469392"/>
          </a:xfrm>
          <a:prstGeom prst="rect">
            <a:avLst/>
          </a:prstGeom>
          <a:solidFill>
            <a:srgbClr val="818CF8">
              <a:alpha val="7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6395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~6k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34840" y="34564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(3-step loop)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85432" y="841248"/>
            <a:ext cx="36576" cy="1706880"/>
          </a:xfrm>
          <a:prstGeom prst="rect">
            <a:avLst/>
          </a:prstGeom>
          <a:solidFill>
            <a:srgbClr val="FB7185">
              <a:alpha val="5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263640" y="1694688"/>
            <a:ext cx="1280160" cy="1706880"/>
          </a:xfrm>
          <a:prstGeom prst="rect">
            <a:avLst/>
          </a:prstGeom>
          <a:solidFill>
            <a:srgbClr val="FB7185">
              <a:alpha val="75000"/>
            </a:srgbClr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14020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1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~20k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63640" y="345643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(10-step loop)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749040"/>
            <a:ext cx="2743200" cy="1261872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3749040"/>
            <a:ext cx="54864" cy="12618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794760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Skills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29768" y="413308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Skill file: ~200–500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29768" y="434340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User prompt: ~100–300 tokens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29768" y="455371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Response: ~200–500 tokens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29768" y="476402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No loops = low, predictable cost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46120" y="3749040"/>
            <a:ext cx="2743200" cy="1261872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46120" y="3749040"/>
            <a:ext cx="54864" cy="126187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9" name="Text 37"/>
          <p:cNvSpPr/>
          <p:nvPr/>
        </p:nvSpPr>
        <p:spPr>
          <a:xfrm>
            <a:off x="3355848" y="3794760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MCPs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355848" y="413308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Tool schemas in prompt: ~100–400 tokens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355848" y="434340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Each tool result: ~200–600 tokens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355848" y="455371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Adds overhead per tool call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355848" y="476402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Cost scales with # of tools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72200" y="3749040"/>
            <a:ext cx="2743200" cy="1261872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72200" y="3749040"/>
            <a:ext cx="54864" cy="126187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6" name="Text 44"/>
          <p:cNvSpPr/>
          <p:nvPr/>
        </p:nvSpPr>
        <p:spPr>
          <a:xfrm>
            <a:off x="6281928" y="3794760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81928" y="4133088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Full history in EVERY call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81928" y="434340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Tokens compound per loop step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281928" y="455371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3 steps ≈ 3–8k tokens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281928" y="476402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10 steps ≈ 10–30k+ tokens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⚖️  Head-to-Head Comparison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" y="804672"/>
            <a:ext cx="2103120" cy="384048"/>
          </a:xfrm>
          <a:prstGeom prst="rect">
            <a:avLst/>
          </a:prstGeom>
          <a:solidFill>
            <a:srgbClr val="475569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0467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86000" y="804672"/>
            <a:ext cx="2148840" cy="384048"/>
          </a:xfrm>
          <a:prstGeom prst="rect">
            <a:avLst/>
          </a:prstGeom>
          <a:solidFill>
            <a:srgbClr val="38BDF8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59152" y="80467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Skill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34840" y="804672"/>
            <a:ext cx="2148840" cy="384048"/>
          </a:xfrm>
          <a:prstGeom prst="rect">
            <a:avLst/>
          </a:prstGeom>
          <a:solidFill>
            <a:srgbClr val="818CF8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7992" y="80467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804672"/>
            <a:ext cx="2148840" cy="384048"/>
          </a:xfrm>
          <a:prstGeom prst="rect">
            <a:avLst/>
          </a:prstGeom>
          <a:solidFill>
            <a:srgbClr val="34D399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80467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 MCP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82880" y="1188720"/>
            <a:ext cx="210312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" y="1188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it?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86000" y="1188720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9152" y="118872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Prompt/instruction file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34840" y="1188720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07992" y="118872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in a reasoning loop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0" y="1188720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18872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Tool-exposure protocol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82880" y="1572768"/>
            <a:ext cx="210312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" y="157276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Autonomy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0" y="1572768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59152" y="157276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None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34840" y="1572768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07992" y="157276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High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0" y="1572768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157276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None (infra only)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82880" y="1956816"/>
            <a:ext cx="210312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6032" y="19568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loop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0" y="1956816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59152" y="195681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Single pass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34840" y="1956816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7992" y="195681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Multi-step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0" y="1956816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195681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Stateless calls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82880" y="2340864"/>
            <a:ext cx="210312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6032" y="234086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access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0" y="2340864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359152" y="234086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No tools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434840" y="2340864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07992" y="234086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Any tools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3680" y="2340864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56832" y="2340864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Provides tools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82880" y="2724912"/>
            <a:ext cx="210312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6032" y="27249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cost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286000" y="2724912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59152" y="272491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 (300-800)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434840" y="2724912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07992" y="272491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 (3k–30k+)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583680" y="2724912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56832" y="2724912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Medium (500-1.2k)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82880" y="3108960"/>
            <a:ext cx="210312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6032" y="31089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Deterministic?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286000" y="3108960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59152" y="310896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More consistent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434840" y="3108960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07992" y="310896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 No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583680" y="3108960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656832" y="3108960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Protocol: yes; AI: no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82880" y="3493008"/>
            <a:ext cx="210312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32" y="349300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 complexity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286000" y="3493008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59152" y="349300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🟢  Low — write .md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434840" y="3493008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07992" y="349300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 Medium — orchestrate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583680" y="3493008"/>
            <a:ext cx="2148840" cy="384048"/>
          </a:xfrm>
          <a:prstGeom prst="rect">
            <a:avLst/>
          </a:prstGeom>
          <a:solidFill>
            <a:srgbClr val="1A2340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56832" y="3493008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🔴  High — run server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82880" y="3877056"/>
            <a:ext cx="210312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56032" y="387705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for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286000" y="3877056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59152" y="387705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Reusable task guides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4434840" y="3877056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07992" y="387705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Open-ended goals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83680" y="3877056"/>
            <a:ext cx="2148840" cy="384048"/>
          </a:xfrm>
          <a:prstGeom prst="rect">
            <a:avLst/>
          </a:prstGeom>
          <a:solidFill>
            <a:srgbClr val="141B2D"/>
          </a:solidFill>
          <a:ln w="10160">
            <a:solidFill>
              <a:srgbClr val="0A0F1E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56832" y="3877056"/>
            <a:ext cx="2057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Connecting to services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🗺️  When to Use What — Decision Guide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658368"/>
            <a:ext cx="8321040" cy="1828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" name="Shape 4"/>
          <p:cNvSpPr/>
          <p:nvPr/>
        </p:nvSpPr>
        <p:spPr>
          <a:xfrm>
            <a:off x="320040" y="804672"/>
            <a:ext cx="8503920" cy="96012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804672"/>
            <a:ext cx="54864" cy="9601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0" y="804672"/>
            <a:ext cx="1627632" cy="960120"/>
          </a:xfrm>
          <a:prstGeom prst="rect">
            <a:avLst/>
          </a:prstGeom>
          <a:solidFill>
            <a:srgbClr val="38BDF8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38912" y="850392"/>
            <a:ext cx="6583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IF:  You have a best practice that should ALWAYS be applied to a task type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38912" y="1261872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e.g. 'always write PPTX with pptxgenjs library', 'always use these coding standards'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50608" y="804672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USE A SKILL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847088"/>
            <a:ext cx="8503920" cy="96012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1847088"/>
            <a:ext cx="54864" cy="96012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132320" y="1847088"/>
            <a:ext cx="1627632" cy="960120"/>
          </a:xfrm>
          <a:prstGeom prst="rect">
            <a:avLst/>
          </a:prstGeom>
          <a:solidFill>
            <a:srgbClr val="818CF8">
              <a:alpha val="3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" y="1892808"/>
            <a:ext cx="6583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IF:  You have a complex, open-ended goal with uncertain steps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8912" y="2304288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e.g. 'research this topic and write a report', 'debug and fix this codebase'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50608" y="1847088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USE AN AGENT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2889504"/>
            <a:ext cx="8503920" cy="96012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89504"/>
            <a:ext cx="54864" cy="9601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0" y="2889504"/>
            <a:ext cx="1627632" cy="960120"/>
          </a:xfrm>
          <a:prstGeom prst="rect">
            <a:avLst/>
          </a:prstGeom>
          <a:solidFill>
            <a:srgbClr val="34D399">
              <a:alpha val="3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" y="2935224"/>
            <a:ext cx="6583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IF:  You want Claude to interact with an external system or API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8912" y="3346704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e.g. 'read my Google Drive', 'create a Jira ticket', 'query the database'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50608" y="2889504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USE MCP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931920"/>
            <a:ext cx="8503920" cy="960120"/>
          </a:xfrm>
          <a:prstGeom prst="rect">
            <a:avLst/>
          </a:prstGeom>
          <a:solidFill>
            <a:srgbClr val="141B2D"/>
          </a:solidFill>
          <a:ln w="19050">
            <a:solidFill>
              <a:srgbClr val="FBBF2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3931920"/>
            <a:ext cx="54864" cy="9601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0" y="3931920"/>
            <a:ext cx="1627632" cy="960120"/>
          </a:xfrm>
          <a:prstGeom prst="rect">
            <a:avLst/>
          </a:prstGeom>
          <a:solidFill>
            <a:srgbClr val="FBBF24">
              <a:alpha val="3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" y="3977640"/>
            <a:ext cx="65836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IF:  You need an Agent that follows expert standards AND uses external tools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8912" y="4389120"/>
            <a:ext cx="6583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reads Skills → Agent uses MCP tools to accomplish the goal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50608" y="3931920"/>
            <a:ext cx="1554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COMBINE ALL THREE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4864"/>
            <a:ext cx="9144000" cy="54864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09728"/>
            <a:ext cx="9144000" cy="5486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103120" cy="2697480"/>
          </a:xfrm>
          <a:prstGeom prst="rect">
            <a:avLst/>
          </a:prstGeom>
          <a:solidFill>
            <a:srgbClr val="141B2D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960120"/>
            <a:ext cx="54864" cy="2697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005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🛠️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65760" y="1664208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= Best-practice recipes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231136"/>
            <a:ext cx="19202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Cheap, deterministic, single-pass. Inject expert knowledge without extra tokens from loops.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87168" y="960120"/>
            <a:ext cx="2103120" cy="2697480"/>
          </a:xfrm>
          <a:prstGeom prst="rect">
            <a:avLst/>
          </a:prstGeom>
          <a:solidFill>
            <a:srgbClr val="141B2D"/>
          </a:solidFill>
          <a:ln w="19050">
            <a:solidFill>
              <a:srgbClr val="818CF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87168" y="960120"/>
            <a:ext cx="54864" cy="2697480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4" name="Text 12"/>
          <p:cNvSpPr/>
          <p:nvPr/>
        </p:nvSpPr>
        <p:spPr>
          <a:xfrm>
            <a:off x="2487168" y="1005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578608" y="1664208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= Autonomous reasoners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78608" y="2231136"/>
            <a:ext cx="19202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 for open-ended goals, but token cost compounds. Set step limits &amp; test carefully.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0016" y="960120"/>
            <a:ext cx="2103120" cy="2697480"/>
          </a:xfrm>
          <a:prstGeom prst="rect">
            <a:avLst/>
          </a:prstGeom>
          <a:solidFill>
            <a:srgbClr val="141B2D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0016" y="960120"/>
            <a:ext cx="54864" cy="2697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4700016" y="1005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🔌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91456" y="1664208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MCPs = Capability bus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91456" y="2231136"/>
            <a:ext cx="19202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intelligence — infrastructure. Standardise how tools connect so any AI client can use them.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12864" y="960120"/>
            <a:ext cx="2103120" cy="2697480"/>
          </a:xfrm>
          <a:prstGeom prst="rect">
            <a:avLst/>
          </a:prstGeom>
          <a:solidFill>
            <a:srgbClr val="141B2D"/>
          </a:solidFill>
          <a:ln w="19050">
            <a:solidFill>
              <a:srgbClr val="FBBF24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12864" y="960120"/>
            <a:ext cx="54864" cy="26974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4" name="Text 22"/>
          <p:cNvSpPr/>
          <p:nvPr/>
        </p:nvSpPr>
        <p:spPr>
          <a:xfrm>
            <a:off x="6912864" y="100584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💡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004304" y="1664208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They compose, not compete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2231136"/>
            <a:ext cx="192024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well-architected system = Agent (brain) + Skills (expertise) + MCPs (hands). Use each at the right layer.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7947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in layers: What to do (Skill) · How to do it (Agent) · What tools to use (MCP)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297680"/>
            <a:ext cx="3044952" cy="845820"/>
          </a:xfrm>
          <a:prstGeom prst="rect">
            <a:avLst/>
          </a:prstGeom>
          <a:solidFill>
            <a:srgbClr val="38BDF8">
              <a:alpha val="2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44952" y="4297680"/>
            <a:ext cx="3054096" cy="845820"/>
          </a:xfrm>
          <a:prstGeom prst="rect">
            <a:avLst/>
          </a:prstGeom>
          <a:solidFill>
            <a:srgbClr val="818CF8">
              <a:alpha val="2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099048" y="4297680"/>
            <a:ext cx="3044952" cy="845820"/>
          </a:xfrm>
          <a:prstGeom prst="rect">
            <a:avLst/>
          </a:prstGeom>
          <a:solidFill>
            <a:srgbClr val="34D399">
              <a:alpha val="25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0" y="4297680"/>
            <a:ext cx="3044952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Skills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 tokens · Deterministic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044952" y="4297680"/>
            <a:ext cx="3054096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Agents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tokens · Autonomous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99048" y="4297680"/>
            <a:ext cx="3044952" cy="845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🔌 MCPs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 tokens · Infra layer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 vs Agents vs MCPs</dc:title>
  <dc:subject>PptxGenJS Presentation</dc:subject>
  <dc:creator>PptxGenJS</dc:creator>
  <cp:lastModifiedBy>PptxGenJS</cp:lastModifiedBy>
  <cp:revision>1</cp:revision>
  <dcterms:created xsi:type="dcterms:W3CDTF">2026-05-14T13:53:25Z</dcterms:created>
  <dcterms:modified xsi:type="dcterms:W3CDTF">2026-05-14T13:53:25Z</dcterms:modified>
</cp:coreProperties>
</file>